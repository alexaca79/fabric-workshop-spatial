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student handout alongside this deck. The first five steps are facilitator preparation. The learner sequence uploads all six notebooks before creating a lakehouse. Lab 01 defaults to INPUT_MODE = stac and downloads directly in Fabric. The final five screenshot steps are the optional manual fallback; skip them after a successful direct download. Public imagery and synthetic stands only; no production inventory. Fabric downloads first | Manual upload fallback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images/training/manual/01-workspace-create.png</a:t>
            </a:r>
          </a:p>
          <a:p/>
          <a:p>
            <a:r>
              <a:t>## Facilitator Workspace Preparation</a:t>
            </a:r>
          </a:p>
          <a:p/>
          <a:p>
            <a:r>
              <a:t>Do this once before class. You need workspace-creation and capacity-assignment</a:t>
            </a:r>
          </a:p>
          <a:p>
            <a:r>
              <a:t>permissions. Students start at Step 1 after this preparation.</a:t>
            </a:r>
          </a:p>
          <a:p/>
          <a:p>
            <a:r>
              <a:t>1. Sign in to Contoso. Verify the directory without recording account menus.</a:t>
            </a:r>
          </a:p>
          <a:p>
            <a:r>
              <a:t>2. Confirm `rayfintestenv` is active and remains F64. If paused, obtain owner</a:t>
            </a:r>
          </a:p>
          <a:p>
            <a:r>
              <a:t>   approval before resuming; do not create a replacement capacity.</a:t>
            </a:r>
          </a:p>
          <a:p>
            <a:r>
              <a:t>3. Select **Workspaces** &gt; **New workspace** and enter `fabric-training-manual`.</a:t>
            </a:r>
          </a:p>
          <a:p>
            <a:r>
              <a:t>4. In the license/capacity section, choose the existing `rayfintestenv` Fabric</a:t>
            </a:r>
          </a:p>
          <a:p>
            <a:r>
              <a:t>   capacity, then create the workspace.</a:t>
            </a:r>
          </a:p>
          <a:p>
            <a:r>
              <a:t>5. Open **Workspace settings** and verify the capacity assignment. Preserve</a:t>
            </a:r>
          </a:p>
          <a:p>
            <a:r>
              <a:t>   the older `fabric-training` reference workspace and its items.</a:t>
            </a:r>
          </a:p>
          <a:p>
            <a:r>
              <a:t>6. Provide approved learners Contributor access through your normal access</a:t>
            </a:r>
          </a:p>
          <a:p>
            <a:r>
              <a:t>   process. Do not create public links or change tenant-wide sharing policies.</a:t>
            </a:r>
          </a:p>
          <a:p>
            <a:r>
              <a:t>7. Complete [manual Environment setup](12-spark-environment.md#manual-portal-setup).</a:t>
            </a:r>
          </a:p>
          <a:p>
            <a:r>
              <a:t>8. Verify Planetary Computer STAC, signing and imagery endpoints are reachable</a:t>
            </a:r>
          </a:p>
          <a:p>
            <a:r>
              <a:t>   from the approved Fabric network configuration.</a:t>
            </a:r>
          </a:p>
          <a:p>
            <a:r>
              <a:t>9. Confirm **Map** and **Fabric data agent** are available. Have the admin</a:t>
            </a:r>
          </a:p>
          <a:p>
            <a:r>
              <a:t>   review [Maps settings](https://learn.microsoft.com/fabric/admin/map-settings)</a:t>
            </a:r>
          </a:p>
          <a:p>
            <a:r>
              <a:t>   and [Data Agent settings](https://learn.microsoft.com/fabric/data-science/data-agent-tenant-settings).</a:t>
            </a:r>
          </a:p>
          <a:p>
            <a:r>
              <a:t>   Do not enable cross-region processing or relax outbound protection without approval.</a:t>
            </a:r>
          </a:p>
          <a:p>
            <a:r>
              <a:t>10. Stagger Spark starts and imagery ingestion. Separate lakehouses prevent</a:t>
            </a:r>
          </a:p>
          <a:p>
            <a:r>
              <a:t>    write collisions but still share the F64's compute capacity.</a:t>
            </a:r>
          </a:p>
          <a:p/>
          <a:p>
            <a:r>
              <a:t>![Name the facilitator workspace fabric-training-manual and open Advanced.](images/training/manual/01-workspace-create.png)</a:t>
            </a:r>
          </a:p>
          <a:p/>
          <a:p>
            <a:r>
              <a:t>![Select rayfintestenv in West US 2 and apply the workspace configuration.](images/training/manual/02-capacity-assignment.png)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images/training/manual/02-capacity-assignment.png</a:t>
            </a:r>
          </a:p>
          <a:p/>
          <a:p>
            <a:r>
              <a:t>## Facilitator Workspace Preparation</a:t>
            </a:r>
          </a:p>
          <a:p/>
          <a:p>
            <a:r>
              <a:t>Do this once before class. You need workspace-creation and capacity-assignment</a:t>
            </a:r>
          </a:p>
          <a:p>
            <a:r>
              <a:t>permissions. Students start at Step 1 after this preparation.</a:t>
            </a:r>
          </a:p>
          <a:p/>
          <a:p>
            <a:r>
              <a:t>1. Sign in to Contoso. Verify the directory without recording account menus.</a:t>
            </a:r>
          </a:p>
          <a:p>
            <a:r>
              <a:t>2. Confirm `rayfintestenv` is active and remains F64. If paused, obtain owner</a:t>
            </a:r>
          </a:p>
          <a:p>
            <a:r>
              <a:t>   approval before resuming; do not create a replacement capacity.</a:t>
            </a:r>
          </a:p>
          <a:p>
            <a:r>
              <a:t>3. Select **Workspaces** &gt; **New workspace** and enter `fabric-training-manual`.</a:t>
            </a:r>
          </a:p>
          <a:p>
            <a:r>
              <a:t>4. In the license/capacity section, choose the existing `rayfintestenv` Fabric</a:t>
            </a:r>
          </a:p>
          <a:p>
            <a:r>
              <a:t>   capacity, then create the workspace.</a:t>
            </a:r>
          </a:p>
          <a:p>
            <a:r>
              <a:t>5. Open **Workspace settings** and verify the capacity assignment. Preserve</a:t>
            </a:r>
          </a:p>
          <a:p>
            <a:r>
              <a:t>   the older `fabric-training` reference workspace and its items.</a:t>
            </a:r>
          </a:p>
          <a:p>
            <a:r>
              <a:t>6. Provide approved learners Contributor access through your normal access</a:t>
            </a:r>
          </a:p>
          <a:p>
            <a:r>
              <a:t>   process. Do not create public links or change tenant-wide sharing policies.</a:t>
            </a:r>
          </a:p>
          <a:p>
            <a:r>
              <a:t>7. Complete [manual Environment setup](12-spark-environment.md#manual-portal-setup).</a:t>
            </a:r>
          </a:p>
          <a:p>
            <a:r>
              <a:t>8. Verify Planetary Computer STAC, signing and imagery endpoints are reachable</a:t>
            </a:r>
          </a:p>
          <a:p>
            <a:r>
              <a:t>   from the approved Fabric network configuration.</a:t>
            </a:r>
          </a:p>
          <a:p>
            <a:r>
              <a:t>9. Confirm **Map** and **Fabric data agent** are available. Have the admin</a:t>
            </a:r>
          </a:p>
          <a:p>
            <a:r>
              <a:t>   review [Maps settings](https://learn.microsoft.com/fabric/admin/map-settings)</a:t>
            </a:r>
          </a:p>
          <a:p>
            <a:r>
              <a:t>   and [Data Agent settings](https://learn.microsoft.com/fabric/data-science/data-agent-tenant-settings).</a:t>
            </a:r>
          </a:p>
          <a:p>
            <a:r>
              <a:t>   Do not enable cross-region processing or relax outbound protection without approval.</a:t>
            </a:r>
          </a:p>
          <a:p>
            <a:r>
              <a:t>10. Stagger Spark starts and imagery ingestion. Separate lakehouses prevent</a:t>
            </a:r>
          </a:p>
          <a:p>
            <a:r>
              <a:t>    write collisions but still share the F64's compute capacity.</a:t>
            </a:r>
          </a:p>
          <a:p/>
          <a:p>
            <a:r>
              <a:t>![Name the facilitator workspace fabric-training-manual and open Advanced.](images/training/manual/01-workspace-create.png)</a:t>
            </a:r>
          </a:p>
          <a:p/>
          <a:p>
            <a:r>
              <a:t>![Select rayfintestenv in West US 2 and apply the workspace configuration.](images/training/manual/02-capacity-assignment.png)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docs/12-spark-environment.md</a:t>
            </a:r>
          </a:p>
          <a:p>
            <a:r>
              <a:t>Capture: images/training/manual/10-environment-runtime.png</a:t>
            </a:r>
          </a:p>
          <a:p/>
          <a:p>
            <a:r>
              <a:t>### Create The Environment</a:t>
            </a:r>
          </a:p>
          <a:p/>
          <a:p>
            <a:r>
              <a:t>1. Open the Contoso workspace `fabric-training-manual`. Confirm its assigned</a:t>
            </a:r>
          </a:p>
          <a:p>
            <a:r>
              <a:t>  `rayfintestenv` F64 capacity is active.</a:t>
            </a:r>
          </a:p>
          <a:p>
            <a:r>
              <a:t>2. Select **New item**, search for **Environment**, and select it.</a:t>
            </a:r>
          </a:p>
          <a:p>
            <a:r>
              <a:t>3. Enter `env_forestops`, then select **Create**.</a:t>
            </a:r>
          </a:p>
          <a:p>
            <a:r>
              <a:t>4. In the **Home** ribbon, check **Runtime 1.3** (Spark 3.5, Python 3.11), the</a:t>
            </a:r>
          </a:p>
          <a:p>
            <a:r>
              <a:t>  workshop's previously verified runtime. If unavailable, stop for compatibility</a:t>
            </a:r>
          </a:p>
          <a:p>
            <a:r>
              <a:t>  validation instead of selecting a different major runtime without testing.</a:t>
            </a:r>
          </a:p>
          <a:p/>
          <a:p>
            <a:r>
              <a:t>![Check Runtime 1.3 in the Environment Home ribbon.](images/training/manual/10-environment-runtime.png)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docs/12-spark-environment.md</a:t>
            </a:r>
          </a:p>
          <a:p>
            <a:r>
              <a:t>Capture: images/training/manual/11-environment-libraries.png</a:t>
            </a:r>
          </a:p>
          <a:p/>
          <a:p>
            <a:r>
              <a:t>### Import Libraries</a:t>
            </a:r>
          </a:p>
          <a:p/>
          <a:p>
            <a:r>
              <a:t>1. Open the navigation menu, then **Libraries** &gt; **External repositories**.</a:t>
            </a:r>
          </a:p>
          <a:p>
            <a:r>
              <a:t>  On a wider screen the navigation is already visible.</a:t>
            </a:r>
          </a:p>
          <a:p>
            <a:r>
              <a:t>2. Select **More items** (`...`) &gt; **Import YML** &gt; **Upload to Full mode**.</a:t>
            </a:r>
          </a:p>
          <a:p>
            <a:r>
              <a:t>  Confirm **Import**, then select</a:t>
            </a:r>
          </a:p>
          <a:p>
            <a:r>
              <a:t>  the [Environment YAML file](../environments/environment.yml) from the bundle's</a:t>
            </a:r>
          </a:p>
          <a:p>
            <a:r>
              <a:t>  **handouts** folder.</a:t>
            </a:r>
          </a:p>
          <a:p>
            <a:r>
              <a:t>3. Alternatively, select **YML editor view** &gt; **Full mode**, select all editor</a:t>
            </a:r>
          </a:p>
          <a:p>
            <a:r>
              <a:t>  text and paste the file contents with **Ctrl+V**. Return to **List view**.</a:t>
            </a:r>
          </a:p>
          <a:p>
            <a:r>
              <a:t>  Do not upload the file as a custom Python library or add a top-level `name`:</a:t>
            </a:r>
          </a:p>
          <a:p>
            <a:r>
              <a:t>  the portal accepts `channels` and `dependencies`, not a Conda environment name.</a:t>
            </a:r>
          </a:p>
          <a:p>
            <a:r>
              <a:t>4. Confirm the list contains 14 libraries and the definition retains `numpy&lt;2`, `pandas&gt;=2.1,&lt;3`,</a:t>
            </a:r>
          </a:p>
          <a:p>
            <a:r>
              <a:t>  `typing-extensions&gt;=4.15`, `affine&lt;3`, `zarr&gt;=2.16` and all the other supplied</a:t>
            </a:r>
          </a:p>
          <a:p>
            <a:r>
              <a:t>  packages. Keep the supplied version constraints unchanged.</a:t>
            </a:r>
          </a:p>
          <a:p/>
          <a:p>
            <a:r>
              <a:t>![Use the Full mode library definition and Save before publishing.](images/training/manual/11-environment-libraries.png)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docs/12-spark-environment.md</a:t>
            </a:r>
          </a:p>
          <a:p>
            <a:r>
              <a:t>Capture: images/training/manual/12-environment-published.png</a:t>
            </a:r>
          </a:p>
          <a:p/>
          <a:p>
            <a:r>
              <a:t>### Publish And Check</a:t>
            </a:r>
          </a:p>
          <a:p/>
          <a:p>
            <a:r>
              <a:t>1. Select **Save** and confirm **Save changes**. In **Home**, select **Publish**,</a:t>
            </a:r>
          </a:p>
          <a:p>
            <a:r>
              <a:t>  review **Pending changes**, select **Publish all**, then confirm **Publish**.</a:t>
            </a:r>
          </a:p>
          <a:p>
            <a:r>
              <a:t>2. Wait for success. Saving a draft or seeing **Publishing** is not completion.</a:t>
            </a:r>
          </a:p>
          <a:p>
            <a:r>
              <a:t>  Allow about ten minutes; actual time varies.</a:t>
            </a:r>
          </a:p>
          <a:p>
            <a:r>
              <a:t>3. Return to the workspace and confirm `env_forestops` is available. Attach it</a:t>
            </a:r>
          </a:p>
          <a:p>
            <a:r>
              <a:t>  to each notebook using the Home ribbon selector.</a:t>
            </a:r>
          </a:p>
          <a:p>
            <a:r>
              <a:t>4. Start a new session and run Lab 00's Environment check. Lab 01's raster load</a:t>
            </a:r>
          </a:p>
          <a:p>
            <a:r>
              <a:t>  remains the functional check for the full geospatial stack.</a:t>
            </a:r>
          </a:p>
          <a:p/>
          <a:p>
            <a:r>
              <a:t>![Published Environment library rows report Success.](images/training/manual/12-environment-published.png)</a:t>
            </a:r>
          </a:p>
          <a:p/>
          <a:p>
            <a:r>
              <a:t>Checkpoint: publication succeeded, every learner selects the Environment from</a:t>
            </a:r>
          </a:p>
          <a:p>
            <a:r>
              <a:t>the correct workspace, and required imports pass. Do not substitute a</a:t>
            </a:r>
          </a:p>
          <a:p>
            <a:r>
              <a:t>`%pip install` cell for a missing attachment.</a:t>
            </a:r>
          </a:p>
          <a:p/>
          <a:p>
            <a:r>
              <a:t>If approved outbound policy blocks public packages, use the organization's</a:t>
            </a:r>
          </a:p>
          <a:p>
            <a:r>
              <a:t>approved dependency process. Do not disable outbound protection. See</a:t>
            </a:r>
          </a:p>
          <a:p>
            <a:r>
              <a:t>[libraries with limited network access](https://learn.microsoft.com/fabric/data-engineering/environment-manage-library-with-outbound-access-protection).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images/training/manual/03-learner-folder.png</a:t>
            </a:r>
          </a:p>
          <a:p/>
          <a:p>
            <a:r>
              <a:t>## 1. Open Your Workspace And Folder</a:t>
            </a:r>
          </a:p>
          <a:p/>
          <a:p>
            <a:r>
              <a:t>The facilitator completes [workspace preparation](#facilitator-workspace-preparation)</a:t>
            </a:r>
          </a:p>
          <a:p>
            <a:r>
              <a:t>and [Environment setup](12-spark-environment.md#manual-portal-setup) before class.</a:t>
            </a:r>
          </a:p>
          <a:p>
            <a:r>
              <a:t>You need the extracted workshop bundle and Contributor or higher workspace access.</a:t>
            </a:r>
          </a:p>
          <a:p/>
          <a:p>
            <a:r>
              <a:t>1. Sign in to [Fabric](https://app.fabric.microsoft.com) with your Contoso account.</a:t>
            </a:r>
          </a:p>
          <a:p>
            <a:r>
              <a:t>2. Select **Workspaces** &gt; **fabric-training-manual**. Check the workspace name.</a:t>
            </a:r>
          </a:p>
          <a:p>
            <a:r>
              <a:t>   Leave the older `fabric-training` reference workspace and its results unchanged.</a:t>
            </a:r>
          </a:p>
          <a:p>
            <a:r>
              <a:t>3. Select **New folder**, enter `student-demo`, and select **Create**.</a:t>
            </a:r>
          </a:p>
          <a:p>
            <a:r>
              <a:t>4. Open your new folder before importing the notebooks.</a:t>
            </a:r>
          </a:p>
          <a:p/>
          <a:p>
            <a:r>
              <a:t>![Create your learner folder, with the name and Create button circled.](images/training/manual/03-learner-folder.png)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images/training/manual/04-import-menu.png</a:t>
            </a:r>
          </a:p>
          <a:p/>
          <a:p>
            <a:r>
              <a:t>## 2. Upload All Six Notebooks</a:t>
            </a:r>
          </a:p>
          <a:p/>
          <a:p>
            <a:r>
              <a:t>Use **Import** &gt; **Notebook** &gt; **From this computer** &gt; **Upload**.</a:t>
            </a:r>
          </a:p>
          <a:p>
            <a:r>
              <a:t>Repeat for one file at a time. Do not create the lakehouse or run a notebook yet.</a:t>
            </a:r>
          </a:p>
          <a:p/>
          <a:p>
            <a:r>
              <a:t>Download the workshop bundle supplied by your facilitator and extract it on</a:t>
            </a:r>
          </a:p>
          <a:p>
            <a:r>
              <a:t>your computer. Locate the **student** folder before opening the Upload</a:t>
            </a:r>
          </a:p>
          <a:p>
            <a:r>
              <a:t>dialog. Keep the `.ipynb` extension; do not upload Python source files or a ZIP.</a:t>
            </a:r>
          </a:p>
          <a:p/>
          <a:p>
            <a:r>
              <a:t>| Order | Student File                                                                                         | Purpose                         |</a:t>
            </a:r>
          </a:p>
          <a:p>
            <a:r>
              <a:t>|-------|------------------------------------------------------------------------------------------------------|---------------------------------|</a:t>
            </a:r>
          </a:p>
          <a:p>
            <a:r>
              <a:t>| 00    | [00_setup_lakehouse_and_config_STUDENT.ipynb](../notebooks/student/00_setup_lakehouse_and_config_STUDENT.ipynb) | Create the stand register        |</a:t>
            </a:r>
          </a:p>
          <a:p>
            <a:r>
              <a:t>| 01    | [01_bronze_stac_ingest_STUDENT.ipynb](../notebooks/student/01_bronze_stac_ingest_STUDENT.ipynb)               | Discover and ingest imagery      |</a:t>
            </a:r>
          </a:p>
          <a:p>
            <a:r>
              <a:t>| 02    | [02_silver_reproject_and_indices_STUDENT.ipynb](../notebooks/student/02_silver_reproject_and_indices_STUDENT.ipynb) | Mask, reproject and derive indices |</a:t>
            </a:r>
          </a:p>
          <a:p>
            <a:r>
              <a:t>| 03    | [03_gold_forest_classification_STUDENT.ipynb](../notebooks/student/03_gold_forest_classification_STUDENT.ipynb) | Classify and detect change       |</a:t>
            </a:r>
          </a:p>
          <a:p>
            <a:r>
              <a:t>| 04    | [04_gold_ai_enrichment_foundry_STUDENT.ipynb](../notebooks/student/04_gold_ai_enrichment_foundry_STUDENT.ipynb) | Add guarded offline narratives   |</a:t>
            </a:r>
          </a:p>
          <a:p>
            <a:r>
              <a:t>| 05    | [05_publish_and_validate_STUDENT.ipynb](../notebooks/student/05_publish_and_validate_STUDENT.ipynb)         | Build and validate Gold tables   |</a:t>
            </a:r>
          </a:p>
          <a:p/>
          <a:p>
            <a:r>
              <a:t>1. Open your notebook folder in the workspace.</a:t>
            </a:r>
          </a:p>
          <a:p>
            <a:r>
              <a:t>2. Select **Import** from the workspace toolbar.</a:t>
            </a:r>
          </a:p>
          <a:p>
            <a:r>
              <a:t>3. Select **Notebook**, then **From this computer**.</a:t>
            </a:r>
          </a:p>
          <a:p>
            <a:r>
              <a:t>4. In the **Import status** pane, select **Upload**.</a:t>
            </a:r>
          </a:p>
          <a:p>
            <a:r>
              <a:t>5. Select only the Lab 00 `.ipynb` file from the student folder.</a:t>
            </a:r>
          </a:p>
          <a:p>
            <a:r>
              <a:t>6. Wait for **Imported successfully** and confirm the notebook appears in the</a:t>
            </a:r>
          </a:p>
          <a:p>
            <a:r>
              <a:t>   folder. A waiting/importing message is not completion.</a:t>
            </a:r>
          </a:p>
          <a:p>
            <a:r>
              <a:t>7. Repeat Steps 2 through 6 separately for Labs 01, 02, 03, 04 and 05.</a:t>
            </a:r>
          </a:p>
          <a:p>
            <a:r>
              <a:t>8. Sort by **Name**. Confirm the list contains exactly six learner notebooks,</a:t>
            </a:r>
          </a:p>
          <a:p>
            <a:r>
              <a:t>   with consecutive prefixes 00 through 05. There is no Lab 06.</a:t>
            </a:r>
          </a:p>
          <a:p>
            <a:r>
              <a:t>9. If a name conflicts, cancel the overwrite. Rename your local copy with a</a:t>
            </a:r>
          </a:p>
          <a:p>
            <a:r>
              <a:t>   participant suffix, for example `_STUDENT_demo.ipynb`, and import again.</a:t>
            </a:r>
          </a:p>
          <a:p>
            <a:r>
              <a:t>   Keep the leading number and `_STUDENT`. Never replace another learner's work.</a:t>
            </a:r>
          </a:p>
          <a:p/>
          <a:p>
            <a:r>
              <a:t>![Follow Import, Notebook and From this computer.](images/training/manual/04-import-menu.png)</a:t>
            </a:r>
          </a:p>
          <a:p/>
          <a:p>
            <a:r>
              <a:t>![Select Upload in the notebook import pane.](images/training/manual/05-upload-dialog.png)</a:t>
            </a:r>
          </a:p>
          <a:p/>
          <a:p>
            <a:r>
              <a:t>![Confirm Imported successfully in Notifications.](images/training/manual/06-import-success.png)</a:t>
            </a:r>
          </a:p>
          <a:p/>
          <a:p>
            <a:r>
              <a:t>![Verify all six student notebooks, from Lab 00 through Lab 05.](images/training/manual/07-six-notebooks.png)</a:t>
            </a:r>
          </a:p>
          <a:p/>
          <a:p>
            <a:r>
              <a:t>Checkpoint: all six student notebooks are present before you create the lakehouse.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images/training/manual/05-upload-dialog.png</a:t>
            </a:r>
          </a:p>
          <a:p/>
          <a:p>
            <a:r>
              <a:t>## 2. Upload All Six Notebooks</a:t>
            </a:r>
          </a:p>
          <a:p/>
          <a:p>
            <a:r>
              <a:t>Use **Import** &gt; **Notebook** &gt; **From this computer** &gt; **Upload**.</a:t>
            </a:r>
          </a:p>
          <a:p>
            <a:r>
              <a:t>Repeat for one file at a time. Do not create the lakehouse or run a notebook yet.</a:t>
            </a:r>
          </a:p>
          <a:p/>
          <a:p>
            <a:r>
              <a:t>Download the workshop bundle supplied by your facilitator and extract it on</a:t>
            </a:r>
          </a:p>
          <a:p>
            <a:r>
              <a:t>your computer. Locate the **student** folder before opening the Upload</a:t>
            </a:r>
          </a:p>
          <a:p>
            <a:r>
              <a:t>dialog. Keep the `.ipynb` extension; do not upload Python source files or a ZIP.</a:t>
            </a:r>
          </a:p>
          <a:p/>
          <a:p>
            <a:r>
              <a:t>| Order | Student File                                                                                         | Purpose                         |</a:t>
            </a:r>
          </a:p>
          <a:p>
            <a:r>
              <a:t>|-------|------------------------------------------------------------------------------------------------------|---------------------------------|</a:t>
            </a:r>
          </a:p>
          <a:p>
            <a:r>
              <a:t>| 00    | [00_setup_lakehouse_and_config_STUDENT.ipynb](../notebooks/student/00_setup_lakehouse_and_config_STUDENT.ipynb) | Create the stand register        |</a:t>
            </a:r>
          </a:p>
          <a:p>
            <a:r>
              <a:t>| 01    | [01_bronze_stac_ingest_STUDENT.ipynb](../notebooks/student/01_bronze_stac_ingest_STUDENT.ipynb)               | Discover and ingest imagery      |</a:t>
            </a:r>
          </a:p>
          <a:p>
            <a:r>
              <a:t>| 02    | [02_silver_reproject_and_indices_STUDENT.ipynb](../notebooks/student/02_silver_reproject_and_indices_STUDENT.ipynb) | Mask, reproject and derive indices |</a:t>
            </a:r>
          </a:p>
          <a:p>
            <a:r>
              <a:t>| 03    | [03_gold_forest_classification_STUDENT.ipynb](../notebooks/student/03_gold_forest_classification_STUDENT.ipynb) | Classify and detect change       |</a:t>
            </a:r>
          </a:p>
          <a:p>
            <a:r>
              <a:t>| 04    | [04_gold_ai_enrichment_foundry_STUDENT.ipynb](../notebooks/student/04_gold_ai_enrichment_foundry_STUDENT.ipynb) | Add guarded offline narratives   |</a:t>
            </a:r>
          </a:p>
          <a:p>
            <a:r>
              <a:t>| 05    | [05_publish_and_validate_STUDENT.ipynb](../notebooks/student/05_publish_and_validate_STUDENT.ipynb)         | Build and validate Gold tables   |</a:t>
            </a:r>
          </a:p>
          <a:p/>
          <a:p>
            <a:r>
              <a:t>1. Open your notebook folder in the workspace.</a:t>
            </a:r>
          </a:p>
          <a:p>
            <a:r>
              <a:t>2. Select **Import** from the workspace toolbar.</a:t>
            </a:r>
          </a:p>
          <a:p>
            <a:r>
              <a:t>3. Select **Notebook**, then **From this computer**.</a:t>
            </a:r>
          </a:p>
          <a:p>
            <a:r>
              <a:t>4. In the **Import status** pane, select **Upload**.</a:t>
            </a:r>
          </a:p>
          <a:p>
            <a:r>
              <a:t>5. Select only the Lab 00 `.ipynb` file from the student folder.</a:t>
            </a:r>
          </a:p>
          <a:p>
            <a:r>
              <a:t>6. Wait for **Imported successfully** and confirm the notebook appears in the</a:t>
            </a:r>
          </a:p>
          <a:p>
            <a:r>
              <a:t>   folder. A waiting/importing message is not completion.</a:t>
            </a:r>
          </a:p>
          <a:p>
            <a:r>
              <a:t>7. Repeat Steps 2 through 6 separately for Labs 01, 02, 03, 04 and 05.</a:t>
            </a:r>
          </a:p>
          <a:p>
            <a:r>
              <a:t>8. Sort by **Name**. Confirm the list contains exactly six learner notebooks,</a:t>
            </a:r>
          </a:p>
          <a:p>
            <a:r>
              <a:t>   with consecutive prefixes 00 through 05. There is no Lab 06.</a:t>
            </a:r>
          </a:p>
          <a:p>
            <a:r>
              <a:t>9. If a name conflicts, cancel the overwrite. Rename your local copy with a</a:t>
            </a:r>
          </a:p>
          <a:p>
            <a:r>
              <a:t>   participant suffix, for example `_STUDENT_demo.ipynb`, and import again.</a:t>
            </a:r>
          </a:p>
          <a:p>
            <a:r>
              <a:t>   Keep the leading number and `_STUDENT`. Never replace another learner's work.</a:t>
            </a:r>
          </a:p>
          <a:p/>
          <a:p>
            <a:r>
              <a:t>![Follow Import, Notebook and From this computer.](images/training/manual/04-import-menu.png)</a:t>
            </a:r>
          </a:p>
          <a:p/>
          <a:p>
            <a:r>
              <a:t>![Select Upload in the notebook import pane.](images/training/manual/05-upload-dialog.png)</a:t>
            </a:r>
          </a:p>
          <a:p/>
          <a:p>
            <a:r>
              <a:t>![Confirm Imported successfully in Notifications.](images/training/manual/06-import-success.png)</a:t>
            </a:r>
          </a:p>
          <a:p/>
          <a:p>
            <a:r>
              <a:t>![Verify all six student notebooks, from Lab 00 through Lab 05.](images/training/manual/07-six-notebooks.png)</a:t>
            </a:r>
          </a:p>
          <a:p/>
          <a:p>
            <a:r>
              <a:t>Checkpoint: all six student notebooks are present before you create the lakehouse.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images/training/manual/06-import-success.png</a:t>
            </a:r>
          </a:p>
          <a:p/>
          <a:p>
            <a:r>
              <a:t>## 2. Upload All Six Notebooks</a:t>
            </a:r>
          </a:p>
          <a:p/>
          <a:p>
            <a:r>
              <a:t>Use **Import** &gt; **Notebook** &gt; **From this computer** &gt; **Upload**.</a:t>
            </a:r>
          </a:p>
          <a:p>
            <a:r>
              <a:t>Repeat for one file at a time. Do not create the lakehouse or run a notebook yet.</a:t>
            </a:r>
          </a:p>
          <a:p/>
          <a:p>
            <a:r>
              <a:t>Download the workshop bundle supplied by your facilitator and extract it on</a:t>
            </a:r>
          </a:p>
          <a:p>
            <a:r>
              <a:t>your computer. Locate the **student** folder before opening the Upload</a:t>
            </a:r>
          </a:p>
          <a:p>
            <a:r>
              <a:t>dialog. Keep the `.ipynb` extension; do not upload Python source files or a ZIP.</a:t>
            </a:r>
          </a:p>
          <a:p/>
          <a:p>
            <a:r>
              <a:t>| Order | Student File                                                                                         | Purpose                         |</a:t>
            </a:r>
          </a:p>
          <a:p>
            <a:r>
              <a:t>|-------|------------------------------------------------------------------------------------------------------|---------------------------------|</a:t>
            </a:r>
          </a:p>
          <a:p>
            <a:r>
              <a:t>| 00    | [00_setup_lakehouse_and_config_STUDENT.ipynb](../notebooks/student/00_setup_lakehouse_and_config_STUDENT.ipynb) | Create the stand register        |</a:t>
            </a:r>
          </a:p>
          <a:p>
            <a:r>
              <a:t>| 01    | [01_bronze_stac_ingest_STUDENT.ipynb](../notebooks/student/01_bronze_stac_ingest_STUDENT.ipynb)               | Discover and ingest imagery      |</a:t>
            </a:r>
          </a:p>
          <a:p>
            <a:r>
              <a:t>| 02    | [02_silver_reproject_and_indices_STUDENT.ipynb](../notebooks/student/02_silver_reproject_and_indices_STUDENT.ipynb) | Mask, reproject and derive indices |</a:t>
            </a:r>
          </a:p>
          <a:p>
            <a:r>
              <a:t>| 03    | [03_gold_forest_classification_STUDENT.ipynb](../notebooks/student/03_gold_forest_classification_STUDENT.ipynb) | Classify and detect change       |</a:t>
            </a:r>
          </a:p>
          <a:p>
            <a:r>
              <a:t>| 04    | [04_gold_ai_enrichment_foundry_STUDENT.ipynb](../notebooks/student/04_gold_ai_enrichment_foundry_STUDENT.ipynb) | Add guarded offline narratives   |</a:t>
            </a:r>
          </a:p>
          <a:p>
            <a:r>
              <a:t>| 05    | [05_publish_and_validate_STUDENT.ipynb](../notebooks/student/05_publish_and_validate_STUDENT.ipynb)         | Build and validate Gold tables   |</a:t>
            </a:r>
          </a:p>
          <a:p/>
          <a:p>
            <a:r>
              <a:t>1. Open your notebook folder in the workspace.</a:t>
            </a:r>
          </a:p>
          <a:p>
            <a:r>
              <a:t>2. Select **Import** from the workspace toolbar.</a:t>
            </a:r>
          </a:p>
          <a:p>
            <a:r>
              <a:t>3. Select **Notebook**, then **From this computer**.</a:t>
            </a:r>
          </a:p>
          <a:p>
            <a:r>
              <a:t>4. In the **Import status** pane, select **Upload**.</a:t>
            </a:r>
          </a:p>
          <a:p>
            <a:r>
              <a:t>5. Select only the Lab 00 `.ipynb` file from the student folder.</a:t>
            </a:r>
          </a:p>
          <a:p>
            <a:r>
              <a:t>6. Wait for **Imported successfully** and confirm the notebook appears in the</a:t>
            </a:r>
          </a:p>
          <a:p>
            <a:r>
              <a:t>   folder. A waiting/importing message is not completion.</a:t>
            </a:r>
          </a:p>
          <a:p>
            <a:r>
              <a:t>7. Repeat Steps 2 through 6 separately for Labs 01, 02, 03, 04 and 05.</a:t>
            </a:r>
          </a:p>
          <a:p>
            <a:r>
              <a:t>8. Sort by **Name**. Confirm the list contains exactly six learner notebooks,</a:t>
            </a:r>
          </a:p>
          <a:p>
            <a:r>
              <a:t>   with consecutive prefixes 00 through 05. There is no Lab 06.</a:t>
            </a:r>
          </a:p>
          <a:p>
            <a:r>
              <a:t>9. If a name conflicts, cancel the overwrite. Rename your local copy with a</a:t>
            </a:r>
          </a:p>
          <a:p>
            <a:r>
              <a:t>   participant suffix, for example `_STUDENT_demo.ipynb`, and import again.</a:t>
            </a:r>
          </a:p>
          <a:p>
            <a:r>
              <a:t>   Keep the leading number and `_STUDENT`. Never replace another learner's work.</a:t>
            </a:r>
          </a:p>
          <a:p/>
          <a:p>
            <a:r>
              <a:t>![Follow Import, Notebook and From this computer.](images/training/manual/04-import-menu.png)</a:t>
            </a:r>
          </a:p>
          <a:p/>
          <a:p>
            <a:r>
              <a:t>![Select Upload in the notebook import pane.](images/training/manual/05-upload-dialog.png)</a:t>
            </a:r>
          </a:p>
          <a:p/>
          <a:p>
            <a:r>
              <a:t>![Confirm Imported successfully in Notifications.](images/training/manual/06-import-success.png)</a:t>
            </a:r>
          </a:p>
          <a:p/>
          <a:p>
            <a:r>
              <a:t>![Verify all six student notebooks, from Lab 00 through Lab 05.](images/training/manual/07-six-notebooks.png)</a:t>
            </a:r>
          </a:p>
          <a:p/>
          <a:p>
            <a:r>
              <a:t>Checkpoint: all six student notebooks are present before you create the lakehouse.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images/training/manual/07-six-notebooks.png</a:t>
            </a:r>
          </a:p>
          <a:p/>
          <a:p>
            <a:r>
              <a:t>## 2. Upload All Six Notebooks</a:t>
            </a:r>
          </a:p>
          <a:p/>
          <a:p>
            <a:r>
              <a:t>Use **Import** &gt; **Notebook** &gt; **From this computer** &gt; **Upload**.</a:t>
            </a:r>
          </a:p>
          <a:p>
            <a:r>
              <a:t>Repeat for one file at a time. Do not create the lakehouse or run a notebook yet.</a:t>
            </a:r>
          </a:p>
          <a:p/>
          <a:p>
            <a:r>
              <a:t>Download the workshop bundle supplied by your facilitator and extract it on</a:t>
            </a:r>
          </a:p>
          <a:p>
            <a:r>
              <a:t>your computer. Locate the **student** folder before opening the Upload</a:t>
            </a:r>
          </a:p>
          <a:p>
            <a:r>
              <a:t>dialog. Keep the `.ipynb` extension; do not upload Python source files or a ZIP.</a:t>
            </a:r>
          </a:p>
          <a:p/>
          <a:p>
            <a:r>
              <a:t>| Order | Student File                                                                                         | Purpose                         |</a:t>
            </a:r>
          </a:p>
          <a:p>
            <a:r>
              <a:t>|-------|------------------------------------------------------------------------------------------------------|---------------------------------|</a:t>
            </a:r>
          </a:p>
          <a:p>
            <a:r>
              <a:t>| 00    | [00_setup_lakehouse_and_config_STUDENT.ipynb](../notebooks/student/00_setup_lakehouse_and_config_STUDENT.ipynb) | Create the stand register        |</a:t>
            </a:r>
          </a:p>
          <a:p>
            <a:r>
              <a:t>| 01    | [01_bronze_stac_ingest_STUDENT.ipynb](../notebooks/student/01_bronze_stac_ingest_STUDENT.ipynb)               | Discover and ingest imagery      |</a:t>
            </a:r>
          </a:p>
          <a:p>
            <a:r>
              <a:t>| 02    | [02_silver_reproject_and_indices_STUDENT.ipynb](../notebooks/student/02_silver_reproject_and_indices_STUDENT.ipynb) | Mask, reproject and derive indices |</a:t>
            </a:r>
          </a:p>
          <a:p>
            <a:r>
              <a:t>| 03    | [03_gold_forest_classification_STUDENT.ipynb](../notebooks/student/03_gold_forest_classification_STUDENT.ipynb) | Classify and detect change       |</a:t>
            </a:r>
          </a:p>
          <a:p>
            <a:r>
              <a:t>| 04    | [04_gold_ai_enrichment_foundry_STUDENT.ipynb](../notebooks/student/04_gold_ai_enrichment_foundry_STUDENT.ipynb) | Add guarded offline narratives   |</a:t>
            </a:r>
          </a:p>
          <a:p>
            <a:r>
              <a:t>| 05    | [05_publish_and_validate_STUDENT.ipynb](../notebooks/student/05_publish_and_validate_STUDENT.ipynb)         | Build and validate Gold tables   |</a:t>
            </a:r>
          </a:p>
          <a:p/>
          <a:p>
            <a:r>
              <a:t>1. Open your notebook folder in the workspace.</a:t>
            </a:r>
          </a:p>
          <a:p>
            <a:r>
              <a:t>2. Select **Import** from the workspace toolbar.</a:t>
            </a:r>
          </a:p>
          <a:p>
            <a:r>
              <a:t>3. Select **Notebook**, then **From this computer**.</a:t>
            </a:r>
          </a:p>
          <a:p>
            <a:r>
              <a:t>4. In the **Import status** pane, select **Upload**.</a:t>
            </a:r>
          </a:p>
          <a:p>
            <a:r>
              <a:t>5. Select only the Lab 00 `.ipynb` file from the student folder.</a:t>
            </a:r>
          </a:p>
          <a:p>
            <a:r>
              <a:t>6. Wait for **Imported successfully** and confirm the notebook appears in the</a:t>
            </a:r>
          </a:p>
          <a:p>
            <a:r>
              <a:t>   folder. A waiting/importing message is not completion.</a:t>
            </a:r>
          </a:p>
          <a:p>
            <a:r>
              <a:t>7. Repeat Steps 2 through 6 separately for Labs 01, 02, 03, 04 and 05.</a:t>
            </a:r>
          </a:p>
          <a:p>
            <a:r>
              <a:t>8. Sort by **Name**. Confirm the list contains exactly six learner notebooks,</a:t>
            </a:r>
          </a:p>
          <a:p>
            <a:r>
              <a:t>   with consecutive prefixes 00 through 05. There is no Lab 06.</a:t>
            </a:r>
          </a:p>
          <a:p>
            <a:r>
              <a:t>9. If a name conflicts, cancel the overwrite. Rename your local copy with a</a:t>
            </a:r>
          </a:p>
          <a:p>
            <a:r>
              <a:t>   participant suffix, for example `_STUDENT_demo.ipynb`, and import again.</a:t>
            </a:r>
          </a:p>
          <a:p>
            <a:r>
              <a:t>   Keep the leading number and `_STUDENT`. Never replace another learner's work.</a:t>
            </a:r>
          </a:p>
          <a:p/>
          <a:p>
            <a:r>
              <a:t>![Follow Import, Notebook and From this computer.](images/training/manual/04-import-menu.png)</a:t>
            </a:r>
          </a:p>
          <a:p/>
          <a:p>
            <a:r>
              <a:t>![Select Upload in the notebook import pane.](images/training/manual/05-upload-dialog.png)</a:t>
            </a:r>
          </a:p>
          <a:p/>
          <a:p>
            <a:r>
              <a:t>![Confirm Imported successfully in Notifications.](images/training/manual/06-import-success.png)</a:t>
            </a:r>
          </a:p>
          <a:p/>
          <a:p>
            <a:r>
              <a:t>![Verify all six student notebooks, from Lab 00 through Lab 05.](images/training/manual/07-six-notebooks.png)</a:t>
            </a:r>
          </a:p>
          <a:p/>
          <a:p>
            <a:r>
              <a:t>Checkpoint: all six student notebooks are present before you create the lakehouse.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images/training/manual/08-lakehouse-create.png</a:t>
            </a:r>
          </a:p>
          <a:p/>
          <a:p>
            <a:r>
              <a:t>## 3. Create Your Lakehouse Manually</a:t>
            </a:r>
          </a:p>
          <a:p/>
          <a:p>
            <a:r>
              <a:t>1. Return to your learner folder in the `fabric-training-manual` workspace.</a:t>
            </a:r>
          </a:p>
          <a:p>
            <a:r>
              <a:t>2. Select **New item** &gt; **All items**, search for **Lakehouse**, and select it.</a:t>
            </a:r>
          </a:p>
          <a:p>
            <a:r>
              <a:t>3. Enter `lh_woodlands_demo`. Keep **Lakehouse schemas** checked.</a:t>
            </a:r>
          </a:p>
          <a:p>
            <a:r>
              <a:t>4. Select **Create** and wait for the lakehouse to open.</a:t>
            </a:r>
          </a:p>
          <a:p>
            <a:r>
              <a:t>5. Confirm Explorer shows **Tables** &gt; **dbo** and **Files**. Both are empty</a:t>
            </a:r>
          </a:p>
          <a:p>
            <a:r>
              <a:t>   before Lab 00 runs.</a:t>
            </a:r>
          </a:p>
          <a:p/>
          <a:p>
            <a:r>
              <a:t>![Name the learner lakehouse, leave Lakehouse schemas checked and select Create.](images/training/manual/08-lakehouse-create.png)</a:t>
            </a:r>
          </a:p>
          <a:p/>
          <a:p>
            <a:r>
              <a:t>![The new lakehouse has an empty dbo schema and Files area.](images/training/manual/09-empty-lakehouse.png)</a:t>
            </a:r>
          </a:p>
          <a:p/>
          <a:p>
            <a:r>
              <a:t>Fabric also creates a similarly named SQL analytics endpoint. Attach the</a:t>
            </a:r>
          </a:p>
          <a:p>
            <a:r>
              <a:t>**Lakehouse** item to notebooks, not that endpoint. Do not manually create</a:t>
            </a:r>
          </a:p>
          <a:p>
            <a:r>
              <a:t>Bronze, Silver or Gold tables; the notebooks write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images/training/manual/09-empty-lakehouse.png</a:t>
            </a:r>
          </a:p>
          <a:p/>
          <a:p>
            <a:r>
              <a:t>## 3. Create Your Lakehouse Manually</a:t>
            </a:r>
          </a:p>
          <a:p/>
          <a:p>
            <a:r>
              <a:t>1. Return to your learner folder in the `fabric-training-manual` workspace.</a:t>
            </a:r>
          </a:p>
          <a:p>
            <a:r>
              <a:t>2. Select **New item** &gt; **All items**, search for **Lakehouse**, and select it.</a:t>
            </a:r>
          </a:p>
          <a:p>
            <a:r>
              <a:t>3. Enter `lh_woodlands_demo`. Keep **Lakehouse schemas** checked.</a:t>
            </a:r>
          </a:p>
          <a:p>
            <a:r>
              <a:t>4. Select **Create** and wait for the lakehouse to open.</a:t>
            </a:r>
          </a:p>
          <a:p>
            <a:r>
              <a:t>5. Confirm Explorer shows **Tables** &gt; **dbo** and **Files**. Both are empty</a:t>
            </a:r>
          </a:p>
          <a:p>
            <a:r>
              <a:t>   before Lab 00 runs.</a:t>
            </a:r>
          </a:p>
          <a:p/>
          <a:p>
            <a:r>
              <a:t>![Name the learner lakehouse, leave Lakehouse schemas checked and select Create.](images/training/manual/08-lakehouse-create.png)</a:t>
            </a:r>
          </a:p>
          <a:p/>
          <a:p>
            <a:r>
              <a:t>![The new lakehouse has an empty dbo schema and Files area.](images/training/manual/09-empty-lakehouse.png)</a:t>
            </a:r>
          </a:p>
          <a:p/>
          <a:p>
            <a:r>
              <a:t>Fabric also creates a similarly named SQL analytics endpoint. Attach the</a:t>
            </a:r>
          </a:p>
          <a:p>
            <a:r>
              <a:t>**Lakehouse** item to notebooks, not that endpoint. Do not manually create</a:t>
            </a:r>
          </a:p>
          <a:p>
            <a:r>
              <a:t>Bronze, Silver or Gold tables; the notebooks write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images/training/manual/13-environment-picker.png</a:t>
            </a:r>
          </a:p>
          <a:p/>
          <a:p>
            <a:r>
              <a:t>## 4. Attach Every Notebook</a:t>
            </a:r>
          </a:p>
          <a:p/>
          <a:p>
            <a:r>
              <a:t>The facilitator's published `env_forestops` supplies the geospatial libraries.</a:t>
            </a:r>
          </a:p>
          <a:p>
            <a:r>
              <a:t>If missing or unpublished, stop and use</a:t>
            </a:r>
          </a:p>
          <a:p>
            <a:r>
              <a:t>[manual Environment setup](12-spark-environment.md#manual-portal-setup).</a:t>
            </a:r>
          </a:p>
          <a:p>
            <a:r>
              <a:t>Do not repair an attachment by running `%pip install`.</a:t>
            </a:r>
          </a:p>
          <a:p/>
          <a:p>
            <a:r>
              <a:t>Repeat these steps for all six learner notebooks. An imported filename or a</a:t>
            </a:r>
          </a:p>
          <a:p>
            <a:r>
              <a:t>`WORKSPACE` variable in code does not attach its data source.</a:t>
            </a:r>
          </a:p>
          <a:p/>
          <a:p>
            <a:r>
              <a:t>1. Open the notebook and verify its visible `Lab NN` heading and Student banner.</a:t>
            </a:r>
          </a:p>
          <a:p>
            <a:r>
              <a:t>   The banner is Cell 1; the lab title is Cell 2.</a:t>
            </a:r>
          </a:p>
          <a:p>
            <a:r>
              <a:t>2. Dismiss an optional product tour with **Skip for now**.</a:t>
            </a:r>
          </a:p>
          <a:p>
            <a:r>
              <a:t>3. Confirm the language is **PySpark (Python)**, not SparkR.</a:t>
            </a:r>
          </a:p>
          <a:p>
            <a:r>
              <a:t>4. In the Home ribbon, open **Environment**. A fresh import may show</a:t>
            </a:r>
          </a:p>
          <a:p>
            <a:r>
              <a:t>   **Workspace default**. On a narrow screen, first open the ribbon's **More</a:t>
            </a:r>
          </a:p>
          <a:p>
            <a:r>
              <a:t>   items** menu (`...`). Select **Change environment**.</a:t>
            </a:r>
          </a:p>
          <a:p>
            <a:r>
              <a:t>5. Select the `env_forestops` row whose **Location** is exactly `fabric-training-manual`,</a:t>
            </a:r>
          </a:p>
          <a:p>
            <a:r>
              <a:t>   then select **Confirm**. Other workspaces have environments with the same name.</a:t>
            </a:r>
          </a:p>
          <a:p>
            <a:r>
              <a:t>6. In Explorer, select **Add data items**, then **From OneLake catalog**.</a:t>
            </a:r>
          </a:p>
          <a:p>
            <a:r>
              <a:t>   In older portal layouts this is **Add lakehouse**.</a:t>
            </a:r>
          </a:p>
          <a:p>
            <a:r>
              <a:t>7. Filter to `lh_woodlands_demo`. Select the **Lakehouse** row in `fabric-training-manual`,</a:t>
            </a:r>
          </a:p>
          <a:p>
            <a:r>
              <a:t>   not the same-named SQL analytics endpoint,</a:t>
            </a:r>
          </a:p>
          <a:p>
            <a:r>
              <a:t>   then select **Connect** or **Add**, as shown by your portal.</a:t>
            </a:r>
          </a:p>
          <a:p>
            <a:r>
              <a:t>8. Open the lakehouse's **More options** (`...`) menu and select **Set as default</a:t>
            </a:r>
          </a:p>
          <a:p>
            <a:r>
              <a:t>   lakehouse**. Do not assume **Add** establishes the default. Wait for saving,</a:t>
            </a:r>
          </a:p>
          <a:p>
            <a:r>
              <a:t>   reopen the notebook, and confirm the Environment and lakehouse are still</a:t>
            </a:r>
          </a:p>
          <a:p>
            <a:r>
              <a:t>   attached before running any code.</a:t>
            </a:r>
          </a:p>
          <a:p>
            <a:r>
              <a:t>9. If you already started a Spark session, stop it and reconnect after changing</a:t>
            </a:r>
          </a:p>
          <a:p>
            <a:r>
              <a:t>   attachments. Do not run exercises against the old session configuration.</a:t>
            </a:r>
          </a:p>
          <a:p>
            <a:r>
              <a:t>10. In each configuration cell where these labels occur, set</a:t>
            </a:r>
          </a:p>
          <a:p>
            <a:r>
              <a:t>   `WORKSPACE = "fabric-training-manual"` and `LAKEHOUSE = "lh_woodlands_demo"`.</a:t>
            </a:r>
          </a:p>
          <a:p>
            <a:r>
              <a:t>   Use your identifier instead of `demo`. These strings do not establish attachments.</a:t>
            </a:r>
          </a:p>
          <a:p/>
          <a:p>
            <a:r>
              <a:t>![Choose env_forestops from the fabric-training-manual workspace.](images/training/manual/13-environment-picker.png)</a:t>
            </a:r>
          </a:p>
          <a:p/>
          <a:p>
            <a:r>
              <a:t>![Select the Lakehouse item rather than the same-named SQL endpoint.](images/training/manual/14-lakehouse-picker.png)</a:t>
            </a:r>
          </a:p>
          <a:p/>
          <a:p>
            <a:r>
              <a:t>![Check PySpark, env_forestops and the default lakehouse pin.](images/training/manual/15-notebook-attachments.png)</a:t>
            </a:r>
          </a:p>
          <a:p/>
          <a:p>
            <a:r>
              <a:t>![Use the lakehouse context menu to set the default, then reopen and check.](images/training/manual/15-default-lakehouse.png)</a:t>
            </a:r>
          </a:p>
          <a:p/>
          <a:p>
            <a:r>
              <a:t>Checkpoint: all six notebooks use PySpark, the published Environment and your</a:t>
            </a:r>
          </a:p>
          <a:p>
            <a:r>
              <a:t>own pinned lakehouse. Keep table names unchanged; they resolve under `dbo` in</a:t>
            </a:r>
          </a:p>
          <a:p>
            <a:r>
              <a:t>that default lakehouse.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images/training/manual/14-lakehouse-picker.png</a:t>
            </a:r>
          </a:p>
          <a:p/>
          <a:p>
            <a:r>
              <a:t>## 4. Attach Every Notebook</a:t>
            </a:r>
          </a:p>
          <a:p/>
          <a:p>
            <a:r>
              <a:t>The facilitator's published `env_forestops` supplies the geospatial libraries.</a:t>
            </a:r>
          </a:p>
          <a:p>
            <a:r>
              <a:t>If missing or unpublished, stop and use</a:t>
            </a:r>
          </a:p>
          <a:p>
            <a:r>
              <a:t>[manual Environment setup](12-spark-environment.md#manual-portal-setup).</a:t>
            </a:r>
          </a:p>
          <a:p>
            <a:r>
              <a:t>Do not repair an attachment by running `%pip install`.</a:t>
            </a:r>
          </a:p>
          <a:p/>
          <a:p>
            <a:r>
              <a:t>Repeat these steps for all six learner notebooks. An imported filename or a</a:t>
            </a:r>
          </a:p>
          <a:p>
            <a:r>
              <a:t>`WORKSPACE` variable in code does not attach its data source.</a:t>
            </a:r>
          </a:p>
          <a:p/>
          <a:p>
            <a:r>
              <a:t>1. Open the notebook and verify its visible `Lab NN` heading and Student banner.</a:t>
            </a:r>
          </a:p>
          <a:p>
            <a:r>
              <a:t>   The banner is Cell 1; the lab title is Cell 2.</a:t>
            </a:r>
          </a:p>
          <a:p>
            <a:r>
              <a:t>2. Dismiss an optional product tour with **Skip for now**.</a:t>
            </a:r>
          </a:p>
          <a:p>
            <a:r>
              <a:t>3. Confirm the language is **PySpark (Python)**, not SparkR.</a:t>
            </a:r>
          </a:p>
          <a:p>
            <a:r>
              <a:t>4. In the Home ribbon, open **Environment**. A fresh import may show</a:t>
            </a:r>
          </a:p>
          <a:p>
            <a:r>
              <a:t>   **Workspace default**. On a narrow screen, first open the ribbon's **More</a:t>
            </a:r>
          </a:p>
          <a:p>
            <a:r>
              <a:t>   items** menu (`...`). Select **Change environment**.</a:t>
            </a:r>
          </a:p>
          <a:p>
            <a:r>
              <a:t>5. Select the `env_forestops` row whose **Location** is exactly `fabric-training-manual`,</a:t>
            </a:r>
          </a:p>
          <a:p>
            <a:r>
              <a:t>   then select **Confirm**. Other workspaces have environments with the same name.</a:t>
            </a:r>
          </a:p>
          <a:p>
            <a:r>
              <a:t>6. In Explorer, select **Add data items**, then **From OneLake catalog**.</a:t>
            </a:r>
          </a:p>
          <a:p>
            <a:r>
              <a:t>   In older portal layouts this is **Add lakehouse**.</a:t>
            </a:r>
          </a:p>
          <a:p>
            <a:r>
              <a:t>7. Filter to `lh_woodlands_demo`. Select the **Lakehouse** row in `fabric-training-manual`,</a:t>
            </a:r>
          </a:p>
          <a:p>
            <a:r>
              <a:t>   not the same-named SQL analytics endpoint,</a:t>
            </a:r>
          </a:p>
          <a:p>
            <a:r>
              <a:t>   then select **Connect** or **Add**, as shown by your portal.</a:t>
            </a:r>
          </a:p>
          <a:p>
            <a:r>
              <a:t>8. Open the lakehouse's **More options** (`...`) menu and select **Set as default</a:t>
            </a:r>
          </a:p>
          <a:p>
            <a:r>
              <a:t>   lakehouse**. Do not assume **Add** establishes the default. Wait for saving,</a:t>
            </a:r>
          </a:p>
          <a:p>
            <a:r>
              <a:t>   reopen the notebook, and confirm the Environment and lakehouse are still</a:t>
            </a:r>
          </a:p>
          <a:p>
            <a:r>
              <a:t>   attached before running any code.</a:t>
            </a:r>
          </a:p>
          <a:p>
            <a:r>
              <a:t>9. If you already started a Spark session, stop it and reconnect after changing</a:t>
            </a:r>
          </a:p>
          <a:p>
            <a:r>
              <a:t>   attachments. Do not run exercises against the old session configuration.</a:t>
            </a:r>
          </a:p>
          <a:p>
            <a:r>
              <a:t>10. In each configuration cell where these labels occur, set</a:t>
            </a:r>
          </a:p>
          <a:p>
            <a:r>
              <a:t>   `WORKSPACE = "fabric-training-manual"` and `LAKEHOUSE = "lh_woodlands_demo"`.</a:t>
            </a:r>
          </a:p>
          <a:p>
            <a:r>
              <a:t>   Use your identifier instead of `demo`. These strings do not establish attachments.</a:t>
            </a:r>
          </a:p>
          <a:p/>
          <a:p>
            <a:r>
              <a:t>![Choose env_forestops from the fabric-training-manual workspace.](images/training/manual/13-environment-picker.png)</a:t>
            </a:r>
          </a:p>
          <a:p/>
          <a:p>
            <a:r>
              <a:t>![Select the Lakehouse item rather than the same-named SQL endpoint.](images/training/manual/14-lakehouse-picker.png)</a:t>
            </a:r>
          </a:p>
          <a:p/>
          <a:p>
            <a:r>
              <a:t>![Check PySpark, env_forestops and the default lakehouse pin.](images/training/manual/15-notebook-attachments.png)</a:t>
            </a:r>
          </a:p>
          <a:p/>
          <a:p>
            <a:r>
              <a:t>![Use the lakehouse context menu to set the default, then reopen and check.](images/training/manual/15-default-lakehouse.png)</a:t>
            </a:r>
          </a:p>
          <a:p/>
          <a:p>
            <a:r>
              <a:t>Checkpoint: all six notebooks use PySpark, the published Environment and your</a:t>
            </a:r>
          </a:p>
          <a:p>
            <a:r>
              <a:t>own pinned lakehouse. Keep table names unchanged; they resolve under `dbo` in</a:t>
            </a:r>
          </a:p>
          <a:p>
            <a:r>
              <a:t>that default lakehouse.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images/training/manual/15-notebook-attachments.png</a:t>
            </a:r>
          </a:p>
          <a:p/>
          <a:p>
            <a:r>
              <a:t>## 4. Attach Every Notebook</a:t>
            </a:r>
          </a:p>
          <a:p/>
          <a:p>
            <a:r>
              <a:t>The facilitator's published `env_forestops` supplies the geospatial libraries.</a:t>
            </a:r>
          </a:p>
          <a:p>
            <a:r>
              <a:t>If missing or unpublished, stop and use</a:t>
            </a:r>
          </a:p>
          <a:p>
            <a:r>
              <a:t>[manual Environment setup](12-spark-environment.md#manual-portal-setup).</a:t>
            </a:r>
          </a:p>
          <a:p>
            <a:r>
              <a:t>Do not repair an attachment by running `%pip install`.</a:t>
            </a:r>
          </a:p>
          <a:p/>
          <a:p>
            <a:r>
              <a:t>Repeat these steps for all six learner notebooks. An imported filename or a</a:t>
            </a:r>
          </a:p>
          <a:p>
            <a:r>
              <a:t>`WORKSPACE` variable in code does not attach its data source.</a:t>
            </a:r>
          </a:p>
          <a:p/>
          <a:p>
            <a:r>
              <a:t>1. Open the notebook and verify its visible `Lab NN` heading and Student banner.</a:t>
            </a:r>
          </a:p>
          <a:p>
            <a:r>
              <a:t>   The banner is Cell 1; the lab title is Cell 2.</a:t>
            </a:r>
          </a:p>
          <a:p>
            <a:r>
              <a:t>2. Dismiss an optional product tour with **Skip for now**.</a:t>
            </a:r>
          </a:p>
          <a:p>
            <a:r>
              <a:t>3. Confirm the language is **PySpark (Python)**, not SparkR.</a:t>
            </a:r>
          </a:p>
          <a:p>
            <a:r>
              <a:t>4. In the Home ribbon, open **Environment**. A fresh import may show</a:t>
            </a:r>
          </a:p>
          <a:p>
            <a:r>
              <a:t>   **Workspace default**. On a narrow screen, first open the ribbon's **More</a:t>
            </a:r>
          </a:p>
          <a:p>
            <a:r>
              <a:t>   items** menu (`...`). Select **Change environment**.</a:t>
            </a:r>
          </a:p>
          <a:p>
            <a:r>
              <a:t>5. Select the `env_forestops` row whose **Location** is exactly `fabric-training-manual`,</a:t>
            </a:r>
          </a:p>
          <a:p>
            <a:r>
              <a:t>   then select **Confirm**. Other workspaces have environments with the same name.</a:t>
            </a:r>
          </a:p>
          <a:p>
            <a:r>
              <a:t>6. In Explorer, select **Add data items**, then **From OneLake catalog**.</a:t>
            </a:r>
          </a:p>
          <a:p>
            <a:r>
              <a:t>   In older portal layouts this is **Add lakehouse**.</a:t>
            </a:r>
          </a:p>
          <a:p>
            <a:r>
              <a:t>7. Filter to `lh_woodlands_demo`. Select the **Lakehouse** row in `fabric-training-manual`,</a:t>
            </a:r>
          </a:p>
          <a:p>
            <a:r>
              <a:t>   not the same-named SQL analytics endpoint,</a:t>
            </a:r>
          </a:p>
          <a:p>
            <a:r>
              <a:t>   then select **Connect** or **Add**, as shown by your portal.</a:t>
            </a:r>
          </a:p>
          <a:p>
            <a:r>
              <a:t>8. Open the lakehouse's **More options** (`...`) menu and select **Set as default</a:t>
            </a:r>
          </a:p>
          <a:p>
            <a:r>
              <a:t>   lakehouse**. Do not assume **Add** establishes the default. Wait for saving,</a:t>
            </a:r>
          </a:p>
          <a:p>
            <a:r>
              <a:t>   reopen the notebook, and confirm the Environment and lakehouse are still</a:t>
            </a:r>
          </a:p>
          <a:p>
            <a:r>
              <a:t>   attached before running any code.</a:t>
            </a:r>
          </a:p>
          <a:p>
            <a:r>
              <a:t>9. If you already started a Spark session, stop it and reconnect after changing</a:t>
            </a:r>
          </a:p>
          <a:p>
            <a:r>
              <a:t>   attachments. Do not run exercises against the old session configuration.</a:t>
            </a:r>
          </a:p>
          <a:p>
            <a:r>
              <a:t>10. In each configuration cell where these labels occur, set</a:t>
            </a:r>
          </a:p>
          <a:p>
            <a:r>
              <a:t>   `WORKSPACE = "fabric-training-manual"` and `LAKEHOUSE = "lh_woodlands_demo"`.</a:t>
            </a:r>
          </a:p>
          <a:p>
            <a:r>
              <a:t>   Use your identifier instead of `demo`. These strings do not establish attachments.</a:t>
            </a:r>
          </a:p>
          <a:p/>
          <a:p>
            <a:r>
              <a:t>![Choose env_forestops from the fabric-training-manual workspace.](images/training/manual/13-environment-picker.png)</a:t>
            </a:r>
          </a:p>
          <a:p/>
          <a:p>
            <a:r>
              <a:t>![Select the Lakehouse item rather than the same-named SQL endpoint.](images/training/manual/14-lakehouse-picker.png)</a:t>
            </a:r>
          </a:p>
          <a:p/>
          <a:p>
            <a:r>
              <a:t>![Check PySpark, env_forestops and the default lakehouse pin.](images/training/manual/15-notebook-attachments.png)</a:t>
            </a:r>
          </a:p>
          <a:p/>
          <a:p>
            <a:r>
              <a:t>![Use the lakehouse context menu to set the default, then reopen and check.](images/training/manual/15-default-lakehouse.png)</a:t>
            </a:r>
          </a:p>
          <a:p/>
          <a:p>
            <a:r>
              <a:t>Checkpoint: all six notebooks use PySpark, the published Environment and your</a:t>
            </a:r>
          </a:p>
          <a:p>
            <a:r>
              <a:t>own pinned lakehouse. Keep table names unchanged; they resolve under `dbo` in</a:t>
            </a:r>
          </a:p>
          <a:p>
            <a:r>
              <a:t>that default lakehouse.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images/training/manual/15-default-lakehouse.png</a:t>
            </a:r>
          </a:p>
          <a:p/>
          <a:p>
            <a:r>
              <a:t>## 4. Attach Every Notebook</a:t>
            </a:r>
          </a:p>
          <a:p/>
          <a:p>
            <a:r>
              <a:t>The facilitator's published `env_forestops` supplies the geospatial libraries.</a:t>
            </a:r>
          </a:p>
          <a:p>
            <a:r>
              <a:t>If missing or unpublished, stop and use</a:t>
            </a:r>
          </a:p>
          <a:p>
            <a:r>
              <a:t>[manual Environment setup](12-spark-environment.md#manual-portal-setup).</a:t>
            </a:r>
          </a:p>
          <a:p>
            <a:r>
              <a:t>Do not repair an attachment by running `%pip install`.</a:t>
            </a:r>
          </a:p>
          <a:p/>
          <a:p>
            <a:r>
              <a:t>Repeat these steps for all six learner notebooks. An imported filename or a</a:t>
            </a:r>
          </a:p>
          <a:p>
            <a:r>
              <a:t>`WORKSPACE` variable in code does not attach its data source.</a:t>
            </a:r>
          </a:p>
          <a:p/>
          <a:p>
            <a:r>
              <a:t>1. Open the notebook and verify its visible `Lab NN` heading and Student banner.</a:t>
            </a:r>
          </a:p>
          <a:p>
            <a:r>
              <a:t>   The banner is Cell 1; the lab title is Cell 2.</a:t>
            </a:r>
          </a:p>
          <a:p>
            <a:r>
              <a:t>2. Dismiss an optional product tour with **Skip for now**.</a:t>
            </a:r>
          </a:p>
          <a:p>
            <a:r>
              <a:t>3. Confirm the language is **PySpark (Python)**, not SparkR.</a:t>
            </a:r>
          </a:p>
          <a:p>
            <a:r>
              <a:t>4. In the Home ribbon, open **Environment**. A fresh import may show</a:t>
            </a:r>
          </a:p>
          <a:p>
            <a:r>
              <a:t>   **Workspace default**. On a narrow screen, first open the ribbon's **More</a:t>
            </a:r>
          </a:p>
          <a:p>
            <a:r>
              <a:t>   items** menu (`...`). Select **Change environment**.</a:t>
            </a:r>
          </a:p>
          <a:p>
            <a:r>
              <a:t>5. Select the `env_forestops` row whose **Location** is exactly `fabric-training-manual`,</a:t>
            </a:r>
          </a:p>
          <a:p>
            <a:r>
              <a:t>   then select **Confirm**. Other workspaces have environments with the same name.</a:t>
            </a:r>
          </a:p>
          <a:p>
            <a:r>
              <a:t>6. In Explorer, select **Add data items**, then **From OneLake catalog**.</a:t>
            </a:r>
          </a:p>
          <a:p>
            <a:r>
              <a:t>   In older portal layouts this is **Add lakehouse**.</a:t>
            </a:r>
          </a:p>
          <a:p>
            <a:r>
              <a:t>7. Filter to `lh_woodlands_demo`. Select the **Lakehouse** row in `fabric-training-manual`,</a:t>
            </a:r>
          </a:p>
          <a:p>
            <a:r>
              <a:t>   not the same-named SQL analytics endpoint,</a:t>
            </a:r>
          </a:p>
          <a:p>
            <a:r>
              <a:t>   then select **Connect** or **Add**, as shown by your portal.</a:t>
            </a:r>
          </a:p>
          <a:p>
            <a:r>
              <a:t>8. Open the lakehouse's **More options** (`...`) menu and select **Set as default</a:t>
            </a:r>
          </a:p>
          <a:p>
            <a:r>
              <a:t>   lakehouse**. Do not assume **Add** establishes the default. Wait for saving,</a:t>
            </a:r>
          </a:p>
          <a:p>
            <a:r>
              <a:t>   reopen the notebook, and confirm the Environment and lakehouse are still</a:t>
            </a:r>
          </a:p>
          <a:p>
            <a:r>
              <a:t>   attached before running any code.</a:t>
            </a:r>
          </a:p>
          <a:p>
            <a:r>
              <a:t>9. If you already started a Spark session, stop it and reconnect after changing</a:t>
            </a:r>
          </a:p>
          <a:p>
            <a:r>
              <a:t>   attachments. Do not run exercises against the old session configuration.</a:t>
            </a:r>
          </a:p>
          <a:p>
            <a:r>
              <a:t>10. In each configuration cell where these labels occur, set</a:t>
            </a:r>
          </a:p>
          <a:p>
            <a:r>
              <a:t>   `WORKSPACE = "fabric-training-manual"` and `LAKEHOUSE = "lh_woodlands_demo"`.</a:t>
            </a:r>
          </a:p>
          <a:p>
            <a:r>
              <a:t>   Use your identifier instead of `demo`. These strings do not establish attachments.</a:t>
            </a:r>
          </a:p>
          <a:p/>
          <a:p>
            <a:r>
              <a:t>![Choose env_forestops from the fabric-training-manual workspace.](images/training/manual/13-environment-picker.png)</a:t>
            </a:r>
          </a:p>
          <a:p/>
          <a:p>
            <a:r>
              <a:t>![Select the Lakehouse item rather than the same-named SQL endpoint.](images/training/manual/14-lakehouse-picker.png)</a:t>
            </a:r>
          </a:p>
          <a:p/>
          <a:p>
            <a:r>
              <a:t>![Check PySpark, env_forestops and the default lakehouse pin.](images/training/manual/15-notebook-attachments.png)</a:t>
            </a:r>
          </a:p>
          <a:p/>
          <a:p>
            <a:r>
              <a:t>![Use the lakehouse context menu to set the default, then reopen and check.](images/training/manual/15-default-lakehouse.png)</a:t>
            </a:r>
          </a:p>
          <a:p/>
          <a:p>
            <a:r>
              <a:t>Checkpoint: all six notebooks use PySpark, the published Environment and your</a:t>
            </a:r>
          </a:p>
          <a:p>
            <a:r>
              <a:t>own pinned lakehouse. Keep table names unchanged; they resolve under `dbo` in</a:t>
            </a:r>
          </a:p>
          <a:p>
            <a:r>
              <a:t>that default lakehouse.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images/training/manual/16-run-cell-and-todo.png</a:t>
            </a:r>
          </a:p>
          <a:p/>
          <a:p>
            <a:r>
              <a:t>### Working Cycle</a:t>
            </a:r>
          </a:p>
          <a:p/>
          <a:p>
            <a:r>
              <a:t>1. Confirm your default lakehouse and obtain the facilitator's Spark execution slot.</a:t>
            </a:r>
          </a:p>
          <a:p>
            <a:r>
              <a:t>2. Read the markdown before each code cell.</a:t>
            </a:r>
          </a:p>
          <a:p>
            <a:r>
              <a:t>3. Complete each applicable numbered `TODO`, including Lab 01's catalogue and</a:t>
            </a:r>
          </a:p>
          <a:p>
            <a:r>
              <a:t>   search exercises for the default Fabric-download route. Only the explicit</a:t>
            </a:r>
          </a:p>
          <a:p>
            <a:r>
              <a:t>   manual fallback leaves those two exercises inactive.</a:t>
            </a:r>
          </a:p>
          <a:p>
            <a:r>
              <a:t>4. Select the cell's triangular **Run cell** control and wait for completion.</a:t>
            </a:r>
          </a:p>
          <a:p>
            <a:r>
              <a:t>   Run its validation cell. Continue only after the expected checks pass.</a:t>
            </a:r>
          </a:p>
          <a:p>
            <a:r>
              <a:t>5. Stop at any exception or `[FAIL]`, even if Fabric allows later cells to run.</a:t>
            </a:r>
          </a:p>
          <a:p>
            <a:r>
              <a:t>   Some teaching checks print a failure rather than raise an exception.</a:t>
            </a:r>
          </a:p>
          <a:p>
            <a:r>
              <a:t>6. Use the matching solution to understand a blocked exercise. Student and</a:t>
            </a:r>
          </a:p>
          <a:p>
            <a:r>
              <a:t>   solution cell numbers can differ; match the section heading too.</a:t>
            </a:r>
          </a:p>
          <a:p>
            <a:r>
              <a:t>7. Verify the output table/files, then capture the checkpoint before opening</a:t>
            </a:r>
          </a:p>
          <a:p>
            <a:r>
              <a:t>   the next lab. Do not use **Run all** on an unfinished student notebook.</a:t>
            </a:r>
          </a:p>
          <a:p/>
          <a:p>
            <a:r>
              <a:t>Cell numbers below refer to the supplied student files, before adding or</a:t>
            </a:r>
          </a:p>
          <a:p>
            <a:r>
              <a:t>removing cells. They are navigation aids, not execution order: run all code</a:t>
            </a:r>
          </a:p>
          <a:p>
            <a:r>
              <a:t>cells from top to bottom, not only the exercise cells listed.</a:t>
            </a:r>
          </a:p>
          <a:p/>
          <a:p>
            <a:r>
              <a:t>![Complete each numbered TODO, then select Run cell and inspect validation output.](images/training/manual/16-run-cell-and-todo.png)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images/training/manual/17-lab00-configuration.png</a:t>
            </a:r>
          </a:p>
          <a:p/>
          <a:p>
            <a:r>
              <a:t>### Lab 00: Land The Stand Register</a:t>
            </a:r>
          </a:p>
          <a:p/>
          <a:p>
            <a:r>
              <a:t>Exercise cells: **8, 14, 20, 21, 23 and 27**. Allow about 50 minutes.</a:t>
            </a:r>
          </a:p>
          <a:p/>
          <a:p>
            <a:r>
              <a:t>1. Run the Environment check in Cell 4; it must report the packages available.</a:t>
            </a:r>
          </a:p>
          <a:p>
            <a:r>
              <a:t>2. In Cell 6, keep the supplied area, `USE_SYNTHETIC_STANDS=True`, count 120,</a:t>
            </a:r>
          </a:p>
          <a:p>
            <a:r>
              <a:t>   `WORKSPACE="fabric-training-manual"` and your own lakehouse name.</a:t>
            </a:r>
          </a:p>
          <a:p>
            <a:r>
              <a:t>3. Complete bounding-box validation. Confirm reversed longitude and impossible</a:t>
            </a:r>
          </a:p>
          <a:p>
            <a:r>
              <a:t>   latitude fail the exercise checks.</a:t>
            </a:r>
          </a:p>
          <a:p>
            <a:r>
              <a:t>4. Generate synthetic stands in EPSG:2953. Complete the attributes and hectare</a:t>
            </a:r>
          </a:p>
          <a:p>
            <a:r>
              <a:t>   calculation in the projected CRS, not in latitude/longitude degrees.</a:t>
            </a:r>
          </a:p>
          <a:p>
            <a:r>
              <a:t>5. Complete WKB serialization, Delta writing and geometry readback.</a:t>
            </a:r>
          </a:p>
          <a:p>
            <a:r>
              <a:t>6. Add WGS84 centroid longitude/latitude and verify they fall within the area.</a:t>
            </a:r>
          </a:p>
          <a:p>
            <a:r>
              <a:t>7. Inspect `bronze_stand_register`. The reference has 120 unique stand IDs.</a:t>
            </a:r>
          </a:p>
          <a:p>
            <a:r>
              <a:t>8. Capture `05-lab-00.png` with the lab title and final validation or table.</a:t>
            </a:r>
          </a:p>
          <a:p/>
          <a:p>
            <a:r>
              <a:t>![Lab 00 prints the analysis CRS, synthetic mode and learner workspace labels.](images/training/manual/17-lab00-configuration.png)</a:t>
            </a:r>
          </a:p>
          <a:p/>
          <a:p>
            <a:r>
              <a:t>![The corrected Lab 00 checkpoint reports PASS with 120 of 120 centroids inside the area.](images/training/manual/18-lab00-checkpoint.png)</a:t>
            </a:r>
          </a:p>
          <a:p/>
          <a:p>
            <a:r>
              <a:t>The synthetic sampling cells are larger than many real forest stands. Use the</a:t>
            </a:r>
          </a:p>
          <a:p>
            <a:r>
              <a:t>supplied geometry-derived area check, not a 500 ha maximum.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images/training/manual/18-lab00-checkpoint.png</a:t>
            </a:r>
          </a:p>
          <a:p/>
          <a:p>
            <a:r>
              <a:t>### Lab 00: Land The Stand Register</a:t>
            </a:r>
          </a:p>
          <a:p/>
          <a:p>
            <a:r>
              <a:t>Exercise cells: **8, 14, 20, 21, 23 and 27**. Allow about 50 minutes.</a:t>
            </a:r>
          </a:p>
          <a:p/>
          <a:p>
            <a:r>
              <a:t>1. Run the Environment check in Cell 4; it must report the packages available.</a:t>
            </a:r>
          </a:p>
          <a:p>
            <a:r>
              <a:t>2. In Cell 6, keep the supplied area, `USE_SYNTHETIC_STANDS=True`, count 120,</a:t>
            </a:r>
          </a:p>
          <a:p>
            <a:r>
              <a:t>   `WORKSPACE="fabric-training-manual"` and your own lakehouse name.</a:t>
            </a:r>
          </a:p>
          <a:p>
            <a:r>
              <a:t>3. Complete bounding-box validation. Confirm reversed longitude and impossible</a:t>
            </a:r>
          </a:p>
          <a:p>
            <a:r>
              <a:t>   latitude fail the exercise checks.</a:t>
            </a:r>
          </a:p>
          <a:p>
            <a:r>
              <a:t>4. Generate synthetic stands in EPSG:2953. Complete the attributes and hectare</a:t>
            </a:r>
          </a:p>
          <a:p>
            <a:r>
              <a:t>   calculation in the projected CRS, not in latitude/longitude degrees.</a:t>
            </a:r>
          </a:p>
          <a:p>
            <a:r>
              <a:t>5. Complete WKB serialization, Delta writing and geometry readback.</a:t>
            </a:r>
          </a:p>
          <a:p>
            <a:r>
              <a:t>6. Add WGS84 centroid longitude/latitude and verify they fall within the area.</a:t>
            </a:r>
          </a:p>
          <a:p>
            <a:r>
              <a:t>7. Inspect `bronze_stand_register`. The reference has 120 unique stand IDs.</a:t>
            </a:r>
          </a:p>
          <a:p>
            <a:r>
              <a:t>8. Capture `05-lab-00.png` with the lab title and final validation or table.</a:t>
            </a:r>
          </a:p>
          <a:p/>
          <a:p>
            <a:r>
              <a:t>![Lab 00 prints the analysis CRS, synthetic mode and learner workspace labels.](images/training/manual/17-lab00-configuration.png)</a:t>
            </a:r>
          </a:p>
          <a:p/>
          <a:p>
            <a:r>
              <a:t>![The corrected Lab 00 checkpoint reports PASS with 120 of 120 centroids inside the area.](images/training/manual/18-lab00-checkpoint.png)</a:t>
            </a:r>
          </a:p>
          <a:p/>
          <a:p>
            <a:r>
              <a:t>The synthetic sampling cells are larger than many real forest stands. Use the</a:t>
            </a:r>
          </a:p>
          <a:p>
            <a:r>
              <a:t>supplied geometry-derived area check, not a 500 ha maximum.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images/training/manual/19-lab01-bronze.png</a:t>
            </a:r>
          </a:p>
          <a:p/>
          <a:p>
            <a:r>
              <a:t>### Lab 01: Ingest Sentinel-2 Imagery</a:t>
            </a:r>
          </a:p>
          <a:p/>
          <a:p>
            <a:r>
              <a:t>Default Fabric-download exercise cells: **9, 11, 17, 24, 26 and 30**.</a:t>
            </a:r>
          </a:p>
          <a:p>
            <a:r>
              <a:t>Allow about 45 minutes; download time varies with network and scene selection.</a:t>
            </a:r>
          </a:p>
          <a:p/>
          <a:p>
            <a:r>
              <a:t>1. Confirm Lab 00 is complete and the same lakehouse is attached.</a:t>
            </a:r>
          </a:p>
          <a:p>
            <a:r>
              <a:t>2. Keep the supplied area and June 1 through August 31, 2026 window. The initial</a:t>
            </a:r>
          </a:p>
          <a:p>
            <a:r>
              <a:t>   limit is six scenes, cloud cover below 20%, at 20 m resolution.</a:t>
            </a:r>
          </a:p>
          <a:p>
            <a:r>
              <a:t>3. Keep `INPUT_MODE = "stac"` in Cell 6. Complete the catalogue-opening TODO in</a:t>
            </a:r>
          </a:p>
          <a:p>
            <a:r>
              <a:t>   Cell 9 and the scene-search TODO in Cell 11. Follow</a:t>
            </a:r>
          </a:p>
          <a:p>
            <a:r>
              <a:t>   [the direct Fabric-download steps](17-manual-imagery-download.md#1-download-directly-in-fabric).</a:t>
            </a:r>
          </a:p>
          <a:p>
            <a:r>
              <a:t>   You do not download imagery to your computer or upload TIFFs for this route.</a:t>
            </a:r>
          </a:p>
          <a:p>
            <a:r>
              <a:t>4. Complete the windowed load for B04, B08, B11, B12 and SCL. Fabric reads the</a:t>
            </a:r>
          </a:p>
          <a:p>
            <a:r>
              <a:t>   selected Planetary Computer assets for the area of interest. Do not persist</a:t>
            </a:r>
          </a:p>
          <a:p>
            <a:r>
              <a:t>   signed asset URLs.</a:t>
            </a:r>
          </a:p>
          <a:p>
            <a:r>
              <a:t>5. Write and inspect `bronze_scene_catalog`, then complete the Bronze file writes</a:t>
            </a:r>
          </a:p>
          <a:p>
            <a:r>
              <a:t>   and final cache-writing cell. Lab 02 always reads that persisted dataset.</a:t>
            </a:r>
          </a:p>
          <a:p>
            <a:r>
              <a:t>6. Verify files under `Files/bronze/scenes/central-nb-block-a/`, including</a:t>
            </a:r>
          </a:p>
          <a:p>
            <a:r>
              <a:t>   `_session_cache.zarr`, and the catalogue validation. The automatic reference</a:t>
            </a:r>
          </a:p>
          <a:p>
            <a:r>
              <a:t>   contains six scenes; report your actual selection. An empty selection is a stop.</a:t>
            </a:r>
          </a:p>
          <a:p>
            <a:r>
              <a:t>7. Capture `06-lab-01.png`. Avoid output that contains signed URLs.</a:t>
            </a:r>
          </a:p>
          <a:p/>
          <a:p>
            <a:r>
              <a:t>![Default Fabric-download reference: six catalogue rows, unsigned source URLs and the native projection.](images/training/manual/19-lab01-bronze.png)</a:t>
            </a:r>
          </a:p>
          <a:p/>
          <a:p>
            <a:r>
              <a:t>If direct access is unavailable under your approved network policy, use the</a:t>
            </a:r>
          </a:p>
          <a:p>
            <a:r>
              <a:t>[manual fallback](17-manual-imagery-download.md#2-manual-download-and-upload-fallback).</a:t>
            </a:r>
          </a:p>
          <a:p>
            <a:r>
              <a:t>Download/upload all six original files, set `INPUT_MODE = "manual"` in Cell 6,</a:t>
            </a:r>
          </a:p>
          <a:p>
            <a:r>
              <a:t>then complete Cells 17, 24, 26 and 30 and every intervening validation. Cells 9</a:t>
            </a:r>
          </a:p>
          <a:p>
            <a:r>
              <a:t>and 11 still run, but their online TODOs are inactive. The fallback uses one</a:t>
            </a:r>
          </a:p>
          <a:p>
            <a:r>
              <a:t>uploaded scene and requires additional transfer time. Do not run both routes</a:t>
            </a:r>
          </a:p>
          <a:p>
            <a:r>
              <a:t>concurrently against one lakehouse.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images/training/manual/20-lab02-quality.png</a:t>
            </a:r>
          </a:p>
          <a:p/>
          <a:p>
            <a:r>
              <a:t>### Lab 02: Build Silver Observations</a:t>
            </a:r>
          </a:p>
          <a:p/>
          <a:p>
            <a:r>
              <a:t>Exercise cells: **12, 14, 18, 20, 22, 27, 31 and 32**. Allow about 50 minutes.</a:t>
            </a:r>
          </a:p>
          <a:p/>
          <a:p>
            <a:r>
              <a:t>1. Confirm Bronze tables and files from Labs 00 and 01 are available.</a:t>
            </a:r>
          </a:p>
          <a:p>
            <a:r>
              <a:t>2. Complete SCL masking and reflectance scaling using the provided constants.</a:t>
            </a:r>
          </a:p>
          <a:p>
            <a:r>
              <a:t>3. Reproject to EPSG:2953 and complete NDVI, NDMI, NBR and EVI.</a:t>
            </a:r>
          </a:p>
          <a:p>
            <a:r>
              <a:t>4. Calculate zonal statistics by stand with explicit valid-pixel accounting.</a:t>
            </a:r>
          </a:p>
          <a:p>
            <a:r>
              <a:t>5. Apply the 0.60 minimum valid-pixel fraction. Do not lower it to force a pass.</a:t>
            </a:r>
          </a:p>
          <a:p>
            <a:r>
              <a:t>6. Write `silver_stand_observations` and inspect its unique stand/date grain.</a:t>
            </a:r>
          </a:p>
          <a:p>
            <a:r>
              <a:t>7. Verify physical index ranges, source scene IDs and the quality gate. The</a:t>
            </a:r>
          </a:p>
          <a:p>
            <a:r>
              <a:t>   notebook must print **Input route: stac** for the default route, or **manual**</a:t>
            </a:r>
          </a:p>
          <a:p>
            <a:r>
              <a:t>   for the fallback. The earlier manual rehearsal had 120 rows and 119 trusted stands. Your counts</a:t>
            </a:r>
          </a:p>
          <a:p>
            <a:r>
              <a:t>   can differ; do not use historical counts as a substitute for validation.</a:t>
            </a:r>
          </a:p>
          <a:p>
            <a:r>
              <a:t>8. Capture `07-lab-02.png` with the validation and coverage result.</a:t>
            </a:r>
          </a:p>
          <a:p/>
          <a:p>
            <a:r>
              <a:t>![Lab 02 passes the Silver quality gate with 119 trusted stands out of 120 in this rehearsal.](images/training/manual/20-lab02-quality.png)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images/training/manual/21-lab03-classification.png</a:t>
            </a:r>
          </a:p>
          <a:p/>
          <a:p>
            <a:r>
              <a:t>### Lab 03: Classify And Detect Change</a:t>
            </a:r>
          </a:p>
          <a:p/>
          <a:p>
            <a:r>
              <a:t>Exercise cells: **6, 8, 12, 17 and 22**. Allow about 45 minutes.</a:t>
            </a:r>
          </a:p>
          <a:p/>
          <a:p>
            <a:r>
              <a:t>1. Read Silver observations and build the period composite at stand grain.</a:t>
            </a:r>
          </a:p>
          <a:p>
            <a:r>
              <a:t>2. Complete the provided threshold classification and confidence rules.</a:t>
            </a:r>
          </a:p>
          <a:p>
            <a:r>
              <a:t>3. Complete change detection and review flags. Keep untrusted observations</a:t>
            </a:r>
          </a:p>
          <a:p>
            <a:r>
              <a:t>   excluded according to the supplied gate.</a:t>
            </a:r>
          </a:p>
          <a:p>
            <a:r>
              <a:t>4. Write `gold_stand_classification` and `gold_stand_change`.</a:t>
            </a:r>
          </a:p>
          <a:p>
            <a:r>
              <a:t>5. Inspect class counts and the review queue. The manual-download rehearsal</a:t>
            </a:r>
          </a:p>
          <a:p>
            <a:r>
              <a:t>   retains 119 stands. These are instructional spectral classes, not</a:t>
            </a:r>
          </a:p>
          <a:p>
            <a:r>
              <a:t>   field-validated species or harvesting decisions.</a:t>
            </a:r>
          </a:p>
          <a:p>
            <a:r>
              <a:t>6. Capture `08-lab-03.png` with the final validation and a classification preview.</a:t>
            </a:r>
          </a:p>
          <a:p/>
          <a:p>
            <a:r>
              <a:t>![Check the retained classifications and the demonstration review queue.](images/training/manual/21-lab03-classification.png)</a:t>
            </a:r>
          </a:p>
          <a:p/>
          <a:p>
            <a:r>
              <a:t>When no previous period is present, this lab constructs a simulated 2025</a:t>
            </a:r>
          </a:p>
          <a:p>
            <a:r>
              <a:t>baseline for the change exercise. Harvest and disturbance flags from that</a:t>
            </a:r>
          </a:p>
          <a:p>
            <a:r>
              <a:t>baseline are demonstration outputs, not observed historical events. Do not</a:t>
            </a:r>
          </a:p>
          <a:p>
            <a:r>
              <a:t>describe the reference harvested-area number as a real harvest measurement.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images/training/manual/22-lab04-offline-narratives.png</a:t>
            </a:r>
          </a:p>
          <a:p/>
          <a:p>
            <a:r>
              <a:t>### Lab 04: Add Guarded Narratives</a:t>
            </a:r>
          </a:p>
          <a:p/>
          <a:p>
            <a:r>
              <a:t>Exercise cells: **9, 20, 26, 27 and 32**. Allow about 45 minutes.</a:t>
            </a:r>
          </a:p>
          <a:p/>
          <a:p>
            <a:r>
              <a:t>1. Keep the offline path for the required lab. Do not configure Foundry</a:t>
            </a:r>
          </a:p>
          <a:p>
            <a:r>
              <a:t>   credentials. Confirm the configuration output says **offline stub**.</a:t>
            </a:r>
          </a:p>
          <a:p>
            <a:r>
              <a:t>2. Complete the structured payload with only allowed fields and explicit nulls.</a:t>
            </a:r>
          </a:p>
          <a:p>
            <a:r>
              <a:t>3. Read the prompt restrictions: no calculations, invented numbers or operational</a:t>
            </a:r>
          </a:p>
          <a:p>
            <a:r>
              <a:t>   decisions by the model.</a:t>
            </a:r>
          </a:p>
          <a:p>
            <a:r>
              <a:t>4. Complete response parsing and numeric validation. Keep invalid narrative</a:t>
            </a:r>
          </a:p>
          <a:p>
            <a:r>
              <a:t>   suppression and status fields intact.</a:t>
            </a:r>
          </a:p>
          <a:p>
            <a:r>
              <a:t>5. Write `gold_stand_narrative` and inspect its `validation_status` values.</a:t>
            </a:r>
          </a:p>
          <a:p>
            <a:r>
              <a:t>   The reference has 40 rows with status `stubbed`.</a:t>
            </a:r>
          </a:p>
          <a:p>
            <a:r>
              <a:t>6. Capture `09-lab-04.png`, showing offline mode and the final validation.</a:t>
            </a:r>
          </a:p>
          <a:p/>
          <a:p>
            <a:r>
              <a:t>![Verify 40 offline-stub narratives and zero failed rows.](images/training/manual/22-lab04-offline-narratives.png)</a:t>
            </a:r>
          </a:p>
          <a:p/>
          <a:p>
            <a:r>
              <a:t>This notebook has no live-model client or credential setup. Do not describe</a:t>
            </a:r>
          </a:p>
          <a:p>
            <a:r>
              <a:t>stubbed text as an AI model result. The native Fabric Data Agent comes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images/training/manual/23-lab05-gold.png</a:t>
            </a:r>
          </a:p>
          <a:p/>
          <a:p>
            <a:r>
              <a:t>### Lab 05: Publish And Validate Gold Tables</a:t>
            </a:r>
          </a:p>
          <a:p/>
          <a:p>
            <a:r>
              <a:t>Exercise cells: **6, 9 and 13**. Allow about 45 minutes for notebook work.</a:t>
            </a:r>
          </a:p>
          <a:p/>
          <a:p>
            <a:r>
              <a:t>1. Build the stand dimension with WGS84 centroid coordinates and no binary</a:t>
            </a:r>
          </a:p>
          <a:p>
            <a:r>
              <a:t>   geometry column in the model-facing table.</a:t>
            </a:r>
          </a:p>
          <a:p>
            <a:r>
              <a:t>2. Build a contiguous daily date dimension covering the classification periods.</a:t>
            </a:r>
          </a:p>
          <a:p>
            <a:r>
              <a:t>3. Review the seven-row class dimension, then complete the fact-table joins and</a:t>
            </a:r>
          </a:p>
          <a:p>
            <a:r>
              <a:t>   date key at one row per stand and period.</a:t>
            </a:r>
          </a:p>
          <a:p>
            <a:r>
              <a:t>4. Run key, null, relationship and range checks. Stop on any `[FAIL]`.</a:t>
            </a:r>
          </a:p>
          <a:p>
            <a:r>
              <a:t>5. Write and inspect `gold_stand_facts`, `gold_dim_stand`, `gold_dim_date` and</a:t>
            </a:r>
          </a:p>
          <a:p>
            <a:r>
              <a:t>   `gold_dim_forest_class`. This rehearsal has 119, 120, 365 and 7 rows.</a:t>
            </a:r>
          </a:p>
          <a:p>
            <a:r>
              <a:t>6. Run **Publish the run summary**. Optional semantic-model, report and scheduling</a:t>
            </a:r>
          </a:p>
          <a:p>
            <a:r>
              <a:t>   sections have been removed from the learner notebooks.</a:t>
            </a:r>
          </a:p>
          <a:p>
            <a:r>
              <a:t>7. Run the supplied **Export the native Fabric Map layer** cell after completing</a:t>
            </a:r>
          </a:p>
          <a:p>
            <a:r>
              <a:t>   the TODOs. It writes `Files/gold/maps/stand_classification.geojson`.</a:t>
            </a:r>
          </a:p>
          <a:p>
            <a:r>
              <a:t>8. Confirm `readback: PASS` and that registered stands equal retained stands</a:t>
            </a:r>
          </a:p>
          <a:p>
            <a:r>
              <a:t>   plus stands without a result. Note the exported reporting period.</a:t>
            </a:r>
          </a:p>
          <a:p>
            <a:r>
              <a:t>9. Capture `10-lab-05.png`, including the Gold tables and export result.</a:t>
            </a:r>
          </a:p>
          <a:p/>
          <a:p>
            <a:r>
              <a:t>![Verify the four Gold tables and distinguish retained facts from the full register.](images/training/manual/23-lab05-gold.png)</a:t>
            </a:r>
          </a:p>
          <a:p/>
          <a:p>
            <a:r>
              <a:t>![Check the GeoJSON path, retained and missing counts, and PASS readback.](images/training/manual/24-geojson-export.png)</a:t>
            </a:r>
          </a:p>
          <a:p/>
          <a:p>
            <a:r>
              <a:t>The export includes every registered polygon for one period. The</a:t>
            </a:r>
          </a:p>
          <a:p>
            <a:r>
              <a:t>`no_classified_result` display category is different from the classifier's</a:t>
            </a:r>
          </a:p>
          <a:p>
            <a:r>
              <a:t>`unclassified` class; missing quality/change attributes stay null. A new export</a:t>
            </a:r>
          </a:p>
          <a:p>
            <a:r>
              <a:t>replaces the file snapshot, so refresh the Map after exporting again.</a:t>
            </a:r>
          </a:p>
          <a:p/>
          <a:p>
            <a:r>
              <a:t>For example, 119 retained stands out of 120 registered stands is **99.17% register</a:t>
            </a:r>
          </a:p>
          <a:p>
            <a:r>
              <a:t>coverage**, even when every retained fact is trusted. Report your own counts and</a:t>
            </a:r>
          </a:p>
          <a:p>
            <a:r>
              <a:t>period. A semantic model, Power BI report and schedule are not required.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images/training/manual/24-geojson-export.png</a:t>
            </a:r>
          </a:p>
          <a:p/>
          <a:p>
            <a:r>
              <a:t>### Lab 05: Publish And Validate Gold Tables</a:t>
            </a:r>
          </a:p>
          <a:p/>
          <a:p>
            <a:r>
              <a:t>Exercise cells: **6, 9 and 13**. Allow about 45 minutes for notebook work.</a:t>
            </a:r>
          </a:p>
          <a:p/>
          <a:p>
            <a:r>
              <a:t>1. Build the stand dimension with WGS84 centroid coordinates and no binary</a:t>
            </a:r>
          </a:p>
          <a:p>
            <a:r>
              <a:t>   geometry column in the model-facing table.</a:t>
            </a:r>
          </a:p>
          <a:p>
            <a:r>
              <a:t>2. Build a contiguous daily date dimension covering the classification periods.</a:t>
            </a:r>
          </a:p>
          <a:p>
            <a:r>
              <a:t>3. Review the seven-row class dimension, then complete the fact-table joins and</a:t>
            </a:r>
          </a:p>
          <a:p>
            <a:r>
              <a:t>   date key at one row per stand and period.</a:t>
            </a:r>
          </a:p>
          <a:p>
            <a:r>
              <a:t>4. Run key, null, relationship and range checks. Stop on any `[FAIL]`.</a:t>
            </a:r>
          </a:p>
          <a:p>
            <a:r>
              <a:t>5. Write and inspect `gold_stand_facts`, `gold_dim_stand`, `gold_dim_date` and</a:t>
            </a:r>
          </a:p>
          <a:p>
            <a:r>
              <a:t>   `gold_dim_forest_class`. This rehearsal has 119, 120, 365 and 7 rows.</a:t>
            </a:r>
          </a:p>
          <a:p>
            <a:r>
              <a:t>6. Run **Publish the run summary**. Optional semantic-model, report and scheduling</a:t>
            </a:r>
          </a:p>
          <a:p>
            <a:r>
              <a:t>   sections have been removed from the learner notebooks.</a:t>
            </a:r>
          </a:p>
          <a:p>
            <a:r>
              <a:t>7. Run the supplied **Export the native Fabric Map layer** cell after completing</a:t>
            </a:r>
          </a:p>
          <a:p>
            <a:r>
              <a:t>   the TODOs. It writes `Files/gold/maps/stand_classification.geojson`.</a:t>
            </a:r>
          </a:p>
          <a:p>
            <a:r>
              <a:t>8. Confirm `readback: PASS` and that registered stands equal retained stands</a:t>
            </a:r>
          </a:p>
          <a:p>
            <a:r>
              <a:t>   plus stands without a result. Note the exported reporting period.</a:t>
            </a:r>
          </a:p>
          <a:p>
            <a:r>
              <a:t>9. Capture `10-lab-05.png`, including the Gold tables and export result.</a:t>
            </a:r>
          </a:p>
          <a:p/>
          <a:p>
            <a:r>
              <a:t>![Verify the four Gold tables and distinguish retained facts from the full register.](images/training/manual/23-lab05-gold.png)</a:t>
            </a:r>
          </a:p>
          <a:p/>
          <a:p>
            <a:r>
              <a:t>![Check the GeoJSON path, retained and missing counts, and PASS readback.](images/training/manual/24-geojson-export.png)</a:t>
            </a:r>
          </a:p>
          <a:p/>
          <a:p>
            <a:r>
              <a:t>The export includes every registered polygon for one period. The</a:t>
            </a:r>
          </a:p>
          <a:p>
            <a:r>
              <a:t>`no_classified_result` display category is different from the classifier's</a:t>
            </a:r>
          </a:p>
          <a:p>
            <a:r>
              <a:t>`unclassified` class; missing quality/change attributes stay null. A new export</a:t>
            </a:r>
          </a:p>
          <a:p>
            <a:r>
              <a:t>replaces the file snapshot, so refresh the Map after exporting again.</a:t>
            </a:r>
          </a:p>
          <a:p/>
          <a:p>
            <a:r>
              <a:t>For example, 119 retained stands out of 120 registered stands is **99.17% register</a:t>
            </a:r>
          </a:p>
          <a:p>
            <a:r>
              <a:t>coverage**, even when every retained fact is trusted. Report your own counts and</a:t>
            </a:r>
          </a:p>
          <a:p>
            <a:r>
              <a:t>period. A semantic model, Power BI report and schedule are not required.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images/training/manual/25-sql-endpoint-period.png</a:t>
            </a:r>
          </a:p>
          <a:p/>
          <a:p>
            <a:r>
              <a:t>## 6. Check The SQL Endpoint</a:t>
            </a:r>
          </a:p>
          <a:p/>
          <a:p>
            <a:r>
              <a:t>1. Open your lakehouse and switch to its **SQL analytics endpoint**.</a:t>
            </a:r>
          </a:p>
          <a:p>
            <a:r>
              <a:t>2. Refresh Explorer and confirm the four Gold tables appear under **dbo**.</a:t>
            </a:r>
          </a:p>
          <a:p>
            <a:r>
              <a:t>   New Delta tables can take time to synchronize; do not recreate them.</a:t>
            </a:r>
          </a:p>
          <a:p>
            <a:r>
              <a:t>3. Select **New SQL query** and run this read-only check.</a:t>
            </a:r>
          </a:p>
          <a:p/>
          <a:p>
            <a:r>
              <a:t>```sql</a:t>
            </a:r>
          </a:p>
          <a:p>
            <a:r>
              <a:t>WITH latest_period AS (</a:t>
            </a:r>
          </a:p>
          <a:p>
            <a:r>
              <a:t>    SELECT MAX(period_end) AS period_end FROM dbo.gold_stand_facts</a:t>
            </a:r>
          </a:p>
          <a:p>
            <a:r>
              <a:t>), retained AS (</a:t>
            </a:r>
          </a:p>
          <a:p>
            <a:r>
              <a:t>    SELECT facts.stand_id</a:t>
            </a:r>
          </a:p>
          <a:p>
            <a:r>
              <a:t>    FROM dbo.gold_stand_facts AS facts</a:t>
            </a:r>
          </a:p>
          <a:p>
            <a:r>
              <a:t>    CROSS JOIN latest_period</a:t>
            </a:r>
          </a:p>
          <a:p>
            <a:r>
              <a:t>    WHERE facts.period_end = latest_period.period_end</a:t>
            </a:r>
          </a:p>
          <a:p>
            <a:r>
              <a:t>)</a:t>
            </a:r>
          </a:p>
          <a:p>
            <a:r>
              <a:t>SELECT (SELECT period_end FROM latest_period) AS period_end,</a:t>
            </a:r>
          </a:p>
          <a:p>
            <a:r>
              <a:t>       COUNT(*) AS registered_stands,</a:t>
            </a:r>
          </a:p>
          <a:p>
            <a:r>
              <a:t>       COUNT(retained.stand_id) AS retained_stands,</a:t>
            </a:r>
          </a:p>
          <a:p>
            <a:r>
              <a:t>       COUNT(*) - COUNT(retained.stand_id) AS stands_without_result,</a:t>
            </a:r>
          </a:p>
          <a:p>
            <a:r>
              <a:t>       CAST(100.0 * COUNT(retained.stand_id) / NULLIF(COUNT(*), 0)</a:t>
            </a:r>
          </a:p>
          <a:p>
            <a:r>
              <a:t>            AS decimal(5, 2)) AS register_coverage_percent</a:t>
            </a:r>
          </a:p>
          <a:p>
            <a:r>
              <a:t>FROM dbo.gold_dim_stand AS stands</a:t>
            </a:r>
          </a:p>
          <a:p>
            <a:r>
              <a:t>LEFT JOIN retained ON stands.stand_id = retained.stand_id;</a:t>
            </a:r>
          </a:p>
          <a:p>
            <a:r>
              <a:t>```</a:t>
            </a:r>
          </a:p>
          <a:p/>
          <a:p>
            <a:r>
              <a:t>![Run the SQL coverage query and compare its period and counts with the GeoJSON readback.](images/training/manual/25-sql-endpoint-period.png)</a:t>
            </a:r>
          </a:p>
          <a:p/>
          <a:p>
            <a:r>
              <a:t>Checkpoint: these counts agree with the Lab 05 export. Save the SQL results</a:t>
            </a:r>
          </a:p>
          <a:p>
            <a:r>
              <a:t>for testing your agent. If they disagree, check lakehouse selection and period.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images/training/manual/26-map-create.png</a:t>
            </a:r>
          </a:p>
          <a:p/>
          <a:p>
            <a:r>
              <a:t>### Create And Connect</a:t>
            </a:r>
          </a:p>
          <a:p/>
          <a:p>
            <a:r>
              <a:t>1. Return to your learner folder and select **New item** &gt; **All items** &gt; **Map**.</a:t>
            </a:r>
          </a:p>
          <a:p>
            <a:r>
              <a:t>2. Enter `map_woodlands_demo`, confirm the workspace, and select **Create**.</a:t>
            </a:r>
          </a:p>
          <a:p>
            <a:r>
              <a:t>3. In Edit mode, open **Fabric items** &gt; **Add** &gt; **Lakehouse**.</a:t>
            </a:r>
          </a:p>
          <a:p>
            <a:r>
              <a:t>4. Select your `lh_woodlands_demo` from the same workspace, then **Add**.</a:t>
            </a:r>
          </a:p>
          <a:p>
            <a:r>
              <a:t>5. Expand **Files** &gt; **gold** &gt; **maps**, then select the **maps** folder to</a:t>
            </a:r>
          </a:p>
          <a:p>
            <a:r>
              <a:t>   open the file pane. Open the context menu for `stand_classification.geojson`</a:t>
            </a:r>
          </a:p>
          <a:p>
            <a:r>
              <a:t>   and select **Show on map**.</a:t>
            </a:r>
          </a:p>
          <a:p>
            <a:r>
              <a:t>6. In the data layer menu, select **Zoom to fit**.</a:t>
            </a:r>
          </a:p>
          <a:p/>
          <a:p>
            <a:r>
              <a:t>![Name and create the native Map in your learner folder.](images/training/manual/26-map-create.png)</a:t>
            </a:r>
          </a:p>
          <a:p/>
          <a:p>
            <a:r>
              <a:t>![Select the Lakehouse from fabric-training-manual and add it to the Map.](images/training/manual/27-map-lakehouse.png)</a:t>
            </a:r>
          </a:p>
          <a:p/>
          <a:p>
            <a:r>
              <a:t>![Select the maps folder and choose Show on map for the GeoJSON file.](images/training/manual/28-map-show-geojson.png)</a:t>
            </a:r>
          </a:p>
          <a:p/>
          <a:p>
            <a:r>
              <a:t>Checkpoint: stand polygons appear in central New Brunswick. Do not select a</a:t>
            </a:r>
          </a:p>
          <a:p>
            <a:r>
              <a:t>Delta table or the notebook's single-band analytical rasters for this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images/training/manual/27-map-lakehouse.png</a:t>
            </a:r>
          </a:p>
          <a:p/>
          <a:p>
            <a:r>
              <a:t>### Create And Connect</a:t>
            </a:r>
          </a:p>
          <a:p/>
          <a:p>
            <a:r>
              <a:t>1. Return to your learner folder and select **New item** &gt; **All items** &gt; **Map**.</a:t>
            </a:r>
          </a:p>
          <a:p>
            <a:r>
              <a:t>2. Enter `map_woodlands_demo`, confirm the workspace, and select **Create**.</a:t>
            </a:r>
          </a:p>
          <a:p>
            <a:r>
              <a:t>3. In Edit mode, open **Fabric items** &gt; **Add** &gt; **Lakehouse**.</a:t>
            </a:r>
          </a:p>
          <a:p>
            <a:r>
              <a:t>4. Select your `lh_woodlands_demo` from the same workspace, then **Add**.</a:t>
            </a:r>
          </a:p>
          <a:p>
            <a:r>
              <a:t>5. Expand **Files** &gt; **gold** &gt; **maps**, then select the **maps** folder to</a:t>
            </a:r>
          </a:p>
          <a:p>
            <a:r>
              <a:t>   open the file pane. Open the context menu for `stand_classification.geojson`</a:t>
            </a:r>
          </a:p>
          <a:p>
            <a:r>
              <a:t>   and select **Show on map**.</a:t>
            </a:r>
          </a:p>
          <a:p>
            <a:r>
              <a:t>6. In the data layer menu, select **Zoom to fit**.</a:t>
            </a:r>
          </a:p>
          <a:p/>
          <a:p>
            <a:r>
              <a:t>![Name and create the native Map in your learner folder.](images/training/manual/26-map-create.png)</a:t>
            </a:r>
          </a:p>
          <a:p/>
          <a:p>
            <a:r>
              <a:t>![Select the Lakehouse from fabric-training-manual and add it to the Map.](images/training/manual/27-map-lakehouse.png)</a:t>
            </a:r>
          </a:p>
          <a:p/>
          <a:p>
            <a:r>
              <a:t>![Select the maps folder and choose Show on map for the GeoJSON file.](images/training/manual/28-map-show-geojson.png)</a:t>
            </a:r>
          </a:p>
          <a:p/>
          <a:p>
            <a:r>
              <a:t>Checkpoint: stand polygons appear in central New Brunswick. Do not select a</a:t>
            </a:r>
          </a:p>
          <a:p>
            <a:r>
              <a:t>Delta table or the notebook's single-band analytical rasters for this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images/training/manual/28-map-show-geojson.png</a:t>
            </a:r>
          </a:p>
          <a:p/>
          <a:p>
            <a:r>
              <a:t>### Create And Connect</a:t>
            </a:r>
          </a:p>
          <a:p/>
          <a:p>
            <a:r>
              <a:t>1. Return to your learner folder and select **New item** &gt; **All items** &gt; **Map**.</a:t>
            </a:r>
          </a:p>
          <a:p>
            <a:r>
              <a:t>2. Enter `map_woodlands_demo`, confirm the workspace, and select **Create**.</a:t>
            </a:r>
          </a:p>
          <a:p>
            <a:r>
              <a:t>3. In Edit mode, open **Fabric items** &gt; **Add** &gt; **Lakehouse**.</a:t>
            </a:r>
          </a:p>
          <a:p>
            <a:r>
              <a:t>4. Select your `lh_woodlands_demo` from the same workspace, then **Add**.</a:t>
            </a:r>
          </a:p>
          <a:p>
            <a:r>
              <a:t>5. Expand **Files** &gt; **gold** &gt; **maps**, then select the **maps** folder to</a:t>
            </a:r>
          </a:p>
          <a:p>
            <a:r>
              <a:t>   open the file pane. Open the context menu for `stand_classification.geojson`</a:t>
            </a:r>
          </a:p>
          <a:p>
            <a:r>
              <a:t>   and select **Show on map**.</a:t>
            </a:r>
          </a:p>
          <a:p>
            <a:r>
              <a:t>6. In the data layer menu, select **Zoom to fit**.</a:t>
            </a:r>
          </a:p>
          <a:p/>
          <a:p>
            <a:r>
              <a:t>![Name and create the native Map in your learner folder.](images/training/manual/26-map-create.png)</a:t>
            </a:r>
          </a:p>
          <a:p/>
          <a:p>
            <a:r>
              <a:t>![Select the Lakehouse from fabric-training-manual and add it to the Map.](images/training/manual/27-map-lakehouse.png)</a:t>
            </a:r>
          </a:p>
          <a:p/>
          <a:p>
            <a:r>
              <a:t>![Select the maps folder and choose Show on map for the GeoJSON file.](images/training/manual/28-map-show-geojson.png)</a:t>
            </a:r>
          </a:p>
          <a:p/>
          <a:p>
            <a:r>
              <a:t>Checkpoint: stand polygons appear in central New Brunswick. Do not select a</a:t>
            </a:r>
          </a:p>
          <a:p>
            <a:r>
              <a:t>Delta table or the notebook's single-band analytical rasters for this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images/training/manual/29-map-category-style.png</a:t>
            </a:r>
          </a:p>
          <a:p/>
          <a:p>
            <a:r>
              <a:t>### Style And Inspect</a:t>
            </a:r>
          </a:p>
          <a:p/>
          <a:p>
            <a:r>
              <a:t>1. Select the polygon layer and open **Layer settings**.</a:t>
            </a:r>
          </a:p>
          <a:p>
            <a:r>
              <a:t>2. Turn on **Enable data-driven styling**.</a:t>
            </a:r>
          </a:p>
          <a:p>
            <a:r>
              <a:t>3. Set **Color by** to `map_class` and **Style by** to **Category**.</a:t>
            </a:r>
          </a:p>
          <a:p>
            <a:r>
              <a:t>4. Assign distinct colors to the categories present. Use the table below as a</a:t>
            </a:r>
          </a:p>
          <a:p>
            <a:r>
              <a:t>   reference; selecting Category does not automatically use `colour_hex`.</a:t>
            </a:r>
          </a:p>
          <a:p>
            <a:r>
              <a:t>5. Set **Fill opacity** to about 65% and keep **Enable extrusion** off.</a:t>
            </a:r>
          </a:p>
          <a:p/>
          <a:p>
            <a:r>
              <a:t>| Category              | Color     |</a:t>
            </a:r>
          </a:p>
          <a:p>
            <a:r>
              <a:t>|-----------------------|-----------|</a:t>
            </a:r>
          </a:p>
          <a:p>
            <a:r>
              <a:t>| `softwood`            | `#1B7F4B` |</a:t>
            </a:r>
          </a:p>
          <a:p>
            <a:r>
              <a:t>| `hardwood`            | `#C77A2B` |</a:t>
            </a:r>
          </a:p>
          <a:p>
            <a:r>
              <a:t>| `mixedwood`           | `#7A9E3F` |</a:t>
            </a:r>
          </a:p>
          <a:p>
            <a:r>
              <a:t>| `regenerating`        | `#9DD08A` |</a:t>
            </a:r>
          </a:p>
          <a:p>
            <a:r>
              <a:t>| `recently_harvested`  | `#B5651D` |</a:t>
            </a:r>
          </a:p>
          <a:p>
            <a:r>
              <a:t>| `non_forest`          | `#9AA5B1` |</a:t>
            </a:r>
          </a:p>
          <a:p>
            <a:r>
              <a:t>| `unclassified`        | `#D9DEE4` |</a:t>
            </a:r>
          </a:p>
          <a:p>
            <a:r>
              <a:t>| `no_classified_result` | `#61717D` |</a:t>
            </a:r>
          </a:p>
          <a:p/>
          <a:p>
            <a:r>
              <a:t>![Color by map_class, use gray for missing results, and keep extrusion off.](images/training/manual/29-map-category-style.png)</a:t>
            </a:r>
          </a:p>
          <a:p/>
          <a:p>
            <a:r>
              <a:t>Continue with inspection and saving:</a:t>
            </a:r>
          </a:p>
          <a:p/>
          <a:p>
            <a:r>
              <a:t>1. Under **Visibility** &gt; **Tooltips**, select `stand_id`, `licence_block`,</a:t>
            </a:r>
          </a:p>
          <a:p>
            <a:r>
              <a:t>   `period_end`, `map_class`, `area_ha`, `coverage_status`, `is_trusted`,</a:t>
            </a:r>
          </a:p>
          <a:p>
            <a:r>
              <a:t>   `valid_pixel_fraction`, `requires_review` and `stand_source`.</a:t>
            </a:r>
          </a:p>
          <a:p>
            <a:r>
              <a:t>2. Hover over a retained stand and a stand without a result. Inspect their</a:t>
            </a:r>
          </a:p>
          <a:p>
            <a:r>
              <a:t>   properties without interpreting null as zero. Collapse the data-layer legend</a:t>
            </a:r>
          </a:p>
          <a:p>
            <a:r>
              <a:t>   if it overlaps the tooltip.</a:t>
            </a:r>
          </a:p>
          <a:p>
            <a:r>
              <a:t>3. Open the layer's **More options** &gt; **Filter** &gt; **Add filter** &gt; **New filter**.</a:t>
            </a:r>
          </a:p>
          <a:p>
            <a:r>
              <a:t>   Set **Field name** to `coverage_status`, select **no_classified_result**, and</a:t>
            </a:r>
          </a:p>
          <a:p>
            <a:r>
              <a:t>   **Apply**. Inspect the missing-result stand, then **Remove filters** and close</a:t>
            </a:r>
          </a:p>
          <a:p>
            <a:r>
              <a:t>   the filter editor. Confirm all categories and polygons return.</a:t>
            </a:r>
          </a:p>
          <a:p>
            <a:r>
              <a:t>4. Hide and show the layer. Its polygons must disappear and return.</a:t>
            </a:r>
          </a:p>
          <a:p>
            <a:r>
              <a:t>5. Use **Zoom to fit**, then **Map settings** &gt; **Set initial view**. Check the</a:t>
            </a:r>
          </a:p>
          <a:p>
            <a:r>
              <a:t>   New Brunswick center and a zoom that includes all stands. Close Map settings.</a:t>
            </a:r>
          </a:p>
          <a:p>
            <a:r>
              <a:t>6. Select **Save** and wait for the successful-save notification. Return to</a:t>
            </a:r>
          </a:p>
          <a:p>
            <a:r>
              <a:t>   the workspace and reopen the Map. Confirm the</a:t>
            </a:r>
          </a:p>
          <a:p>
            <a:r>
              <a:t>   saved layer, colors and initial view are retained.</a:t>
            </a:r>
          </a:p>
          <a:p/>
          <a:p>
            <a:r>
              <a:t>![Inspect the actual stand date, quality fields and synthetic provenance in the Map tooltip.](images/training/manual/30-map-tooltip.png)</a:t>
            </a:r>
          </a:p>
          <a:p/>
          <a:p>
            <a:r>
              <a:t>![Filter coverage_status to inspect the single missing-result stand, then remove the filter.](images/training/manual/31-map-coverage-filter.png)</a:t>
            </a:r>
          </a:p>
          <a:p/>
          <a:p>
            <a:r>
              <a:t>![Set the initial Map view so reopening starts over the New Brunswick stands.](images/training/manual/32-map-initial-view.png)</a:t>
            </a:r>
          </a:p>
          <a:p/>
          <a:p>
            <a:r>
              <a:t>![Reopen the saved Map in Viewing mode and confirm the missing-result polygon is still visible.](images/training/manual/32-map-saved-reopened.png)</a:t>
            </a:r>
          </a:p>
          <a:p/>
          <a:p>
            <a:r>
              <a:t>Checkpoint: the saved Map has real polygons, meaningful tooltips and visible</a:t>
            </a:r>
          </a:p>
          <a:p>
            <a:r>
              <a:t>missing results where applicable. The legend lists categories present in this</a:t>
            </a:r>
          </a:p>
          <a:p>
            <a:r>
              <a:t>period, not necessarily all seven classes. A built-in satellite or road basemap</a:t>
            </a:r>
          </a:p>
          <a:p>
            <a:r>
              <a:t>is context, not the notebook's processed imagery.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images/training/manual/30-map-tooltip.png</a:t>
            </a:r>
          </a:p>
          <a:p/>
          <a:p>
            <a:r>
              <a:t>### Style And Inspect</a:t>
            </a:r>
          </a:p>
          <a:p/>
          <a:p>
            <a:r>
              <a:t>1. Select the polygon layer and open **Layer settings**.</a:t>
            </a:r>
          </a:p>
          <a:p>
            <a:r>
              <a:t>2. Turn on **Enable data-driven styling**.</a:t>
            </a:r>
          </a:p>
          <a:p>
            <a:r>
              <a:t>3. Set **Color by** to `map_class` and **Style by** to **Category**.</a:t>
            </a:r>
          </a:p>
          <a:p>
            <a:r>
              <a:t>4. Assign distinct colors to the categories present. Use the table below as a</a:t>
            </a:r>
          </a:p>
          <a:p>
            <a:r>
              <a:t>   reference; selecting Category does not automatically use `colour_hex`.</a:t>
            </a:r>
          </a:p>
          <a:p>
            <a:r>
              <a:t>5. Set **Fill opacity** to about 65% and keep **Enable extrusion** off.</a:t>
            </a:r>
          </a:p>
          <a:p/>
          <a:p>
            <a:r>
              <a:t>| Category              | Color     |</a:t>
            </a:r>
          </a:p>
          <a:p>
            <a:r>
              <a:t>|-----------------------|-----------|</a:t>
            </a:r>
          </a:p>
          <a:p>
            <a:r>
              <a:t>| `softwood`            | `#1B7F4B` |</a:t>
            </a:r>
          </a:p>
          <a:p>
            <a:r>
              <a:t>| `hardwood`            | `#C77A2B` |</a:t>
            </a:r>
          </a:p>
          <a:p>
            <a:r>
              <a:t>| `mixedwood`           | `#7A9E3F` |</a:t>
            </a:r>
          </a:p>
          <a:p>
            <a:r>
              <a:t>| `regenerating`        | `#9DD08A` |</a:t>
            </a:r>
          </a:p>
          <a:p>
            <a:r>
              <a:t>| `recently_harvested`  | `#B5651D` |</a:t>
            </a:r>
          </a:p>
          <a:p>
            <a:r>
              <a:t>| `non_forest`          | `#9AA5B1` |</a:t>
            </a:r>
          </a:p>
          <a:p>
            <a:r>
              <a:t>| `unclassified`        | `#D9DEE4` |</a:t>
            </a:r>
          </a:p>
          <a:p>
            <a:r>
              <a:t>| `no_classified_result` | `#61717D` |</a:t>
            </a:r>
          </a:p>
          <a:p/>
          <a:p>
            <a:r>
              <a:t>![Color by map_class, use gray for missing results, and keep extrusion off.](images/training/manual/29-map-category-style.png)</a:t>
            </a:r>
          </a:p>
          <a:p/>
          <a:p>
            <a:r>
              <a:t>Continue with inspection and saving:</a:t>
            </a:r>
          </a:p>
          <a:p/>
          <a:p>
            <a:r>
              <a:t>1. Under **Visibility** &gt; **Tooltips**, select `stand_id`, `licence_block`,</a:t>
            </a:r>
          </a:p>
          <a:p>
            <a:r>
              <a:t>   `period_end`, `map_class`, `area_ha`, `coverage_status`, `is_trusted`,</a:t>
            </a:r>
          </a:p>
          <a:p>
            <a:r>
              <a:t>   `valid_pixel_fraction`, `requires_review` and `stand_source`.</a:t>
            </a:r>
          </a:p>
          <a:p>
            <a:r>
              <a:t>2. Hover over a retained stand and a stand without a result. Inspect their</a:t>
            </a:r>
          </a:p>
          <a:p>
            <a:r>
              <a:t>   properties without interpreting null as zero. Collapse the data-layer legend</a:t>
            </a:r>
          </a:p>
          <a:p>
            <a:r>
              <a:t>   if it overlaps the tooltip.</a:t>
            </a:r>
          </a:p>
          <a:p>
            <a:r>
              <a:t>3. Open the layer's **More options** &gt; **Filter** &gt; **Add filter** &gt; **New filter**.</a:t>
            </a:r>
          </a:p>
          <a:p>
            <a:r>
              <a:t>   Set **Field name** to `coverage_status`, select **no_classified_result**, and</a:t>
            </a:r>
          </a:p>
          <a:p>
            <a:r>
              <a:t>   **Apply**. Inspect the missing-result stand, then **Remove filters** and close</a:t>
            </a:r>
          </a:p>
          <a:p>
            <a:r>
              <a:t>   the filter editor. Confirm all categories and polygons return.</a:t>
            </a:r>
          </a:p>
          <a:p>
            <a:r>
              <a:t>4. Hide and show the layer. Its polygons must disappear and return.</a:t>
            </a:r>
          </a:p>
          <a:p>
            <a:r>
              <a:t>5. Use **Zoom to fit**, then **Map settings** &gt; **Set initial view**. Check the</a:t>
            </a:r>
          </a:p>
          <a:p>
            <a:r>
              <a:t>   New Brunswick center and a zoom that includes all stands. Close Map settings.</a:t>
            </a:r>
          </a:p>
          <a:p>
            <a:r>
              <a:t>6. Select **Save** and wait for the successful-save notification. Return to</a:t>
            </a:r>
          </a:p>
          <a:p>
            <a:r>
              <a:t>   the workspace and reopen the Map. Confirm the</a:t>
            </a:r>
          </a:p>
          <a:p>
            <a:r>
              <a:t>   saved layer, colors and initial view are retained.</a:t>
            </a:r>
          </a:p>
          <a:p/>
          <a:p>
            <a:r>
              <a:t>![Inspect the actual stand date, quality fields and synthetic provenance in the Map tooltip.](images/training/manual/30-map-tooltip.png)</a:t>
            </a:r>
          </a:p>
          <a:p/>
          <a:p>
            <a:r>
              <a:t>![Filter coverage_status to inspect the single missing-result stand, then remove the filter.](images/training/manual/31-map-coverage-filter.png)</a:t>
            </a:r>
          </a:p>
          <a:p/>
          <a:p>
            <a:r>
              <a:t>![Set the initial Map view so reopening starts over the New Brunswick stands.](images/training/manual/32-map-initial-view.png)</a:t>
            </a:r>
          </a:p>
          <a:p/>
          <a:p>
            <a:r>
              <a:t>![Reopen the saved Map in Viewing mode and confirm the missing-result polygon is still visible.](images/training/manual/32-map-saved-reopened.png)</a:t>
            </a:r>
          </a:p>
          <a:p/>
          <a:p>
            <a:r>
              <a:t>Checkpoint: the saved Map has real polygons, meaningful tooltips and visible</a:t>
            </a:r>
          </a:p>
          <a:p>
            <a:r>
              <a:t>missing results where applicable. The legend lists categories present in this</a:t>
            </a:r>
          </a:p>
          <a:p>
            <a:r>
              <a:t>period, not necessarily all seven classes. A built-in satellite or road basemap</a:t>
            </a:r>
          </a:p>
          <a:p>
            <a:r>
              <a:t>is context, not the notebook's processed imagery.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images/training/manual/31-map-coverage-filter.png</a:t>
            </a:r>
          </a:p>
          <a:p/>
          <a:p>
            <a:r>
              <a:t>### Style And Inspect</a:t>
            </a:r>
          </a:p>
          <a:p/>
          <a:p>
            <a:r>
              <a:t>1. Select the polygon layer and open **Layer settings**.</a:t>
            </a:r>
          </a:p>
          <a:p>
            <a:r>
              <a:t>2. Turn on **Enable data-driven styling**.</a:t>
            </a:r>
          </a:p>
          <a:p>
            <a:r>
              <a:t>3. Set **Color by** to `map_class` and **Style by** to **Category**.</a:t>
            </a:r>
          </a:p>
          <a:p>
            <a:r>
              <a:t>4. Assign distinct colors to the categories present. Use the table below as a</a:t>
            </a:r>
          </a:p>
          <a:p>
            <a:r>
              <a:t>   reference; selecting Category does not automatically use `colour_hex`.</a:t>
            </a:r>
          </a:p>
          <a:p>
            <a:r>
              <a:t>5. Set **Fill opacity** to about 65% and keep **Enable extrusion** off.</a:t>
            </a:r>
          </a:p>
          <a:p/>
          <a:p>
            <a:r>
              <a:t>| Category              | Color     |</a:t>
            </a:r>
          </a:p>
          <a:p>
            <a:r>
              <a:t>|-----------------------|-----------|</a:t>
            </a:r>
          </a:p>
          <a:p>
            <a:r>
              <a:t>| `softwood`            | `#1B7F4B` |</a:t>
            </a:r>
          </a:p>
          <a:p>
            <a:r>
              <a:t>| `hardwood`            | `#C77A2B` |</a:t>
            </a:r>
          </a:p>
          <a:p>
            <a:r>
              <a:t>| `mixedwood`           | `#7A9E3F` |</a:t>
            </a:r>
          </a:p>
          <a:p>
            <a:r>
              <a:t>| `regenerating`        | `#9DD08A` |</a:t>
            </a:r>
          </a:p>
          <a:p>
            <a:r>
              <a:t>| `recently_harvested`  | `#B5651D` |</a:t>
            </a:r>
          </a:p>
          <a:p>
            <a:r>
              <a:t>| `non_forest`          | `#9AA5B1` |</a:t>
            </a:r>
          </a:p>
          <a:p>
            <a:r>
              <a:t>| `unclassified`        | `#D9DEE4` |</a:t>
            </a:r>
          </a:p>
          <a:p>
            <a:r>
              <a:t>| `no_classified_result` | `#61717D` |</a:t>
            </a:r>
          </a:p>
          <a:p/>
          <a:p>
            <a:r>
              <a:t>![Color by map_class, use gray for missing results, and keep extrusion off.](images/training/manual/29-map-category-style.png)</a:t>
            </a:r>
          </a:p>
          <a:p/>
          <a:p>
            <a:r>
              <a:t>Continue with inspection and saving:</a:t>
            </a:r>
          </a:p>
          <a:p/>
          <a:p>
            <a:r>
              <a:t>1. Under **Visibility** &gt; **Tooltips**, select `stand_id`, `licence_block`,</a:t>
            </a:r>
          </a:p>
          <a:p>
            <a:r>
              <a:t>   `period_end`, `map_class`, `area_ha`, `coverage_status`, `is_trusted`,</a:t>
            </a:r>
          </a:p>
          <a:p>
            <a:r>
              <a:t>   `valid_pixel_fraction`, `requires_review` and `stand_source`.</a:t>
            </a:r>
          </a:p>
          <a:p>
            <a:r>
              <a:t>2. Hover over a retained stand and a stand without a result. Inspect their</a:t>
            </a:r>
          </a:p>
          <a:p>
            <a:r>
              <a:t>   properties without interpreting null as zero. Collapse the data-layer legend</a:t>
            </a:r>
          </a:p>
          <a:p>
            <a:r>
              <a:t>   if it overlaps the tooltip.</a:t>
            </a:r>
          </a:p>
          <a:p>
            <a:r>
              <a:t>3. Open the layer's **More options** &gt; **Filter** &gt; **Add filter** &gt; **New filter**.</a:t>
            </a:r>
          </a:p>
          <a:p>
            <a:r>
              <a:t>   Set **Field name** to `coverage_status`, select **no_classified_result**, and</a:t>
            </a:r>
          </a:p>
          <a:p>
            <a:r>
              <a:t>   **Apply**. Inspect the missing-result stand, then **Remove filters** and close</a:t>
            </a:r>
          </a:p>
          <a:p>
            <a:r>
              <a:t>   the filter editor. Confirm all categories and polygons return.</a:t>
            </a:r>
          </a:p>
          <a:p>
            <a:r>
              <a:t>4. Hide and show the layer. Its polygons must disappear and return.</a:t>
            </a:r>
          </a:p>
          <a:p>
            <a:r>
              <a:t>5. Use **Zoom to fit**, then **Map settings** &gt; **Set initial view**. Check the</a:t>
            </a:r>
          </a:p>
          <a:p>
            <a:r>
              <a:t>   New Brunswick center and a zoom that includes all stands. Close Map settings.</a:t>
            </a:r>
          </a:p>
          <a:p>
            <a:r>
              <a:t>6. Select **Save** and wait for the successful-save notification. Return to</a:t>
            </a:r>
          </a:p>
          <a:p>
            <a:r>
              <a:t>   the workspace and reopen the Map. Confirm the</a:t>
            </a:r>
          </a:p>
          <a:p>
            <a:r>
              <a:t>   saved layer, colors and initial view are retained.</a:t>
            </a:r>
          </a:p>
          <a:p/>
          <a:p>
            <a:r>
              <a:t>![Inspect the actual stand date, quality fields and synthetic provenance in the Map tooltip.](images/training/manual/30-map-tooltip.png)</a:t>
            </a:r>
          </a:p>
          <a:p/>
          <a:p>
            <a:r>
              <a:t>![Filter coverage_status to inspect the single missing-result stand, then remove the filter.](images/training/manual/31-map-coverage-filter.png)</a:t>
            </a:r>
          </a:p>
          <a:p/>
          <a:p>
            <a:r>
              <a:t>![Set the initial Map view so reopening starts over the New Brunswick stands.](images/training/manual/32-map-initial-view.png)</a:t>
            </a:r>
          </a:p>
          <a:p/>
          <a:p>
            <a:r>
              <a:t>![Reopen the saved Map in Viewing mode and confirm the missing-result polygon is still visible.](images/training/manual/32-map-saved-reopened.png)</a:t>
            </a:r>
          </a:p>
          <a:p/>
          <a:p>
            <a:r>
              <a:t>Checkpoint: the saved Map has real polygons, meaningful tooltips and visible</a:t>
            </a:r>
          </a:p>
          <a:p>
            <a:r>
              <a:t>missing results where applicable. The legend lists categories present in this</a:t>
            </a:r>
          </a:p>
          <a:p>
            <a:r>
              <a:t>period, not necessarily all seven classes. A built-in satellite or road basemap</a:t>
            </a:r>
          </a:p>
          <a:p>
            <a:r>
              <a:t>is context, not the notebook's processed imagery.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images/training/manual/32-map-initial-view.png</a:t>
            </a:r>
          </a:p>
          <a:p/>
          <a:p>
            <a:r>
              <a:t>### Style And Inspect</a:t>
            </a:r>
          </a:p>
          <a:p/>
          <a:p>
            <a:r>
              <a:t>1. Select the polygon layer and open **Layer settings**.</a:t>
            </a:r>
          </a:p>
          <a:p>
            <a:r>
              <a:t>2. Turn on **Enable data-driven styling**.</a:t>
            </a:r>
          </a:p>
          <a:p>
            <a:r>
              <a:t>3. Set **Color by** to `map_class` and **Style by** to **Category**.</a:t>
            </a:r>
          </a:p>
          <a:p>
            <a:r>
              <a:t>4. Assign distinct colors to the categories present. Use the table below as a</a:t>
            </a:r>
          </a:p>
          <a:p>
            <a:r>
              <a:t>   reference; selecting Category does not automatically use `colour_hex`.</a:t>
            </a:r>
          </a:p>
          <a:p>
            <a:r>
              <a:t>5. Set **Fill opacity** to about 65% and keep **Enable extrusion** off.</a:t>
            </a:r>
          </a:p>
          <a:p/>
          <a:p>
            <a:r>
              <a:t>| Category              | Color     |</a:t>
            </a:r>
          </a:p>
          <a:p>
            <a:r>
              <a:t>|-----------------------|-----------|</a:t>
            </a:r>
          </a:p>
          <a:p>
            <a:r>
              <a:t>| `softwood`            | `#1B7F4B` |</a:t>
            </a:r>
          </a:p>
          <a:p>
            <a:r>
              <a:t>| `hardwood`            | `#C77A2B` |</a:t>
            </a:r>
          </a:p>
          <a:p>
            <a:r>
              <a:t>| `mixedwood`           | `#7A9E3F` |</a:t>
            </a:r>
          </a:p>
          <a:p>
            <a:r>
              <a:t>| `regenerating`        | `#9DD08A` |</a:t>
            </a:r>
          </a:p>
          <a:p>
            <a:r>
              <a:t>| `recently_harvested`  | `#B5651D` |</a:t>
            </a:r>
          </a:p>
          <a:p>
            <a:r>
              <a:t>| `non_forest`          | `#9AA5B1` |</a:t>
            </a:r>
          </a:p>
          <a:p>
            <a:r>
              <a:t>| `unclassified`        | `#D9DEE4` |</a:t>
            </a:r>
          </a:p>
          <a:p>
            <a:r>
              <a:t>| `no_classified_result` | `#61717D` |</a:t>
            </a:r>
          </a:p>
          <a:p/>
          <a:p>
            <a:r>
              <a:t>![Color by map_class, use gray for missing results, and keep extrusion off.](images/training/manual/29-map-category-style.png)</a:t>
            </a:r>
          </a:p>
          <a:p/>
          <a:p>
            <a:r>
              <a:t>Continue with inspection and saving:</a:t>
            </a:r>
          </a:p>
          <a:p/>
          <a:p>
            <a:r>
              <a:t>1. Under **Visibility** &gt; **Tooltips**, select `stand_id`, `licence_block`,</a:t>
            </a:r>
          </a:p>
          <a:p>
            <a:r>
              <a:t>   `period_end`, `map_class`, `area_ha`, `coverage_status`, `is_trusted`,</a:t>
            </a:r>
          </a:p>
          <a:p>
            <a:r>
              <a:t>   `valid_pixel_fraction`, `requires_review` and `stand_source`.</a:t>
            </a:r>
          </a:p>
          <a:p>
            <a:r>
              <a:t>2. Hover over a retained stand and a stand without a result. Inspect their</a:t>
            </a:r>
          </a:p>
          <a:p>
            <a:r>
              <a:t>   properties without interpreting null as zero. Collapse the data-layer legend</a:t>
            </a:r>
          </a:p>
          <a:p>
            <a:r>
              <a:t>   if it overlaps the tooltip.</a:t>
            </a:r>
          </a:p>
          <a:p>
            <a:r>
              <a:t>3. Open the layer's **More options** &gt; **Filter** &gt; **Add filter** &gt; **New filter**.</a:t>
            </a:r>
          </a:p>
          <a:p>
            <a:r>
              <a:t>   Set **Field name** to `coverage_status`, select **no_classified_result**, and</a:t>
            </a:r>
          </a:p>
          <a:p>
            <a:r>
              <a:t>   **Apply**. Inspect the missing-result stand, then **Remove filters** and close</a:t>
            </a:r>
          </a:p>
          <a:p>
            <a:r>
              <a:t>   the filter editor. Confirm all categories and polygons return.</a:t>
            </a:r>
          </a:p>
          <a:p>
            <a:r>
              <a:t>4. Hide and show the layer. Its polygons must disappear and return.</a:t>
            </a:r>
          </a:p>
          <a:p>
            <a:r>
              <a:t>5. Use **Zoom to fit**, then **Map settings** &gt; **Set initial view**. Check the</a:t>
            </a:r>
          </a:p>
          <a:p>
            <a:r>
              <a:t>   New Brunswick center and a zoom that includes all stands. Close Map settings.</a:t>
            </a:r>
          </a:p>
          <a:p>
            <a:r>
              <a:t>6. Select **Save** and wait for the successful-save notification. Return to</a:t>
            </a:r>
          </a:p>
          <a:p>
            <a:r>
              <a:t>   the workspace and reopen the Map. Confirm the</a:t>
            </a:r>
          </a:p>
          <a:p>
            <a:r>
              <a:t>   saved layer, colors and initial view are retained.</a:t>
            </a:r>
          </a:p>
          <a:p/>
          <a:p>
            <a:r>
              <a:t>![Inspect the actual stand date, quality fields and synthetic provenance in the Map tooltip.](images/training/manual/30-map-tooltip.png)</a:t>
            </a:r>
          </a:p>
          <a:p/>
          <a:p>
            <a:r>
              <a:t>![Filter coverage_status to inspect the single missing-result stand, then remove the filter.](images/training/manual/31-map-coverage-filter.png)</a:t>
            </a:r>
          </a:p>
          <a:p/>
          <a:p>
            <a:r>
              <a:t>![Set the initial Map view so reopening starts over the New Brunswick stands.](images/training/manual/32-map-initial-view.png)</a:t>
            </a:r>
          </a:p>
          <a:p/>
          <a:p>
            <a:r>
              <a:t>![Reopen the saved Map in Viewing mode and confirm the missing-result polygon is still visible.](images/training/manual/32-map-saved-reopened.png)</a:t>
            </a:r>
          </a:p>
          <a:p/>
          <a:p>
            <a:r>
              <a:t>Checkpoint: the saved Map has real polygons, meaningful tooltips and visible</a:t>
            </a:r>
          </a:p>
          <a:p>
            <a:r>
              <a:t>missing results where applicable. The legend lists categories present in this</a:t>
            </a:r>
          </a:p>
          <a:p>
            <a:r>
              <a:t>period, not necessarily all seven classes. A built-in satellite or road basemap</a:t>
            </a:r>
          </a:p>
          <a:p>
            <a:r>
              <a:t>is context, not the notebook's processed imagery.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images/training/manual/32-map-saved-reopened.png</a:t>
            </a:r>
          </a:p>
          <a:p/>
          <a:p>
            <a:r>
              <a:t>### Style And Inspect</a:t>
            </a:r>
          </a:p>
          <a:p/>
          <a:p>
            <a:r>
              <a:t>1. Select the polygon layer and open **Layer settings**.</a:t>
            </a:r>
          </a:p>
          <a:p>
            <a:r>
              <a:t>2. Turn on **Enable data-driven styling**.</a:t>
            </a:r>
          </a:p>
          <a:p>
            <a:r>
              <a:t>3. Set **Color by** to `map_class` and **Style by** to **Category**.</a:t>
            </a:r>
          </a:p>
          <a:p>
            <a:r>
              <a:t>4. Assign distinct colors to the categories present. Use the table below as a</a:t>
            </a:r>
          </a:p>
          <a:p>
            <a:r>
              <a:t>   reference; selecting Category does not automatically use `colour_hex`.</a:t>
            </a:r>
          </a:p>
          <a:p>
            <a:r>
              <a:t>5. Set **Fill opacity** to about 65% and keep **Enable extrusion** off.</a:t>
            </a:r>
          </a:p>
          <a:p/>
          <a:p>
            <a:r>
              <a:t>| Category              | Color     |</a:t>
            </a:r>
          </a:p>
          <a:p>
            <a:r>
              <a:t>|-----------------------|-----------|</a:t>
            </a:r>
          </a:p>
          <a:p>
            <a:r>
              <a:t>| `softwood`            | `#1B7F4B` |</a:t>
            </a:r>
          </a:p>
          <a:p>
            <a:r>
              <a:t>| `hardwood`            | `#C77A2B` |</a:t>
            </a:r>
          </a:p>
          <a:p>
            <a:r>
              <a:t>| `mixedwood`           | `#7A9E3F` |</a:t>
            </a:r>
          </a:p>
          <a:p>
            <a:r>
              <a:t>| `regenerating`        | `#9DD08A` |</a:t>
            </a:r>
          </a:p>
          <a:p>
            <a:r>
              <a:t>| `recently_harvested`  | `#B5651D` |</a:t>
            </a:r>
          </a:p>
          <a:p>
            <a:r>
              <a:t>| `non_forest`          | `#9AA5B1` |</a:t>
            </a:r>
          </a:p>
          <a:p>
            <a:r>
              <a:t>| `unclassified`        | `#D9DEE4` |</a:t>
            </a:r>
          </a:p>
          <a:p>
            <a:r>
              <a:t>| `no_classified_result` | `#61717D` |</a:t>
            </a:r>
          </a:p>
          <a:p/>
          <a:p>
            <a:r>
              <a:t>![Color by map_class, use gray for missing results, and keep extrusion off.](images/training/manual/29-map-category-style.png)</a:t>
            </a:r>
          </a:p>
          <a:p/>
          <a:p>
            <a:r>
              <a:t>Continue with inspection and saving:</a:t>
            </a:r>
          </a:p>
          <a:p/>
          <a:p>
            <a:r>
              <a:t>1. Under **Visibility** &gt; **Tooltips**, select `stand_id`, `licence_block`,</a:t>
            </a:r>
          </a:p>
          <a:p>
            <a:r>
              <a:t>   `period_end`, `map_class`, `area_ha`, `coverage_status`, `is_trusted`,</a:t>
            </a:r>
          </a:p>
          <a:p>
            <a:r>
              <a:t>   `valid_pixel_fraction`, `requires_review` and `stand_source`.</a:t>
            </a:r>
          </a:p>
          <a:p>
            <a:r>
              <a:t>2. Hover over a retained stand and a stand without a result. Inspect their</a:t>
            </a:r>
          </a:p>
          <a:p>
            <a:r>
              <a:t>   properties without interpreting null as zero. Collapse the data-layer legend</a:t>
            </a:r>
          </a:p>
          <a:p>
            <a:r>
              <a:t>   if it overlaps the tooltip.</a:t>
            </a:r>
          </a:p>
          <a:p>
            <a:r>
              <a:t>3. Open the layer's **More options** &gt; **Filter** &gt; **Add filter** &gt; **New filter**.</a:t>
            </a:r>
          </a:p>
          <a:p>
            <a:r>
              <a:t>   Set **Field name** to `coverage_status`, select **no_classified_result**, and</a:t>
            </a:r>
          </a:p>
          <a:p>
            <a:r>
              <a:t>   **Apply**. Inspect the missing-result stand, then **Remove filters** and close</a:t>
            </a:r>
          </a:p>
          <a:p>
            <a:r>
              <a:t>   the filter editor. Confirm all categories and polygons return.</a:t>
            </a:r>
          </a:p>
          <a:p>
            <a:r>
              <a:t>4. Hide and show the layer. Its polygons must disappear and return.</a:t>
            </a:r>
          </a:p>
          <a:p>
            <a:r>
              <a:t>5. Use **Zoom to fit**, then **Map settings** &gt; **Set initial view**. Check the</a:t>
            </a:r>
          </a:p>
          <a:p>
            <a:r>
              <a:t>   New Brunswick center and a zoom that includes all stands. Close Map settings.</a:t>
            </a:r>
          </a:p>
          <a:p>
            <a:r>
              <a:t>6. Select **Save** and wait for the successful-save notification. Return to</a:t>
            </a:r>
          </a:p>
          <a:p>
            <a:r>
              <a:t>   the workspace and reopen the Map. Confirm the</a:t>
            </a:r>
          </a:p>
          <a:p>
            <a:r>
              <a:t>   saved layer, colors and initial view are retained.</a:t>
            </a:r>
          </a:p>
          <a:p/>
          <a:p>
            <a:r>
              <a:t>![Inspect the actual stand date, quality fields and synthetic provenance in the Map tooltip.](images/training/manual/30-map-tooltip.png)</a:t>
            </a:r>
          </a:p>
          <a:p/>
          <a:p>
            <a:r>
              <a:t>![Filter coverage_status to inspect the single missing-result stand, then remove the filter.](images/training/manual/31-map-coverage-filter.png)</a:t>
            </a:r>
          </a:p>
          <a:p/>
          <a:p>
            <a:r>
              <a:t>![Set the initial Map view so reopening starts over the New Brunswick stands.](images/training/manual/32-map-initial-view.png)</a:t>
            </a:r>
          </a:p>
          <a:p/>
          <a:p>
            <a:r>
              <a:t>![Reopen the saved Map in Viewing mode and confirm the missing-result polygon is still visible.](images/training/manual/32-map-saved-reopened.png)</a:t>
            </a:r>
          </a:p>
          <a:p/>
          <a:p>
            <a:r>
              <a:t>Checkpoint: the saved Map has real polygons, meaningful tooltips and visible</a:t>
            </a:r>
          </a:p>
          <a:p>
            <a:r>
              <a:t>missing results where applicable. The legend lists categories present in this</a:t>
            </a:r>
          </a:p>
          <a:p>
            <a:r>
              <a:t>period, not necessarily all seven classes. A built-in satellite or road basemap</a:t>
            </a:r>
          </a:p>
          <a:p>
            <a:r>
              <a:t>is context, not the notebook's processed imagery.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images/training/manual/33-agent-create.png</a:t>
            </a:r>
          </a:p>
          <a:p/>
          <a:p>
            <a:r>
              <a:t>### Select The Gold Tables</a:t>
            </a:r>
          </a:p>
          <a:p/>
          <a:p>
            <a:r>
              <a:t>1. Return to the workspace and select **New item**.</a:t>
            </a:r>
          </a:p>
          <a:p>
            <a:r>
              <a:t>2. Open **All items**, select **Data agent**, and name it `agent_woodlands_demo`.</a:t>
            </a:r>
          </a:p>
          <a:p>
            <a:r>
              <a:t>3. Skip the optional tour, then select **Add data** &gt; **Data source**. In the</a:t>
            </a:r>
          </a:p>
          <a:p>
            <a:r>
              <a:t>   OneLake catalog, select your `lh_woodlands_demo`, then **Add**.</a:t>
            </a:r>
          </a:p>
          <a:p>
            <a:r>
              <a:t>4. In Explorer, select only `gold_stand_facts`, `gold_dim_stand`,</a:t>
            </a:r>
          </a:p>
          <a:p>
            <a:r>
              <a:t>   `gold_dim_date` and `gold_dim_forest_class` under `dbo`.</a:t>
            </a:r>
          </a:p>
          <a:p>
            <a:r>
              <a:t>5. Leave Bronze/Silver tables and run summaries unselected. If Gold tables</a:t>
            </a:r>
          </a:p>
          <a:p>
            <a:r>
              <a:t>   are missing, check the SQL endpoint, then use the source's **Refresh** action.</a:t>
            </a:r>
          </a:p>
          <a:p>
            <a:r>
              <a:t>   Do not choose a similarly named lakehouse from another workspace.</a:t>
            </a:r>
          </a:p>
          <a:p/>
          <a:p>
            <a:r>
              <a:t>![Create a Data Agent using your learner suffix.](images/training/manual/33-agent-create.png)</a:t>
            </a:r>
          </a:p>
          <a:p/>
          <a:p>
            <a:r>
              <a:t>![Add your Lakehouse from the OneLake catalog.](images/training/manual/34-agent-lakehouse.png)</a:t>
            </a:r>
          </a:p>
          <a:p/>
          <a:p>
            <a:r>
              <a:t>![Select only gold_dim_date, gold_dim_forest_class, gold_dim_stand and gold_stand_facts.](images/training/manual/35-agent-four-tables.png)</a:t>
            </a:r>
          </a:p>
          <a:p/>
          <a:p>
            <a:r>
              <a:t>Drag the Explorer divider to the right if table names are truncated. Scroll</a:t>
            </a:r>
          </a:p>
          <a:p>
            <a:r>
              <a:t>the table list to check all four selections before continuing.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images/training/manual/34-agent-lakehouse.png</a:t>
            </a:r>
          </a:p>
          <a:p/>
          <a:p>
            <a:r>
              <a:t>### Select The Gold Tables</a:t>
            </a:r>
          </a:p>
          <a:p/>
          <a:p>
            <a:r>
              <a:t>1. Return to the workspace and select **New item**.</a:t>
            </a:r>
          </a:p>
          <a:p>
            <a:r>
              <a:t>2. Open **All items**, select **Data agent**, and name it `agent_woodlands_demo`.</a:t>
            </a:r>
          </a:p>
          <a:p>
            <a:r>
              <a:t>3. Skip the optional tour, then select **Add data** &gt; **Data source**. In the</a:t>
            </a:r>
          </a:p>
          <a:p>
            <a:r>
              <a:t>   OneLake catalog, select your `lh_woodlands_demo`, then **Add**.</a:t>
            </a:r>
          </a:p>
          <a:p>
            <a:r>
              <a:t>4. In Explorer, select only `gold_stand_facts`, `gold_dim_stand`,</a:t>
            </a:r>
          </a:p>
          <a:p>
            <a:r>
              <a:t>   `gold_dim_date` and `gold_dim_forest_class` under `dbo`.</a:t>
            </a:r>
          </a:p>
          <a:p>
            <a:r>
              <a:t>5. Leave Bronze/Silver tables and run summaries unselected. If Gold tables</a:t>
            </a:r>
          </a:p>
          <a:p>
            <a:r>
              <a:t>   are missing, check the SQL endpoint, then use the source's **Refresh** action.</a:t>
            </a:r>
          </a:p>
          <a:p>
            <a:r>
              <a:t>   Do not choose a similarly named lakehouse from another workspace.</a:t>
            </a:r>
          </a:p>
          <a:p/>
          <a:p>
            <a:r>
              <a:t>![Create a Data Agent using your learner suffix.](images/training/manual/33-agent-create.png)</a:t>
            </a:r>
          </a:p>
          <a:p/>
          <a:p>
            <a:r>
              <a:t>![Add your Lakehouse from the OneLake catalog.](images/training/manual/34-agent-lakehouse.png)</a:t>
            </a:r>
          </a:p>
          <a:p/>
          <a:p>
            <a:r>
              <a:t>![Select only gold_dim_date, gold_dim_forest_class, gold_dim_stand and gold_stand_facts.](images/training/manual/35-agent-four-tables.png)</a:t>
            </a:r>
          </a:p>
          <a:p/>
          <a:p>
            <a:r>
              <a:t>Drag the Explorer divider to the right if table names are truncated. Scroll</a:t>
            </a:r>
          </a:p>
          <a:p>
            <a:r>
              <a:t>the table list to check all four selections before continuing.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images/training/manual/35-agent-four-tables.png</a:t>
            </a:r>
          </a:p>
          <a:p/>
          <a:p>
            <a:r>
              <a:t>### Select The Gold Tables</a:t>
            </a:r>
          </a:p>
          <a:p/>
          <a:p>
            <a:r>
              <a:t>1. Return to the workspace and select **New item**.</a:t>
            </a:r>
          </a:p>
          <a:p>
            <a:r>
              <a:t>2. Open **All items**, select **Data agent**, and name it `agent_woodlands_demo`.</a:t>
            </a:r>
          </a:p>
          <a:p>
            <a:r>
              <a:t>3. Skip the optional tour, then select **Add data** &gt; **Data source**. In the</a:t>
            </a:r>
          </a:p>
          <a:p>
            <a:r>
              <a:t>   OneLake catalog, select your `lh_woodlands_demo`, then **Add**.</a:t>
            </a:r>
          </a:p>
          <a:p>
            <a:r>
              <a:t>4. In Explorer, select only `gold_stand_facts`, `gold_dim_stand`,</a:t>
            </a:r>
          </a:p>
          <a:p>
            <a:r>
              <a:t>   `gold_dim_date` and `gold_dim_forest_class` under `dbo`.</a:t>
            </a:r>
          </a:p>
          <a:p>
            <a:r>
              <a:t>5. Leave Bronze/Silver tables and run summaries unselected. If Gold tables</a:t>
            </a:r>
          </a:p>
          <a:p>
            <a:r>
              <a:t>   are missing, check the SQL endpoint, then use the source's **Refresh** action.</a:t>
            </a:r>
          </a:p>
          <a:p>
            <a:r>
              <a:t>   Do not choose a similarly named lakehouse from another workspace.</a:t>
            </a:r>
          </a:p>
          <a:p/>
          <a:p>
            <a:r>
              <a:t>![Create a Data Agent using your learner suffix.](images/training/manual/33-agent-create.png)</a:t>
            </a:r>
          </a:p>
          <a:p/>
          <a:p>
            <a:r>
              <a:t>![Add your Lakehouse from the OneLake catalog.](images/training/manual/34-agent-lakehouse.png)</a:t>
            </a:r>
          </a:p>
          <a:p/>
          <a:p>
            <a:r>
              <a:t>![Select only gold_dim_date, gold_dim_forest_class, gold_dim_stand and gold_stand_facts.](images/training/manual/35-agent-four-tables.png)</a:t>
            </a:r>
          </a:p>
          <a:p/>
          <a:p>
            <a:r>
              <a:t>Drag the Explorer divider to the right if table names are truncated. Scroll</a:t>
            </a:r>
          </a:p>
          <a:p>
            <a:r>
              <a:t>the table list to check all four selections before continuing.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images/training/manual/36-agent-instructions.png</a:t>
            </a:r>
          </a:p>
          <a:p/>
          <a:p>
            <a:r>
              <a:t>### Add Instructions</a:t>
            </a:r>
          </a:p>
          <a:p/>
          <a:p>
            <a:r>
              <a:t>Select **Setup** &gt; **Agent instructions**, click the text to edit it, then</a:t>
            </a:r>
          </a:p>
          <a:p>
            <a:r>
              <a:t>replace all starter text with the following:</a:t>
            </a:r>
          </a:p>
          <a:p/>
          <a:p>
            <a:r>
              <a:t>```text</a:t>
            </a:r>
          </a:p>
          <a:p>
            <a:r>
              <a:t>Answer only from the selected Woodlands training lakehouse tables.</a:t>
            </a:r>
          </a:p>
          <a:p>
            <a:r>
              <a:t>These are synthetic boundaries and instructional spectral results,</a:t>
            </a:r>
          </a:p>
          <a:p>
            <a:r>
              <a:t>not field-verified inventory or operational recommendations.</a:t>
            </a:r>
          </a:p>
          <a:p/>
          <a:p>
            <a:r>
              <a:t>gold_dim_stand contains the full register. gold_stand_facts contains retained</a:t>
            </a:r>
          </a:p>
          <a:p>
            <a:r>
              <a:t>stand-period results; its key is stand_id plus period_end. Unless a period</a:t>
            </a:r>
          </a:p>
          <a:p>
            <a:r>
              <a:t>is supplied, use the maximum period_end in gold_stand_facts and state it.</a:t>
            </a:r>
          </a:p>
          <a:p>
            <a:r>
              <a:t>Do not sum stand areas across multiple periods without an explicit request.</a:t>
            </a:r>
          </a:p>
          <a:p/>
          <a:p>
            <a:r>
              <a:t>Join facts to gold_dim_stand on stand_id, gold_dim_date on date_key, and</a:t>
            </a:r>
          </a:p>
          <a:p>
            <a:r>
              <a:t>gold_dim_forest_class on forest_class. Area is in hectares. Lat/lon are</a:t>
            </a:r>
          </a:p>
          <a:p>
            <a:r>
              <a:t>WGS84 centroids. Never guess columns or calculate area from degrees.</a:t>
            </a:r>
          </a:p>
          <a:p/>
          <a:p>
            <a:r>
              <a:t>Report registered, retained and missing-result stand counts separately.</a:t>
            </a:r>
          </a:p>
          <a:p>
            <a:r>
              <a:t>Register coverage is retained distinct stand IDs for the selected period</a:t>
            </a:r>
          </a:p>
          <a:p>
            <a:r>
              <a:t>divided by all stand IDs in gold_dim_stand. is_trusted describes a retained</a:t>
            </a:r>
          </a:p>
          <a:p>
            <a:r>
              <a:t>fact, not whole-register coverage. A stand without a fact is not healthy,</a:t>
            </a:r>
          </a:p>
          <a:p>
            <a:r>
              <a:t>zero-area, or the same as the forest_class value unclassified.</a:t>
            </a:r>
          </a:p>
          <a:p/>
          <a:p>
            <a:r>
              <a:t>Use requires_review for the review queue. Zero rows is a valid result.</a:t>
            </a:r>
          </a:p>
          <a:p>
            <a:r>
              <a:t>Lab 03 may use a simulated historical baseline: change flags are teaching</a:t>
            </a:r>
          </a:p>
          <a:p>
            <a:r>
              <a:t>outputs, not proof of observed harvest or the cause of moisture stress.</a:t>
            </a:r>
          </a:p>
          <a:p>
            <a:r>
              <a:t>Narratives with validation_status stubbed are offline examples, not live</a:t>
            </a:r>
          </a:p>
          <a:p>
            <a:r>
              <a:t>model responses. A missing narrative does not mean missing stand data.</a:t>
            </a:r>
          </a:p>
          <a:p/>
          <a:p>
            <a:r>
              <a:t>Use read-only queries. State period, units and relevant quality limitations.</a:t>
            </a:r>
          </a:p>
          <a:p>
            <a:r>
              <a:t>Do not invent causes, missing results, external facts or forestry decisions.</a:t>
            </a:r>
          </a:p>
          <a:p>
            <a:r>
              <a:t>```</a:t>
            </a:r>
          </a:p>
          <a:p/>
          <a:p>
            <a:r>
              <a:t>Click the Markdown preview to save. Reopen the instructions and confirm that</a:t>
            </a:r>
          </a:p>
          <a:p>
            <a:r>
              <a:t>the complete text is present once, without the original starter instructions.</a:t>
            </a:r>
          </a:p>
          <a:p/>
          <a:p>
            <a:r>
              <a:t>![Save the complete agent instructions, including grain, coverage and demonstration limitations.](images/training/manual/36-agent-instructions.png)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images/training/manual/37-agent-example-validation.png</a:t>
            </a:r>
          </a:p>
          <a:p/>
          <a:p>
            <a:r>
              <a:t>### Add Validated Examples</a:t>
            </a:r>
          </a:p>
          <a:p/>
          <a:p>
            <a:r>
              <a:t>1. Under **Setup** &gt; **lh_woodlands_demo**, select **Example queries** &gt; **Add**.</a:t>
            </a:r>
          </a:p>
          <a:p>
            <a:r>
              <a:t>2. Add **How many registered stands have a result in the latest period, and</a:t>
            </a:r>
          </a:p>
          <a:p>
            <a:r>
              <a:t>   what is register coverage?** with the SQL from Step 6.</a:t>
            </a:r>
          </a:p>
          <a:p>
            <a:r>
              <a:t>3. Add **Show retained stands and hectares by class for the latest period** with:</a:t>
            </a:r>
          </a:p>
          <a:p/>
          <a:p>
            <a:r>
              <a:t>```sql</a:t>
            </a:r>
          </a:p>
          <a:p>
            <a:r>
              <a:t>SELECT facts.period_end, facts.forest_class,</a:t>
            </a:r>
          </a:p>
          <a:p>
            <a:r>
              <a:t>       COUNT(DISTINCT facts.stand_id) AS retained_stands,</a:t>
            </a:r>
          </a:p>
          <a:p>
            <a:r>
              <a:t>       ROUND(SUM(facts.area_ha), 1) AS total_ha</a:t>
            </a:r>
          </a:p>
          <a:p>
            <a:r>
              <a:t>FROM dbo.gold_stand_facts AS facts</a:t>
            </a:r>
          </a:p>
          <a:p>
            <a:r>
              <a:t>WHERE facts.period_end = (SELECT MAX(period_end) FROM dbo.gold_stand_facts)</a:t>
            </a:r>
          </a:p>
          <a:p>
            <a:r>
              <a:t>GROUP BY facts.period_end, facts.forest_class</a:t>
            </a:r>
          </a:p>
          <a:p>
            <a:r>
              <a:t>ORDER BY facts.forest_class;</a:t>
            </a:r>
          </a:p>
          <a:p>
            <a:r>
              <a:t>```</a:t>
            </a:r>
          </a:p>
          <a:p/>
          <a:p>
            <a:r>
              <a:t>Add **Which stands require review in the latest period?** with:</a:t>
            </a:r>
          </a:p>
          <a:p/>
          <a:p>
            <a:r>
              <a:t>```sql</a:t>
            </a:r>
          </a:p>
          <a:p>
            <a:r>
              <a:t>SELECT TOP (20) facts.stand_id, stands.licence_block,</a:t>
            </a:r>
          </a:p>
          <a:p>
            <a:r>
              <a:t>       facts.period_end, facts.forest_class, facts.change_type,</a:t>
            </a:r>
          </a:p>
          <a:p>
            <a:r>
              <a:t>       facts.severity, ROUND(facts.area_ha, 1) AS area_ha,</a:t>
            </a:r>
          </a:p>
          <a:p>
            <a:r>
              <a:t>       facts.validation_status</a:t>
            </a:r>
          </a:p>
          <a:p>
            <a:r>
              <a:t>FROM dbo.gold_stand_facts AS facts</a:t>
            </a:r>
          </a:p>
          <a:p>
            <a:r>
              <a:t>JOIN dbo.gold_dim_stand AS stands ON stands.stand_id = facts.stand_id</a:t>
            </a:r>
          </a:p>
          <a:p>
            <a:r>
              <a:t>WHERE facts.period_end = (SELECT MAX(period_end) FROM dbo.gold_stand_facts)</a:t>
            </a:r>
          </a:p>
          <a:p>
            <a:r>
              <a:t>  AND facts.requires_review = 1</a:t>
            </a:r>
          </a:p>
          <a:p>
            <a:r>
              <a:t>ORDER BY facts.severity DESC, facts.area_ha DESC, facts.stand_id;</a:t>
            </a:r>
          </a:p>
          <a:p>
            <a:r>
              <a:t>```</a:t>
            </a:r>
          </a:p>
          <a:p/>
          <a:p>
            <a:r>
              <a:t>1. Enter each question, click outside and wait for saving to finish. Then select</a:t>
            </a:r>
          </a:p>
          <a:p>
            <a:r>
              <a:t>   all the SQL placeholder text and paste the query. Click outside again.</a:t>
            </a:r>
          </a:p>
          <a:p>
            <a:r>
              <a:t>2. Wait for automatic validation to finish without an error. Controls can be</a:t>
            </a:r>
          </a:p>
          <a:p>
            <a:r>
              <a:t>   briefly read-only during saving; wait instead of pasting twice. Reopen the</a:t>
            </a:r>
          </a:p>
          <a:p>
            <a:r>
              <a:t>   examples and confirm all three question/query pairs were saved correctly.</a:t>
            </a:r>
          </a:p>
          <a:p>
            <a:r>
              <a:t>3. Run the same SQL independently in the SQL analytics endpoint and retain its</a:t>
            </a:r>
          </a:p>
          <a:p>
            <a:r>
              <a:t>   results as ground truth for the agent answers.</a:t>
            </a:r>
          </a:p>
          <a:p/>
          <a:p>
            <a:r>
              <a:t>![Add each natural-language question and its independently checked SQL query.](images/training/manual/37-agent-example-validation.png)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images/training/manual/38-agent-count-answer.png</a:t>
            </a:r>
          </a:p>
          <a:p/>
          <a:p>
            <a:r>
              <a:t>### Test And Publish</a:t>
            </a:r>
          </a:p>
          <a:p/>
          <a:p>
            <a:r>
              <a:t>Ask these questions. Expand each answer's intermediate steps and inspect the</a:t>
            </a:r>
          </a:p>
          <a:p>
            <a:r>
              <a:t>generated SQL and selected source. Close configuration tabs and collapse</a:t>
            </a:r>
          </a:p>
          <a:p>
            <a:r>
              <a:t>Explorer for a wider response pane. Use **Expand response** &gt; **Steps completed**</a:t>
            </a:r>
          </a:p>
          <a:p>
            <a:r>
              <a:t>when the answer is long. Distinguish a fraction such as 0.9917 from 99.17%.</a:t>
            </a:r>
          </a:p>
          <a:p/>
          <a:p>
            <a:r>
              <a:t>| Question                                                      | Check                                              |</a:t>
            </a:r>
          </a:p>
          <a:p>
            <a:r>
              <a:t>|---------------------------------------------------------------|----------------------------------------------------|</a:t>
            </a:r>
          </a:p>
          <a:p>
            <a:r>
              <a:t>| How many stands are registered?                                | Count of `gold_dim_stand`                           |</a:t>
            </a:r>
          </a:p>
          <a:p>
            <a:r>
              <a:t>| Show latest-period stand counts and hectares by forest class.   | Class query above, one stated period                |</a:t>
            </a:r>
          </a:p>
          <a:p>
            <a:r>
              <a:t>| How many stands lack a result in the latest period, and what is register coverage? State the reporting period as a date. | Step 6 SQL, not retained-fact trust percentage |</a:t>
            </a:r>
          </a:p>
          <a:p>
            <a:r>
              <a:t>| Which stands need review in the latest period?                 | Review query above, including an empty result       |</a:t>
            </a:r>
          </a:p>
          <a:p>
            <a:r>
              <a:t>| Are narratives live model results and changes observed events? | Stub status and simulated-baseline limitations      |</a:t>
            </a:r>
          </a:p>
          <a:p/>
          <a:p>
            <a:r>
              <a:t>![Check the full-register count and inspect the completed source-analysis step.](images/training/manual/38-agent-count-answer.png)</a:t>
            </a:r>
          </a:p>
          <a:p/>
          <a:p>
            <a:r>
              <a:t>![Require an actual reporting date and compare coverage with the full stand register.](images/training/manual/39-agent-coverage-answer.png)</a:t>
            </a:r>
          </a:p>
          <a:p/>
          <a:p>
            <a:r>
              <a:t>![Verify the complete review list and retain the simulated-data limitation.](images/training/manual/40-agent-review-answer.png)</a:t>
            </a:r>
          </a:p>
          <a:p/>
          <a:p>
            <a:r>
              <a:t>If an answer disagrees with SQL, correct instructions/examples and test again.</a:t>
            </a:r>
          </a:p>
          <a:p>
            <a:r>
              <a:t>Do not publish a wrong count, duplicated area total or invented cause.</a:t>
            </a:r>
          </a:p>
          <a:p/>
          <a:p>
            <a:r>
              <a:t>1. After the tests pass, select **More items (...)** &gt; **Publish** in the ribbon.</a:t>
            </a:r>
          </a:p>
          <a:p>
            <a:r>
              <a:t>2. Enter: **Answers read-only questions about synthetic Woodlands training</a:t>
            </a:r>
          </a:p>
          <a:p>
            <a:r>
              <a:t>   stands, latest-period classification, coverage and review flags. Includes</a:t>
            </a:r>
          </a:p>
          <a:p>
            <a:r>
              <a:t>   demonstration data limitations.**</a:t>
            </a:r>
          </a:p>
          <a:p>
            <a:r>
              <a:t>3. Leave **Also publish to Microsoft 365 Copilot** off, then select **Publish**.</a:t>
            </a:r>
          </a:p>
          <a:p>
            <a:r>
              <a:t>4. Wait for completion, return to the workspace and reopen the agent.</a:t>
            </a:r>
          </a:p>
          <a:p>
            <a:r>
              <a:t>5. Open the **Draft** menu and select **Published**. Repeat the coverage question</a:t>
            </a:r>
          </a:p>
          <a:p>
            <a:r>
              <a:t>   and confirm that the date and counts still agree with Step 6.</a:t>
            </a:r>
          </a:p>
          <a:p>
            <a:r>
              <a:t>6. Do not grant external access for this exercise. Agent access does not replace</a:t>
            </a:r>
          </a:p>
          <a:p>
            <a:r>
              <a:t>   permission to read its underlying data.</a:t>
            </a:r>
          </a:p>
          <a:p/>
          <a:p>
            <a:r>
              <a:t>![Publish the tested Fabric agent with Microsoft 365 Copilot publication left off.](images/training/manual/41-agent-publish-dialog.png)</a:t>
            </a:r>
          </a:p>
          <a:p/>
          <a:p>
            <a:r>
              <a:t>![Retest coverage in the Published version after reopening the agent.](images/training/manual/41-agent-published.png)</a:t>
            </a:r>
          </a:p>
          <a:p/>
          <a:p>
            <a:r>
              <a:t>Checkpoint: the published Data Agent returns the correct period, units and</a:t>
            </a:r>
          </a:p>
          <a:p>
            <a:r>
              <a:t>SQL-backed answers, including quality and demonstration-data limitations.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images/training/manual/39-agent-coverage-answer.png</a:t>
            </a:r>
          </a:p>
          <a:p/>
          <a:p>
            <a:r>
              <a:t>### Test And Publish</a:t>
            </a:r>
          </a:p>
          <a:p/>
          <a:p>
            <a:r>
              <a:t>Ask these questions. Expand each answer's intermediate steps and inspect the</a:t>
            </a:r>
          </a:p>
          <a:p>
            <a:r>
              <a:t>generated SQL and selected source. Close configuration tabs and collapse</a:t>
            </a:r>
          </a:p>
          <a:p>
            <a:r>
              <a:t>Explorer for a wider response pane. Use **Expand response** &gt; **Steps completed**</a:t>
            </a:r>
          </a:p>
          <a:p>
            <a:r>
              <a:t>when the answer is long. Distinguish a fraction such as 0.9917 from 99.17%.</a:t>
            </a:r>
          </a:p>
          <a:p/>
          <a:p>
            <a:r>
              <a:t>| Question                                                      | Check                                              |</a:t>
            </a:r>
          </a:p>
          <a:p>
            <a:r>
              <a:t>|---------------------------------------------------------------|----------------------------------------------------|</a:t>
            </a:r>
          </a:p>
          <a:p>
            <a:r>
              <a:t>| How many stands are registered?                                | Count of `gold_dim_stand`                           |</a:t>
            </a:r>
          </a:p>
          <a:p>
            <a:r>
              <a:t>| Show latest-period stand counts and hectares by forest class.   | Class query above, one stated period                |</a:t>
            </a:r>
          </a:p>
          <a:p>
            <a:r>
              <a:t>| How many stands lack a result in the latest period, and what is register coverage? State the reporting period as a date. | Step 6 SQL, not retained-fact trust percentage |</a:t>
            </a:r>
          </a:p>
          <a:p>
            <a:r>
              <a:t>| Which stands need review in the latest period?                 | Review query above, including an empty result       |</a:t>
            </a:r>
          </a:p>
          <a:p>
            <a:r>
              <a:t>| Are narratives live model results and changes observed events? | Stub status and simulated-baseline limitations      |</a:t>
            </a:r>
          </a:p>
          <a:p/>
          <a:p>
            <a:r>
              <a:t>![Check the full-register count and inspect the completed source-analysis step.](images/training/manual/38-agent-count-answer.png)</a:t>
            </a:r>
          </a:p>
          <a:p/>
          <a:p>
            <a:r>
              <a:t>![Require an actual reporting date and compare coverage with the full stand register.](images/training/manual/39-agent-coverage-answer.png)</a:t>
            </a:r>
          </a:p>
          <a:p/>
          <a:p>
            <a:r>
              <a:t>![Verify the complete review list and retain the simulated-data limitation.](images/training/manual/40-agent-review-answer.png)</a:t>
            </a:r>
          </a:p>
          <a:p/>
          <a:p>
            <a:r>
              <a:t>If an answer disagrees with SQL, correct instructions/examples and test again.</a:t>
            </a:r>
          </a:p>
          <a:p>
            <a:r>
              <a:t>Do not publish a wrong count, duplicated area total or invented cause.</a:t>
            </a:r>
          </a:p>
          <a:p/>
          <a:p>
            <a:r>
              <a:t>1. After the tests pass, select **More items (...)** &gt; **Publish** in the ribbon.</a:t>
            </a:r>
          </a:p>
          <a:p>
            <a:r>
              <a:t>2. Enter: **Answers read-only questions about synthetic Woodlands training</a:t>
            </a:r>
          </a:p>
          <a:p>
            <a:r>
              <a:t>   stands, latest-period classification, coverage and review flags. Includes</a:t>
            </a:r>
          </a:p>
          <a:p>
            <a:r>
              <a:t>   demonstration data limitations.**</a:t>
            </a:r>
          </a:p>
          <a:p>
            <a:r>
              <a:t>3. Leave **Also publish to Microsoft 365 Copilot** off, then select **Publish**.</a:t>
            </a:r>
          </a:p>
          <a:p>
            <a:r>
              <a:t>4. Wait for completion, return to the workspace and reopen the agent.</a:t>
            </a:r>
          </a:p>
          <a:p>
            <a:r>
              <a:t>5. Open the **Draft** menu and select **Published**. Repeat the coverage question</a:t>
            </a:r>
          </a:p>
          <a:p>
            <a:r>
              <a:t>   and confirm that the date and counts still agree with Step 6.</a:t>
            </a:r>
          </a:p>
          <a:p>
            <a:r>
              <a:t>6. Do not grant external access for this exercise. Agent access does not replace</a:t>
            </a:r>
          </a:p>
          <a:p>
            <a:r>
              <a:t>   permission to read its underlying data.</a:t>
            </a:r>
          </a:p>
          <a:p/>
          <a:p>
            <a:r>
              <a:t>![Publish the tested Fabric agent with Microsoft 365 Copilot publication left off.](images/training/manual/41-agent-publish-dialog.png)</a:t>
            </a:r>
          </a:p>
          <a:p/>
          <a:p>
            <a:r>
              <a:t>![Retest coverage in the Published version after reopening the agent.](images/training/manual/41-agent-published.png)</a:t>
            </a:r>
          </a:p>
          <a:p/>
          <a:p>
            <a:r>
              <a:t>Checkpoint: the published Data Agent returns the correct period, units and</a:t>
            </a:r>
          </a:p>
          <a:p>
            <a:r>
              <a:t>SQL-backed answers, including quality and demonstration-data limitations.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images/training/manual/40-agent-review-answer.png</a:t>
            </a:r>
          </a:p>
          <a:p/>
          <a:p>
            <a:r>
              <a:t>### Test And Publish</a:t>
            </a:r>
          </a:p>
          <a:p/>
          <a:p>
            <a:r>
              <a:t>Ask these questions. Expand each answer's intermediate steps and inspect the</a:t>
            </a:r>
          </a:p>
          <a:p>
            <a:r>
              <a:t>generated SQL and selected source. Close configuration tabs and collapse</a:t>
            </a:r>
          </a:p>
          <a:p>
            <a:r>
              <a:t>Explorer for a wider response pane. Use **Expand response** &gt; **Steps completed**</a:t>
            </a:r>
          </a:p>
          <a:p>
            <a:r>
              <a:t>when the answer is long. Distinguish a fraction such as 0.9917 from 99.17%.</a:t>
            </a:r>
          </a:p>
          <a:p/>
          <a:p>
            <a:r>
              <a:t>| Question                                                      | Check                                              |</a:t>
            </a:r>
          </a:p>
          <a:p>
            <a:r>
              <a:t>|---------------------------------------------------------------|----------------------------------------------------|</a:t>
            </a:r>
          </a:p>
          <a:p>
            <a:r>
              <a:t>| How many stands are registered?                                | Count of `gold_dim_stand`                           |</a:t>
            </a:r>
          </a:p>
          <a:p>
            <a:r>
              <a:t>| Show latest-period stand counts and hectares by forest class.   | Class query above, one stated period                |</a:t>
            </a:r>
          </a:p>
          <a:p>
            <a:r>
              <a:t>| How many stands lack a result in the latest period, and what is register coverage? State the reporting period as a date. | Step 6 SQL, not retained-fact trust percentage |</a:t>
            </a:r>
          </a:p>
          <a:p>
            <a:r>
              <a:t>| Which stands need review in the latest period?                 | Review query above, including an empty result       |</a:t>
            </a:r>
          </a:p>
          <a:p>
            <a:r>
              <a:t>| Are narratives live model results and changes observed events? | Stub status and simulated-baseline limitations      |</a:t>
            </a:r>
          </a:p>
          <a:p/>
          <a:p>
            <a:r>
              <a:t>![Check the full-register count and inspect the completed source-analysis step.](images/training/manual/38-agent-count-answer.png)</a:t>
            </a:r>
          </a:p>
          <a:p/>
          <a:p>
            <a:r>
              <a:t>![Require an actual reporting date and compare coverage with the full stand register.](images/training/manual/39-agent-coverage-answer.png)</a:t>
            </a:r>
          </a:p>
          <a:p/>
          <a:p>
            <a:r>
              <a:t>![Verify the complete review list and retain the simulated-data limitation.](images/training/manual/40-agent-review-answer.png)</a:t>
            </a:r>
          </a:p>
          <a:p/>
          <a:p>
            <a:r>
              <a:t>If an answer disagrees with SQL, correct instructions/examples and test again.</a:t>
            </a:r>
          </a:p>
          <a:p>
            <a:r>
              <a:t>Do not publish a wrong count, duplicated area total or invented cause.</a:t>
            </a:r>
          </a:p>
          <a:p/>
          <a:p>
            <a:r>
              <a:t>1. After the tests pass, select **More items (...)** &gt; **Publish** in the ribbon.</a:t>
            </a:r>
          </a:p>
          <a:p>
            <a:r>
              <a:t>2. Enter: **Answers read-only questions about synthetic Woodlands training</a:t>
            </a:r>
          </a:p>
          <a:p>
            <a:r>
              <a:t>   stands, latest-period classification, coverage and review flags. Includes</a:t>
            </a:r>
          </a:p>
          <a:p>
            <a:r>
              <a:t>   demonstration data limitations.**</a:t>
            </a:r>
          </a:p>
          <a:p>
            <a:r>
              <a:t>3. Leave **Also publish to Microsoft 365 Copilot** off, then select **Publish**.</a:t>
            </a:r>
          </a:p>
          <a:p>
            <a:r>
              <a:t>4. Wait for completion, return to the workspace and reopen the agent.</a:t>
            </a:r>
          </a:p>
          <a:p>
            <a:r>
              <a:t>5. Open the **Draft** menu and select **Published**. Repeat the coverage question</a:t>
            </a:r>
          </a:p>
          <a:p>
            <a:r>
              <a:t>   and confirm that the date and counts still agree with Step 6.</a:t>
            </a:r>
          </a:p>
          <a:p>
            <a:r>
              <a:t>6. Do not grant external access for this exercise. Agent access does not replace</a:t>
            </a:r>
          </a:p>
          <a:p>
            <a:r>
              <a:t>   permission to read its underlying data.</a:t>
            </a:r>
          </a:p>
          <a:p/>
          <a:p>
            <a:r>
              <a:t>![Publish the tested Fabric agent with Microsoft 365 Copilot publication left off.](images/training/manual/41-agent-publish-dialog.png)</a:t>
            </a:r>
          </a:p>
          <a:p/>
          <a:p>
            <a:r>
              <a:t>![Retest coverage in the Published version after reopening the agent.](images/training/manual/41-agent-published.png)</a:t>
            </a:r>
          </a:p>
          <a:p/>
          <a:p>
            <a:r>
              <a:t>Checkpoint: the published Data Agent returns the correct period, units and</a:t>
            </a:r>
          </a:p>
          <a:p>
            <a:r>
              <a:t>SQL-backed answers, including quality and demonstration-data limitations.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images/training/manual/41-agent-publish-dialog.png</a:t>
            </a:r>
          </a:p>
          <a:p/>
          <a:p>
            <a:r>
              <a:t>### Test And Publish</a:t>
            </a:r>
          </a:p>
          <a:p/>
          <a:p>
            <a:r>
              <a:t>Ask these questions. Expand each answer's intermediate steps and inspect the</a:t>
            </a:r>
          </a:p>
          <a:p>
            <a:r>
              <a:t>generated SQL and selected source. Close configuration tabs and collapse</a:t>
            </a:r>
          </a:p>
          <a:p>
            <a:r>
              <a:t>Explorer for a wider response pane. Use **Expand response** &gt; **Steps completed**</a:t>
            </a:r>
          </a:p>
          <a:p>
            <a:r>
              <a:t>when the answer is long. Distinguish a fraction such as 0.9917 from 99.17%.</a:t>
            </a:r>
          </a:p>
          <a:p/>
          <a:p>
            <a:r>
              <a:t>| Question                                                      | Check                                              |</a:t>
            </a:r>
          </a:p>
          <a:p>
            <a:r>
              <a:t>|---------------------------------------------------------------|----------------------------------------------------|</a:t>
            </a:r>
          </a:p>
          <a:p>
            <a:r>
              <a:t>| How many stands are registered?                                | Count of `gold_dim_stand`                           |</a:t>
            </a:r>
          </a:p>
          <a:p>
            <a:r>
              <a:t>| Show latest-period stand counts and hectares by forest class.   | Class query above, one stated period                |</a:t>
            </a:r>
          </a:p>
          <a:p>
            <a:r>
              <a:t>| How many stands lack a result in the latest period, and what is register coverage? State the reporting period as a date. | Step 6 SQL, not retained-fact trust percentage |</a:t>
            </a:r>
          </a:p>
          <a:p>
            <a:r>
              <a:t>| Which stands need review in the latest period?                 | Review query above, including an empty result       |</a:t>
            </a:r>
          </a:p>
          <a:p>
            <a:r>
              <a:t>| Are narratives live model results and changes observed events? | Stub status and simulated-baseline limitations      |</a:t>
            </a:r>
          </a:p>
          <a:p/>
          <a:p>
            <a:r>
              <a:t>![Check the full-register count and inspect the completed source-analysis step.](images/training/manual/38-agent-count-answer.png)</a:t>
            </a:r>
          </a:p>
          <a:p/>
          <a:p>
            <a:r>
              <a:t>![Require an actual reporting date and compare coverage with the full stand register.](images/training/manual/39-agent-coverage-answer.png)</a:t>
            </a:r>
          </a:p>
          <a:p/>
          <a:p>
            <a:r>
              <a:t>![Verify the complete review list and retain the simulated-data limitation.](images/training/manual/40-agent-review-answer.png)</a:t>
            </a:r>
          </a:p>
          <a:p/>
          <a:p>
            <a:r>
              <a:t>If an answer disagrees with SQL, correct instructions/examples and test again.</a:t>
            </a:r>
          </a:p>
          <a:p>
            <a:r>
              <a:t>Do not publish a wrong count, duplicated area total or invented cause.</a:t>
            </a:r>
          </a:p>
          <a:p/>
          <a:p>
            <a:r>
              <a:t>1. After the tests pass, select **More items (...)** &gt; **Publish** in the ribbon.</a:t>
            </a:r>
          </a:p>
          <a:p>
            <a:r>
              <a:t>2. Enter: **Answers read-only questions about synthetic Woodlands training</a:t>
            </a:r>
          </a:p>
          <a:p>
            <a:r>
              <a:t>   stands, latest-period classification, coverage and review flags. Includes</a:t>
            </a:r>
          </a:p>
          <a:p>
            <a:r>
              <a:t>   demonstration data limitations.**</a:t>
            </a:r>
          </a:p>
          <a:p>
            <a:r>
              <a:t>3. Leave **Also publish to Microsoft 365 Copilot** off, then select **Publish**.</a:t>
            </a:r>
          </a:p>
          <a:p>
            <a:r>
              <a:t>4. Wait for completion, return to the workspace and reopen the agent.</a:t>
            </a:r>
          </a:p>
          <a:p>
            <a:r>
              <a:t>5. Open the **Draft** menu and select **Published**. Repeat the coverage question</a:t>
            </a:r>
          </a:p>
          <a:p>
            <a:r>
              <a:t>   and confirm that the date and counts still agree with Step 6.</a:t>
            </a:r>
          </a:p>
          <a:p>
            <a:r>
              <a:t>6. Do not grant external access for this exercise. Agent access does not replace</a:t>
            </a:r>
          </a:p>
          <a:p>
            <a:r>
              <a:t>   permission to read its underlying data.</a:t>
            </a:r>
          </a:p>
          <a:p/>
          <a:p>
            <a:r>
              <a:t>![Publish the tested Fabric agent with Microsoft 365 Copilot publication left off.](images/training/manual/41-agent-publish-dialog.png)</a:t>
            </a:r>
          </a:p>
          <a:p/>
          <a:p>
            <a:r>
              <a:t>![Retest coverage in the Published version after reopening the agent.](images/training/manual/41-agent-published.png)</a:t>
            </a:r>
          </a:p>
          <a:p/>
          <a:p>
            <a:r>
              <a:t>Checkpoint: the published Data Agent returns the correct period, units and</a:t>
            </a:r>
          </a:p>
          <a:p>
            <a:r>
              <a:t>SQL-backed answers, including quality and demonstration-data limitations.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images/training/manual/41-agent-published.png</a:t>
            </a:r>
          </a:p>
          <a:p/>
          <a:p>
            <a:r>
              <a:t>### Test And Publish</a:t>
            </a:r>
          </a:p>
          <a:p/>
          <a:p>
            <a:r>
              <a:t>Ask these questions. Expand each answer's intermediate steps and inspect the</a:t>
            </a:r>
          </a:p>
          <a:p>
            <a:r>
              <a:t>generated SQL and selected source. Close configuration tabs and collapse</a:t>
            </a:r>
          </a:p>
          <a:p>
            <a:r>
              <a:t>Explorer for a wider response pane. Use **Expand response** &gt; **Steps completed**</a:t>
            </a:r>
          </a:p>
          <a:p>
            <a:r>
              <a:t>when the answer is long. Distinguish a fraction such as 0.9917 from 99.17%.</a:t>
            </a:r>
          </a:p>
          <a:p/>
          <a:p>
            <a:r>
              <a:t>| Question                                                      | Check                                              |</a:t>
            </a:r>
          </a:p>
          <a:p>
            <a:r>
              <a:t>|---------------------------------------------------------------|----------------------------------------------------|</a:t>
            </a:r>
          </a:p>
          <a:p>
            <a:r>
              <a:t>| How many stands are registered?                                | Count of `gold_dim_stand`                           |</a:t>
            </a:r>
          </a:p>
          <a:p>
            <a:r>
              <a:t>| Show latest-period stand counts and hectares by forest class.   | Class query above, one stated period                |</a:t>
            </a:r>
          </a:p>
          <a:p>
            <a:r>
              <a:t>| How many stands lack a result in the latest period, and what is register coverage? State the reporting period as a date. | Step 6 SQL, not retained-fact trust percentage |</a:t>
            </a:r>
          </a:p>
          <a:p>
            <a:r>
              <a:t>| Which stands need review in the latest period?                 | Review query above, including an empty result       |</a:t>
            </a:r>
          </a:p>
          <a:p>
            <a:r>
              <a:t>| Are narratives live model results and changes observed events? | Stub status and simulated-baseline limitations      |</a:t>
            </a:r>
          </a:p>
          <a:p/>
          <a:p>
            <a:r>
              <a:t>![Check the full-register count and inspect the completed source-analysis step.](images/training/manual/38-agent-count-answer.png)</a:t>
            </a:r>
          </a:p>
          <a:p/>
          <a:p>
            <a:r>
              <a:t>![Require an actual reporting date and compare coverage with the full stand register.](images/training/manual/39-agent-coverage-answer.png)</a:t>
            </a:r>
          </a:p>
          <a:p/>
          <a:p>
            <a:r>
              <a:t>![Verify the complete review list and retain the simulated-data limitation.](images/training/manual/40-agent-review-answer.png)</a:t>
            </a:r>
          </a:p>
          <a:p/>
          <a:p>
            <a:r>
              <a:t>If an answer disagrees with SQL, correct instructions/examples and test again.</a:t>
            </a:r>
          </a:p>
          <a:p>
            <a:r>
              <a:t>Do not publish a wrong count, duplicated area total or invented cause.</a:t>
            </a:r>
          </a:p>
          <a:p/>
          <a:p>
            <a:r>
              <a:t>1. After the tests pass, select **More items (...)** &gt; **Publish** in the ribbon.</a:t>
            </a:r>
          </a:p>
          <a:p>
            <a:r>
              <a:t>2. Enter: **Answers read-only questions about synthetic Woodlands training</a:t>
            </a:r>
          </a:p>
          <a:p>
            <a:r>
              <a:t>   stands, latest-period classification, coverage and review flags. Includes</a:t>
            </a:r>
          </a:p>
          <a:p>
            <a:r>
              <a:t>   demonstration data limitations.**</a:t>
            </a:r>
          </a:p>
          <a:p>
            <a:r>
              <a:t>3. Leave **Also publish to Microsoft 365 Copilot** off, then select **Publish**.</a:t>
            </a:r>
          </a:p>
          <a:p>
            <a:r>
              <a:t>4. Wait for completion, return to the workspace and reopen the agent.</a:t>
            </a:r>
          </a:p>
          <a:p>
            <a:r>
              <a:t>5. Open the **Draft** menu and select **Published**. Repeat the coverage question</a:t>
            </a:r>
          </a:p>
          <a:p>
            <a:r>
              <a:t>   and confirm that the date and counts still agree with Step 6.</a:t>
            </a:r>
          </a:p>
          <a:p>
            <a:r>
              <a:t>6. Do not grant external access for this exercise. Agent access does not replace</a:t>
            </a:r>
          </a:p>
          <a:p>
            <a:r>
              <a:t>   permission to read its underlying data.</a:t>
            </a:r>
          </a:p>
          <a:p/>
          <a:p>
            <a:r>
              <a:t>![Publish the tested Fabric agent with Microsoft 365 Copilot publication left off.](images/training/manual/41-agent-publish-dialog.png)</a:t>
            </a:r>
          </a:p>
          <a:p/>
          <a:p>
            <a:r>
              <a:t>![Retest coverage in the Published version after reopening the agent.](images/training/manual/41-agent-published.png)</a:t>
            </a:r>
          </a:p>
          <a:p/>
          <a:p>
            <a:r>
              <a:t>Checkpoint: the published Data Agent returns the correct period, units and</a:t>
            </a:r>
          </a:p>
          <a:p>
            <a:r>
              <a:t>SQL-backed answers, including quality and demonstration-data limitations.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images/training/manual/42-final-workspace.png</a:t>
            </a:r>
          </a:p>
          <a:p/>
          <a:p>
            <a:r>
              <a:t>## 9. Finish And Hand In</a:t>
            </a:r>
          </a:p>
          <a:p/>
          <a:p>
            <a:r>
              <a:t>1. Confirm the six notebooks, your lakehouse, Map and Data Agent exist.</a:t>
            </a:r>
          </a:p>
          <a:p>
            <a:r>
              <a:t>2. Submit links to your notebook folder, lakehouse, Map and published agent.</a:t>
            </a:r>
          </a:p>
          <a:p>
            <a:r>
              <a:t>3. Include six lab checkpoint images, a Map tooltip/filter result, an agent</a:t>
            </a:r>
          </a:p>
          <a:p>
            <a:r>
              <a:t>   coverage answer and the matching SQL output.</a:t>
            </a:r>
          </a:p>
          <a:p>
            <a:r>
              <a:t>4. State your reporting period and registered/retained/missing counts. Explain</a:t>
            </a:r>
          </a:p>
          <a:p>
            <a:r>
              <a:t>   the synthetic register, simulated baseline and offline narratives.</a:t>
            </a:r>
          </a:p>
          <a:p>
            <a:r>
              <a:t>5. Stop your Spark sessions. Do not pause the shared capacity or enable a schedule.</a:t>
            </a:r>
          </a:p>
          <a:p/>
          <a:p>
            <a:r>
              <a:t>![Confirm your native Data Agent, lakehouse and Map are present alongside the completed notebooks.](images/training/manual/42-final-workspace.png)</a:t>
            </a:r>
          </a:p>
          <a:p/>
          <a:p>
            <a:r>
              <a:t>Use a local `evidence/&lt;your-name&gt;` folder for your own checkpoint captures.</a:t>
            </a:r>
          </a:p>
          <a:p>
            <a:r>
              <a:t>Exclude account menus, secrets, connection strings and signed imagery URLs.</a:t>
            </a:r>
          </a:p>
          <a:p>
            <a:r>
              <a:t>Take a second close-up when the title and result do not fit legibly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docs/17-manual-imagery-download.md</a:t>
            </a:r>
          </a:p>
          <a:p>
            <a:r>
              <a:t>Capture: images/training/manual-download/18-manual-01-scene.png</a:t>
            </a:r>
          </a:p>
          <a:p/>
          <a:p>
            <a:r>
              <a:t>### Inspect The Scene In Explorer</a:t>
            </a:r>
          </a:p>
          <a:p/>
          <a:p>
            <a:r>
              <a:t>Open [Planetary Computer Explorer](https://planetarycomputer.microsoft.com/explore?c=-66.65%2C46.25&amp;z=8.50&amp;v=2&amp;d=sentinel-2-l2a).</a:t>
            </a:r>
          </a:p>
          <a:p>
            <a:r>
              <a:t>Choose **Sentinel-2 Level-2A**, select **Advanced**, then add the **Item ID** filter.</a:t>
            </a:r>
          </a:p>
          <a:p>
            <a:r>
              <a:t>Use **Equals** and paste this exact value:</a:t>
            </a:r>
          </a:p>
          <a:p/>
          <a:p>
            <a:r>
              <a:t>```text</a:t>
            </a:r>
          </a:p>
          <a:p>
            <a:r>
              <a:t>S2C_MSIL2A_20260629T152621_R068_T19TFM_20260629T201011</a:t>
            </a:r>
          </a:p>
          <a:p>
            <a:r>
              <a:t>```</a:t>
            </a:r>
          </a:p>
          <a:p/>
          <a:p>
            <a:r>
              <a:t>Keep the map over central New Brunswick. Select the matching result. **Metadata**</a:t>
            </a:r>
          </a:p>
          <a:p>
            <a:r>
              <a:t>shows the acquisition date and EPSG code; **Assets** lists each STAC band key.</a:t>
            </a:r>
          </a:p>
          <a:p>
            <a:r>
              <a:t>The Explorer asset list is descriptive, not a direct-download menu. Use the</a:t>
            </a:r>
          </a:p>
          <a:p>
            <a:r>
              <a:t>download handout for the original files.</a:t>
            </a:r>
          </a:p>
          <a:p/>
          <a:p>
            <a:r>
              <a:t>![The selected real Sentinel-2 scene and its June 29 acquisition date in Explorer.](images/training/manual-download/18-manual-01-scene.png)</a:t>
            </a:r>
          </a:p>
          <a:p/>
          <a:p>
            <a:r>
              <a:t>![Explorer lists the B04 red band as a GeoTIFF asset, separate from the displayed RGB preview.](images/training/manual-download/18-manual-02-bands.png)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docs/17-manual-imagery-download.md</a:t>
            </a:r>
          </a:p>
          <a:p>
            <a:r>
              <a:t>Capture: images/training/manual-download/18-manual-02-bands.png</a:t>
            </a:r>
          </a:p>
          <a:p/>
          <a:p>
            <a:r>
              <a:t>### Inspect The Scene In Explorer</a:t>
            </a:r>
          </a:p>
          <a:p/>
          <a:p>
            <a:r>
              <a:t>Open [Planetary Computer Explorer](https://planetarycomputer.microsoft.com/explore?c=-66.65%2C46.25&amp;z=8.50&amp;v=2&amp;d=sentinel-2-l2a).</a:t>
            </a:r>
          </a:p>
          <a:p>
            <a:r>
              <a:t>Choose **Sentinel-2 Level-2A**, select **Advanced**, then add the **Item ID** filter.</a:t>
            </a:r>
          </a:p>
          <a:p>
            <a:r>
              <a:t>Use **Equals** and paste this exact value:</a:t>
            </a:r>
          </a:p>
          <a:p/>
          <a:p>
            <a:r>
              <a:t>```text</a:t>
            </a:r>
          </a:p>
          <a:p>
            <a:r>
              <a:t>S2C_MSIL2A_20260629T152621_R068_T19TFM_20260629T201011</a:t>
            </a:r>
          </a:p>
          <a:p>
            <a:r>
              <a:t>```</a:t>
            </a:r>
          </a:p>
          <a:p/>
          <a:p>
            <a:r>
              <a:t>Keep the map over central New Brunswick. Select the matching result. **Metadata**</a:t>
            </a:r>
          </a:p>
          <a:p>
            <a:r>
              <a:t>shows the acquisition date and EPSG code; **Assets** lists each STAC band key.</a:t>
            </a:r>
          </a:p>
          <a:p>
            <a:r>
              <a:t>The Explorer asset list is descriptive, not a direct-download menu. Use the</a:t>
            </a:r>
          </a:p>
          <a:p>
            <a:r>
              <a:t>download handout for the original files.</a:t>
            </a:r>
          </a:p>
          <a:p/>
          <a:p>
            <a:r>
              <a:t>![The selected real Sentinel-2 scene and its June 29 acquisition date in Explorer.](images/training/manual-download/18-manual-01-scene.png)</a:t>
            </a:r>
          </a:p>
          <a:p/>
          <a:p>
            <a:r>
              <a:t>![Explorer lists the B04 red band as a GeoTIFF asset, separate from the displayed RGB preview.](images/training/manual-download/18-manual-02-bands.png)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docs/17-manual-imagery-download.md</a:t>
            </a:r>
          </a:p>
          <a:p>
            <a:r>
              <a:t>Capture: images/training/manual-download/18-manual-03-download.png</a:t>
            </a:r>
          </a:p>
          <a:p/>
          <a:p>
            <a:r>
              <a:t>### Download The Six Files</a:t>
            </a:r>
          </a:p>
          <a:p/>
          <a:p>
            <a:r>
              <a:t>1. Extract the workshop ZIP. Open **handouts/download-imagery.html** in Edge or</a:t>
            </a:r>
          </a:p>
          <a:p>
            <a:r>
              <a:t>   Chrome, or open the repository's [download handout](download-imagery.html).</a:t>
            </a:r>
          </a:p>
          <a:p>
            <a:r>
              <a:t>   A source-code preview in GitHub is not the working page; use the extracted file.</a:t>
            </a:r>
          </a:p>
          <a:p>
            <a:r>
              <a:t>2. Wait for **Ready: item.json and five original TIFFs**. The source is the public</a:t>
            </a:r>
          </a:p>
          <a:p>
            <a:r>
              <a:t>   Microsoft Planetary Computer, not a file server hosted by this workshop.</a:t>
            </a:r>
          </a:p>
          <a:p>
            <a:r>
              <a:t>3. Select **Download** for `item.json`, then for each of `B04`, `B08`, `B11`,</a:t>
            </a:r>
          </a:p>
          <a:p>
            <a:r>
              <a:t>   `B12` and `SCL`. Download one file at a time if your browser asks permission.</a:t>
            </a:r>
          </a:p>
          <a:p>
            <a:r>
              <a:t>4. Check the browser's Downloads list. Wait until all six files have completed.</a:t>
            </a:r>
          </a:p>
          <a:p>
            <a:r>
              <a:t>   The handout's **Requested** message means the transfer started, not finished.</a:t>
            </a:r>
          </a:p>
          <a:p>
            <a:r>
              <a:t>5. Put the six completed files in one local folder named `scene`. Keep the TIFF</a:t>
            </a:r>
          </a:p>
          <a:p>
            <a:r>
              <a:t>   filenames unchanged. If the browser adds `(1)`, remove that suffix from your</a:t>
            </a:r>
          </a:p>
          <a:p>
            <a:r>
              <a:t>   chosen copy. Do not upload partial `.crdownload` files.</a:t>
            </a:r>
          </a:p>
          <a:p/>
          <a:p>
            <a:r>
              <a:t>Allow approximately **685 MB** for the TIFF download and the same amount for</a:t>
            </a:r>
          </a:p>
          <a:p>
            <a:r>
              <a:t>upload. Keep at least 1 GB free locally. The imagery is not bundled in the ZIP.</a:t>
            </a:r>
          </a:p>
          <a:p>
            <a:r>
              <a:t>No local Python, Azure key, Foundry account or software installation is needed.</a:t>
            </a:r>
          </a:p>
          <a:p/>
          <a:p>
            <a:r>
              <a:t>![The download handout has one metadata download and five original-band downloads.](images/training/manual-download/18-manual-03-download.png)</a:t>
            </a:r>
          </a:p>
          <a:p/>
          <a:p>
            <a:r>
              <a:t>The supplied scene is acquired **June 29, 2026**, tile **19TFM**, native</a:t>
            </a:r>
          </a:p>
          <a:p>
            <a:r>
              <a:t>**EPSG:32619**. Its scene-wide cloud cover is about **0.01%**. It intersects the</a:t>
            </a:r>
          </a:p>
          <a:p>
            <a:r>
              <a:t>supplied New Brunswick area and falls within the June-August analysis window.</a:t>
            </a:r>
          </a:p>
          <a:p/>
          <a:p>
            <a:r>
              <a:t>| Required file | Size, approximately | Purpose |</a:t>
            </a:r>
          </a:p>
          <a:p>
            <a:r>
              <a:t>|---|---|---|</a:t>
            </a:r>
          </a:p>
          <a:p>
            <a:r>
              <a:t>| `item.json` | 22 KB | Scene ID, acquisition time, projection and original asset metadata |</a:t>
            </a:r>
          </a:p>
          <a:p>
            <a:r>
              <a:t>| `T19TFM_20260629T152621_B04_10m.tif` | 245.9 MB | Red |</a:t>
            </a:r>
          </a:p>
          <a:p>
            <a:r>
              <a:t>| `T19TFM_20260629T152621_B08_10m.tif` | 296.0 MB | Near infrared |</a:t>
            </a:r>
          </a:p>
          <a:p>
            <a:r>
              <a:t>| `T19TFM_20260629T152621_B11_20m.tif` | 72.5 MB | Shortwave infrared |</a:t>
            </a:r>
          </a:p>
          <a:p>
            <a:r>
              <a:t>| `T19TFM_20260629T152621_B12_20m.tif` | 69.9 MB | Shortwave infrared |</a:t>
            </a:r>
          </a:p>
          <a:p>
            <a:r>
              <a:t>| `T19TFM_20260629T152621_SCL_20m.tif` | 0.8 MB | Cloud, shadow, snow and nodata classes |</a:t>
            </a:r>
          </a:p>
          <a:p/>
          <a:p>
            <a:r>
              <a:t>&gt; [!IMPORTANT]</a:t>
            </a:r>
          </a:p>
          <a:p>
            <a:r>
              <a:t>&gt; A screenshot, JPG, PNG, rendered preview or RGB-only image cannot substitute</a:t>
            </a:r>
          </a:p>
          <a:p>
            <a:r>
              <a:t>&gt; for these scientific bands. Do not resize, crop, recolour or combine the TIFFs.</a:t>
            </a:r>
          </a:p>
          <a:p>
            <a:r>
              <a:t>&gt; A single Sentinel-2 scene consists of several band files; all five are required.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docs/17-manual-imagery-download.md</a:t>
            </a:r>
          </a:p>
          <a:p>
            <a:r>
              <a:t>Capture: images/training/manual-download/18-manual-04-upload-menu.png</a:t>
            </a:r>
          </a:p>
          <a:p/>
          <a:p>
            <a:r>
              <a:t>### Upload Into Your Lakehouse</a:t>
            </a:r>
          </a:p>
          <a:p/>
          <a:p>
            <a:r>
              <a:t>1. Open your own lakehouse in Fabric, for example `lh_woodlands_demo`.</a:t>
            </a:r>
          </a:p>
          <a:p>
            <a:r>
              <a:t>2. Under **Files**, create and open these nested folders:</a:t>
            </a:r>
          </a:p>
          <a:p>
            <a:r>
              <a:t>   `bronze` &gt; `manual` &gt; `central-nb-block-a` &gt; `scene`.</a:t>
            </a:r>
          </a:p>
          <a:p>
            <a:r>
              <a:t>3. Select the **scene** folder name to open its file list. Open that folder's</a:t>
            </a:r>
          </a:p>
          <a:p>
            <a:r>
              <a:t>   **More options** (`...`) menu, then **Upload** &gt; **Upload files**.</a:t>
            </a:r>
          </a:p>
          <a:p>
            <a:r>
              <a:t>4. Add `item.json` and all five TIFFs. Select **Upload** and wait for each transfer</a:t>
            </a:r>
          </a:p>
          <a:p>
            <a:r>
              <a:t>   to finish. Refresh the folder and verify all six filenames and nonzero sizes.</a:t>
            </a:r>
          </a:p>
          <a:p>
            <a:r>
              <a:t>5. Keep them in **Files**. Do not choose **Load to Tables** for raster files.</a:t>
            </a:r>
          </a:p>
          <a:p/>
          <a:p>
            <a:r>
              <a:t>![Open the scene folder menu, then Upload and Upload files.](images/training/manual-download/18-manual-04-upload-menu.png)</a:t>
            </a:r>
          </a:p>
          <a:p/>
          <a:p>
            <a:r>
              <a:t>![The verified lakehouse folder contains five original TIFFs and item.json.](images/training/manual-download/18-manual-05-uploaded.png)</a:t>
            </a:r>
          </a:p>
          <a:p/>
          <a:p>
            <a:r>
              <a:t>The screenshots use the isolated verification lakehouse</a:t>
            </a:r>
          </a:p>
          <a:p>
            <a:r>
              <a:t>`lh_woodlands_download_demo`; use your own learner lakehouse. Fabric can display</a:t>
            </a:r>
          </a:p>
          <a:p>
            <a:r>
              <a:t>binary file sizes under an MB label, so its displayed sizes can be smaller than</a:t>
            </a:r>
          </a:p>
          <a:p>
            <a:r>
              <a:t>the decimal MB values in the download table.</a:t>
            </a:r>
          </a:p>
          <a:p/>
          <a:p>
            <a:r>
              <a:t>The resulting layout must be:</a:t>
            </a:r>
          </a:p>
          <a:p/>
          <a:p>
            <a:r>
              <a:t>```text</a:t>
            </a:r>
          </a:p>
          <a:p>
            <a:r>
              <a:t>Files/</a:t>
            </a:r>
          </a:p>
          <a:p>
            <a:r>
              <a:t>  bronze/</a:t>
            </a:r>
          </a:p>
          <a:p>
            <a:r>
              <a:t>    manual/</a:t>
            </a:r>
          </a:p>
          <a:p>
            <a:r>
              <a:t>      central-nb-block-a/</a:t>
            </a:r>
          </a:p>
          <a:p>
            <a:r>
              <a:t>        scene/</a:t>
            </a:r>
          </a:p>
          <a:p>
            <a:r>
              <a:t>          item.json</a:t>
            </a:r>
          </a:p>
          <a:p>
            <a:r>
              <a:t>          T19TFM_20260629T152621_B04_10m.tif</a:t>
            </a:r>
          </a:p>
          <a:p>
            <a:r>
              <a:t>          T19TFM_20260629T152621_B08_10m.tif</a:t>
            </a:r>
          </a:p>
          <a:p>
            <a:r>
              <a:t>          T19TFM_20260629T152621_B11_20m.tif</a:t>
            </a:r>
          </a:p>
          <a:p>
            <a:r>
              <a:t>          T19TFM_20260629T152621_B12_20m.tif</a:t>
            </a:r>
          </a:p>
          <a:p>
            <a:r>
              <a:t>          T19TFM_20260629T152621_SCL_20m.tif</a:t>
            </a:r>
          </a:p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docs/17-manual-imagery-download.md</a:t>
            </a:r>
          </a:p>
          <a:p>
            <a:r>
              <a:t>Capture: images/training/manual-download/18-manual-05-uploaded.png</a:t>
            </a:r>
          </a:p>
          <a:p/>
          <a:p>
            <a:r>
              <a:t>### Upload Into Your Lakehouse</a:t>
            </a:r>
          </a:p>
          <a:p/>
          <a:p>
            <a:r>
              <a:t>1. Open your own lakehouse in Fabric, for example `lh_woodlands_demo`.</a:t>
            </a:r>
          </a:p>
          <a:p>
            <a:r>
              <a:t>2. Under **Files**, create and open these nested folders:</a:t>
            </a:r>
          </a:p>
          <a:p>
            <a:r>
              <a:t>   `bronze` &gt; `manual` &gt; `central-nb-block-a` &gt; `scene`.</a:t>
            </a:r>
          </a:p>
          <a:p>
            <a:r>
              <a:t>3. Select the **scene** folder name to open its file list. Open that folder's</a:t>
            </a:r>
          </a:p>
          <a:p>
            <a:r>
              <a:t>   **More options** (`...`) menu, then **Upload** &gt; **Upload files**.</a:t>
            </a:r>
          </a:p>
          <a:p>
            <a:r>
              <a:t>4. Add `item.json` and all five TIFFs. Select **Upload** and wait for each transfer</a:t>
            </a:r>
          </a:p>
          <a:p>
            <a:r>
              <a:t>   to finish. Refresh the folder and verify all six filenames and nonzero sizes.</a:t>
            </a:r>
          </a:p>
          <a:p>
            <a:r>
              <a:t>5. Keep them in **Files**. Do not choose **Load to Tables** for raster files.</a:t>
            </a:r>
          </a:p>
          <a:p/>
          <a:p>
            <a:r>
              <a:t>![Open the scene folder menu, then Upload and Upload files.](images/training/manual-download/18-manual-04-upload-menu.png)</a:t>
            </a:r>
          </a:p>
          <a:p/>
          <a:p>
            <a:r>
              <a:t>![The verified lakehouse folder contains five original TIFFs and item.json.](images/training/manual-download/18-manual-05-uploaded.png)</a:t>
            </a:r>
          </a:p>
          <a:p/>
          <a:p>
            <a:r>
              <a:t>The screenshots use the isolated verification lakehouse</a:t>
            </a:r>
          </a:p>
          <a:p>
            <a:r>
              <a:t>`lh_woodlands_download_demo`; use your own learner lakehouse. Fabric can display</a:t>
            </a:r>
          </a:p>
          <a:p>
            <a:r>
              <a:t>binary file sizes under an MB label, so its displayed sizes can be smaller than</a:t>
            </a:r>
          </a:p>
          <a:p>
            <a:r>
              <a:t>the decimal MB values in the download table.</a:t>
            </a:r>
          </a:p>
          <a:p/>
          <a:p>
            <a:r>
              <a:t>The resulting layout must be:</a:t>
            </a:r>
          </a:p>
          <a:p/>
          <a:p>
            <a:r>
              <a:t>```text</a:t>
            </a:r>
          </a:p>
          <a:p>
            <a:r>
              <a:t>Files/</a:t>
            </a:r>
          </a:p>
          <a:p>
            <a:r>
              <a:t>  bronze/</a:t>
            </a:r>
          </a:p>
          <a:p>
            <a:r>
              <a:t>    manual/</a:t>
            </a:r>
          </a:p>
          <a:p>
            <a:r>
              <a:t>      central-nb-block-a/</a:t>
            </a:r>
          </a:p>
          <a:p>
            <a:r>
              <a:t>        scene/</a:t>
            </a:r>
          </a:p>
          <a:p>
            <a:r>
              <a:t>          item.json</a:t>
            </a:r>
          </a:p>
          <a:p>
            <a:r>
              <a:t>          T19TFM_20260629T152621_B04_10m.tif</a:t>
            </a:r>
          </a:p>
          <a:p>
            <a:r>
              <a:t>          T19TFM_20260629T152621_B08_10m.tif</a:t>
            </a:r>
          </a:p>
          <a:p>
            <a:r>
              <a:t>          T19TFM_20260629T152621_B11_20m.tif</a:t>
            </a:r>
          </a:p>
          <a:p>
            <a:r>
              <a:t>          T19TFM_20260629T152621_B12_20m.tif</a:t>
            </a:r>
          </a:p>
          <a:p>
            <a:r>
              <a:t>          T19TFM_20260629T152621_SCL_20m.tif</a:t>
            </a:r>
          </a:p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hand-in checklist in the student handout. A scheduler success is not enough: inspect validations and durable data. Do not pause the shared capacity or grant external access.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Relationship Id="rId3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Relationship Id="rId3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7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200" b="1" i="0">
                <a:solidFill>
                  <a:srgbClr val="3FC17E"/>
                </a:solidFill>
                <a:latin typeface="Segoe UI"/>
              </a:defRPr>
            </a:pPr>
            <a:r>
              <a:t>WOODLANDS | FABRIC-FIRST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7899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4400" b="1" i="0">
                <a:solidFill>
                  <a:srgbClr val="F1F5F3"/>
                </a:solidFill>
                <a:latin typeface="Segoe UI"/>
              </a:defRPr>
            </a:pPr>
            <a:r>
              <a:t>Woodlands in Fabric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1460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300" b="0" i="0">
                <a:solidFill>
                  <a:srgbClr val="F1F5F3"/>
                </a:solidFill>
                <a:latin typeface="Segoe UI"/>
              </a:defRPr>
            </a:pPr>
            <a:r>
              <a:t>Student notebooks. Your lakehouse. A native Map and data agent.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3703320"/>
            <a:ext cx="365760" cy="365760"/>
          </a:xfrm>
          <a:prstGeom prst="ellipse">
            <a:avLst/>
          </a:prstGeom>
          <a:solidFill>
            <a:srgbClr val="3FC1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0D1714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675887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100" b="1" i="0">
                <a:solidFill>
                  <a:srgbClr val="F1F5F3"/>
                </a:solidFill>
                <a:latin typeface="Segoe UI"/>
              </a:defRPr>
            </a:pPr>
            <a:r>
              <a:t>Prepare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3685032"/>
            <a:ext cx="8138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700" b="0" i="0">
                <a:solidFill>
                  <a:srgbClr val="9CAFA8"/>
                </a:solidFill>
                <a:latin typeface="Segoe UI"/>
              </a:defRPr>
            </a:pPr>
            <a:r>
              <a:t>Upload six notebooks, then create and attach your lakehouse.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4389120"/>
            <a:ext cx="365760" cy="365760"/>
          </a:xfrm>
          <a:prstGeom prst="ellipse">
            <a:avLst/>
          </a:prstGeom>
          <a:solidFill>
            <a:srgbClr val="3FC1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0D1714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4361688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100" b="1" i="0">
                <a:solidFill>
                  <a:srgbClr val="F1F5F3"/>
                </a:solidFill>
                <a:latin typeface="Segoe UI"/>
              </a:defRPr>
            </a:pPr>
            <a:r>
              <a:t>Process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4370832"/>
            <a:ext cx="8138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700" b="0" i="0">
                <a:solidFill>
                  <a:srgbClr val="9CAFA8"/>
                </a:solidFill>
                <a:latin typeface="Segoe UI"/>
              </a:defRPr>
            </a:pPr>
            <a:r>
              <a:t>Download Planetary Computer imagery in Fabric; complete each lab.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5074920"/>
            <a:ext cx="365760" cy="365760"/>
          </a:xfrm>
          <a:prstGeom prst="ellipse">
            <a:avLst/>
          </a:prstGeom>
          <a:solidFill>
            <a:srgbClr val="3FC1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0D1714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5047488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100" b="1" i="0">
                <a:solidFill>
                  <a:srgbClr val="F1F5F3"/>
                </a:solidFill>
                <a:latin typeface="Segoe UI"/>
              </a:defRPr>
            </a:pPr>
            <a:r>
              <a:t>Inspect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5056632"/>
            <a:ext cx="8138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700" b="0" i="0">
                <a:solidFill>
                  <a:srgbClr val="9CAFA8"/>
                </a:solidFill>
                <a:latin typeface="Segoe UI"/>
              </a:defRPr>
            </a:pPr>
            <a:r>
              <a:t>Build the Map and test the agent against Gold SQL results.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345936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0" i="0">
                <a:solidFill>
                  <a:srgbClr val="3FC17E"/>
                </a:solidFill>
                <a:latin typeface="Segoe UI"/>
              </a:defRPr>
            </a:pPr>
            <a:r>
              <a:t>Fabric downloads first | Manual upload fallback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FACILITATOR 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Name the shared training workspace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4033" y="1261872"/>
            <a:ext cx="5223627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Use fabric-training-manual for this rehearsal.</a:t>
            </a:r>
          </a:p>
        </p:txBody>
      </p:sp>
      <p:sp>
        <p:nvSpPr>
          <p:cNvPr id="7" name="Oval 6"/>
          <p:cNvSpPr/>
          <p:nvPr/>
        </p:nvSpPr>
        <p:spPr>
          <a:xfrm>
            <a:off x="6240780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3116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Open Advanced, then choose the approved Fabric capacity.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Browser workshop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2 / 52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FACILITATOR 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Use the existing F64 capacity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9635" y="1261872"/>
            <a:ext cx="7972425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Select rayfintestenv - West US 2, not a trial or another capacity.</a:t>
            </a:r>
          </a:p>
        </p:txBody>
      </p:sp>
      <p:sp>
        <p:nvSpPr>
          <p:cNvPr id="7" name="Oval 6"/>
          <p:cNvSpPr/>
          <p:nvPr/>
        </p:nvSpPr>
        <p:spPr>
          <a:xfrm>
            <a:off x="6240780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3116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Apply creates the workspace with this assignment.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Browser workshop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3 / 52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FACILITATOR 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Keep the workshop on Runtime 1.3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43" y="1261872"/>
            <a:ext cx="9753207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10707624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Check 1.3 (Spark 3.5, Delta 3.2). Do not substitute a different major runtime.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Browser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4 / 52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FACILITATOR 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Check Full mode and save the 14-library definition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9158" y="1261872"/>
            <a:ext cx="9073378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Use YML editor view to paste the supplied Environment definition.</a:t>
            </a:r>
          </a:p>
        </p:txBody>
      </p:sp>
      <p:sp>
        <p:nvSpPr>
          <p:cNvPr id="7" name="Oval 6"/>
          <p:cNvSpPr/>
          <p:nvPr/>
        </p:nvSpPr>
        <p:spPr>
          <a:xfrm>
            <a:off x="4340351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2688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Use Full mode. Scroll the library list to inspect all 14 entries.</a:t>
            </a:r>
          </a:p>
        </p:txBody>
      </p:sp>
      <p:sp>
        <p:nvSpPr>
          <p:cNvPr id="9" name="Oval 8"/>
          <p:cNvSpPr/>
          <p:nvPr/>
        </p:nvSpPr>
        <p:spPr>
          <a:xfrm>
            <a:off x="8141207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3543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Save and confirm. Then Home &gt; Publish &gt; Publish all &gt; Publish.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Browser workshop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5 / 52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FACILITATOR 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Wait for successful publication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7112" y="1261872"/>
            <a:ext cx="4057469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All 14 library rows must report Success. Saving alone is not publication.</a:t>
            </a:r>
          </a:p>
        </p:txBody>
      </p:sp>
      <p:sp>
        <p:nvSpPr>
          <p:cNvPr id="7" name="Oval 6"/>
          <p:cNvSpPr/>
          <p:nvPr/>
        </p:nvSpPr>
        <p:spPr>
          <a:xfrm>
            <a:off x="6240780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3116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Runtime stays at 1.3. The notebooks can now attach this Environment.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Browser workshop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6 / 52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STUDENT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Create your learner folder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867" y="1375698"/>
            <a:ext cx="11109960" cy="4024306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Replace demo with your learner or pair suffix.</a:t>
            </a:r>
          </a:p>
        </p:txBody>
      </p:sp>
      <p:sp>
        <p:nvSpPr>
          <p:cNvPr id="7" name="Oval 6"/>
          <p:cNvSpPr/>
          <p:nvPr/>
        </p:nvSpPr>
        <p:spPr>
          <a:xfrm>
            <a:off x="6240780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3116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Create the folder, then open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Browser workshop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7 / 52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STUDENT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Import the student notebooks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867" y="1631027"/>
            <a:ext cx="11109960" cy="3513649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Select Import, then Notebook.</a:t>
            </a:r>
          </a:p>
        </p:txBody>
      </p:sp>
      <p:sp>
        <p:nvSpPr>
          <p:cNvPr id="7" name="Oval 6"/>
          <p:cNvSpPr/>
          <p:nvPr/>
        </p:nvSpPr>
        <p:spPr>
          <a:xfrm>
            <a:off x="6240780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3116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Choose From this computer.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Browser workshop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8 / 52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STUDENT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Open the notebook upload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0956" y="1261872"/>
            <a:ext cx="6029782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10707624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Choose Upload to select your STUDENT notebook files.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Browser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9 / 52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STUDENT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Check the import completed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702" y="1261872"/>
            <a:ext cx="9346289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10707624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Look for Imported successfully. Do not upload again if it already succeeded.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Browser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10 / 52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STUDENT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Verify the six student notebooks before creating the lakehouse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3899" y="1261872"/>
            <a:ext cx="5183896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Start with Lab 00. Work through the numbered notebooks in order.</a:t>
            </a:r>
          </a:p>
        </p:txBody>
      </p:sp>
      <p:sp>
        <p:nvSpPr>
          <p:cNvPr id="7" name="Oval 6"/>
          <p:cNvSpPr/>
          <p:nvPr/>
        </p:nvSpPr>
        <p:spPr>
          <a:xfrm>
            <a:off x="6240780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3116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Lab 05 must also be present. Keep solution files in a separate folder.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Browser workshop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11 / 52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STUDENT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Create your own schema-enabled lakehouse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8240" y="1261872"/>
            <a:ext cx="8175214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Name it lh_woodlands_&lt;your suffix&gt;. The rehearsal uses demo.</a:t>
            </a:r>
          </a:p>
        </p:txBody>
      </p:sp>
      <p:sp>
        <p:nvSpPr>
          <p:cNvPr id="7" name="Oval 6"/>
          <p:cNvSpPr/>
          <p:nvPr/>
        </p:nvSpPr>
        <p:spPr>
          <a:xfrm>
            <a:off x="4340351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2688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Leave Lakehouse schemas checked.</a:t>
            </a:r>
          </a:p>
        </p:txBody>
      </p:sp>
      <p:sp>
        <p:nvSpPr>
          <p:cNvPr id="9" name="Oval 8"/>
          <p:cNvSpPr/>
          <p:nvPr/>
        </p:nvSpPr>
        <p:spPr>
          <a:xfrm>
            <a:off x="8141207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3543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Select Create and wait for the lakehouse to open.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Browser workshop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12 / 52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STUDENT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Check the new lakehouse is empty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1180" y="1261872"/>
            <a:ext cx="5169334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Tables contains the default dbo schema. The notebooks will populate it.</a:t>
            </a:r>
          </a:p>
        </p:txBody>
      </p:sp>
      <p:sp>
        <p:nvSpPr>
          <p:cNvPr id="7" name="Oval 6"/>
          <p:cNvSpPr/>
          <p:nvPr/>
        </p:nvSpPr>
        <p:spPr>
          <a:xfrm>
            <a:off x="6240780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3116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Files will hold imagery caches and the GeoJSON map export.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Browser workshop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13 / 52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STUDENT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Choose the Environment from the correct workspace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7907" y="1261872"/>
            <a:ext cx="7495879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Select env_forestops.</a:t>
            </a:r>
          </a:p>
        </p:txBody>
      </p:sp>
      <p:sp>
        <p:nvSpPr>
          <p:cNvPr id="7" name="Oval 6"/>
          <p:cNvSpPr/>
          <p:nvPr/>
        </p:nvSpPr>
        <p:spPr>
          <a:xfrm>
            <a:off x="4340351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2688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Verify Location is fabric-training-manual, not one of the reference workspaces.</a:t>
            </a:r>
          </a:p>
        </p:txBody>
      </p:sp>
      <p:sp>
        <p:nvSpPr>
          <p:cNvPr id="9" name="Oval 8"/>
          <p:cNvSpPr/>
          <p:nvPr/>
        </p:nvSpPr>
        <p:spPr>
          <a:xfrm>
            <a:off x="8141207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3543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Confirm, then repeat the attachment for every notebook.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Browser workshop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14 / 52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STUDENT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Attach the Lakehouse item, not the SQL endpoint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8341" y="1261872"/>
            <a:ext cx="8035012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Choose the Lakehouse icon in the first row. The second row is the SQL endpoint.</a:t>
            </a:r>
          </a:p>
        </p:txBody>
      </p:sp>
      <p:sp>
        <p:nvSpPr>
          <p:cNvPr id="7" name="Oval 6"/>
          <p:cNvSpPr/>
          <p:nvPr/>
        </p:nvSpPr>
        <p:spPr>
          <a:xfrm>
            <a:off x="4340351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2688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Check your lakehouse name and its workspace before adding it.</a:t>
            </a:r>
          </a:p>
        </p:txBody>
      </p:sp>
      <p:sp>
        <p:nvSpPr>
          <p:cNvPr id="9" name="Oval 8"/>
          <p:cNvSpPr/>
          <p:nvPr/>
        </p:nvSpPr>
        <p:spPr>
          <a:xfrm>
            <a:off x="8141207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3543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Select Add. Never attach another learner's lakehouse.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Browser workshop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15 / 52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STUDENT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Check the three notebook attachments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9337" y="1261872"/>
            <a:ext cx="9813020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Language: PySpark (Python).</a:t>
            </a:r>
          </a:p>
        </p:txBody>
      </p:sp>
      <p:sp>
        <p:nvSpPr>
          <p:cNvPr id="7" name="Oval 6"/>
          <p:cNvSpPr/>
          <p:nvPr/>
        </p:nvSpPr>
        <p:spPr>
          <a:xfrm>
            <a:off x="4340351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2688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Environment: env_forestops from this workspace.</a:t>
            </a:r>
          </a:p>
        </p:txBody>
      </p:sp>
      <p:sp>
        <p:nvSpPr>
          <p:cNvPr id="9" name="Oval 8"/>
          <p:cNvSpPr/>
          <p:nvPr/>
        </p:nvSpPr>
        <p:spPr>
          <a:xfrm>
            <a:off x="8141207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3543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Your lakehouse has the default pin. Repeat for all six notebooks.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Browser workshop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16 / 52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STUDENT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Explicitly set your default lakehouse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867" y="1393560"/>
            <a:ext cx="11109960" cy="3988582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Open the lakehouse's More options menu and choose Set as default lakehouse.</a:t>
            </a:r>
          </a:p>
        </p:txBody>
      </p:sp>
      <p:sp>
        <p:nvSpPr>
          <p:cNvPr id="7" name="Oval 6"/>
          <p:cNvSpPr/>
          <p:nvPr/>
        </p:nvSpPr>
        <p:spPr>
          <a:xfrm>
            <a:off x="6240780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3116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Wait for saving, reopen the notebook, and confirm your lakehouse is still attached.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Browser workshop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17 / 52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STUDENT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Complete the exercise, then run and validate that cell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8410" y="1261872"/>
            <a:ext cx="8494873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Replace the numbered TODOs with your code; keep validation cells intact.</a:t>
            </a:r>
          </a:p>
        </p:txBody>
      </p:sp>
      <p:sp>
        <p:nvSpPr>
          <p:cNvPr id="7" name="Oval 6"/>
          <p:cNvSpPr/>
          <p:nvPr/>
        </p:nvSpPr>
        <p:spPr>
          <a:xfrm>
            <a:off x="6240780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3116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Select Run cell. Wait for completion and check for PASS before continuing.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Browser workshop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18 / 52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COMPLETE LABS 00-05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Lab 00: check the printed configuration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6012" y="1261872"/>
            <a:ext cx="8659669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Use EPSG:2953 for analysis and synthetic_stands: true for the workshop.</a:t>
            </a:r>
          </a:p>
        </p:txBody>
      </p:sp>
      <p:sp>
        <p:nvSpPr>
          <p:cNvPr id="7" name="Oval 6"/>
          <p:cNvSpPr/>
          <p:nvPr/>
        </p:nvSpPr>
        <p:spPr>
          <a:xfrm>
            <a:off x="6240780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3116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The workspace and lakehouse labels must match your own setup.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Browser workshop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19 / 52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COMPLETE LABS 00-05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Lab 00 checkpoint: all stand centroids are inside the area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867" y="1713188"/>
            <a:ext cx="11109960" cy="3349326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Confirm 120/120 inside, with PASS. A completed cell can still print FAIL.</a:t>
            </a:r>
          </a:p>
        </p:txBody>
      </p:sp>
      <p:sp>
        <p:nvSpPr>
          <p:cNvPr id="7" name="Oval 6"/>
          <p:cNvSpPr/>
          <p:nvPr/>
        </p:nvSpPr>
        <p:spPr>
          <a:xfrm>
            <a:off x="6240780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3116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The bronze_stand_register table now contains the display centroids.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Browser workshop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20 / 52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COMPLETE LABS 00-05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Lab 01: Download Planetary Computer imagery in Fabric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867" y="1928743"/>
            <a:ext cx="11109959" cy="2918216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The automatic route found six scenes here. The supplied manual route uses one.</a:t>
            </a:r>
          </a:p>
        </p:txBody>
      </p:sp>
      <p:sp>
        <p:nvSpPr>
          <p:cNvPr id="7" name="Oval 6"/>
          <p:cNvSpPr/>
          <p:nvPr/>
        </p:nvSpPr>
        <p:spPr>
          <a:xfrm>
            <a:off x="4340351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2688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Persist unsigned source URLs, never temporary SAS tokens.</a:t>
            </a:r>
          </a:p>
        </p:txBody>
      </p:sp>
      <p:sp>
        <p:nvSpPr>
          <p:cNvPr id="9" name="Oval 8"/>
          <p:cNvSpPr/>
          <p:nvPr/>
        </p:nvSpPr>
        <p:spPr>
          <a:xfrm>
            <a:off x="8141207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3543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The stored native projection is EPSG:32619. Keep it for reprojection.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Browser workshop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21 / 52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COMPLETE LABS 00-05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Lab 02 checkpoint: the Silver quality gate must be open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867" y="1309635"/>
            <a:ext cx="11109960" cy="4156432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This rehearsal has 119 trusted stands out of 120. Coverage can vary by imagery.</a:t>
            </a:r>
          </a:p>
        </p:txBody>
      </p:sp>
      <p:sp>
        <p:nvSpPr>
          <p:cNvPr id="7" name="Oval 6"/>
          <p:cNvSpPr/>
          <p:nvPr/>
        </p:nvSpPr>
        <p:spPr>
          <a:xfrm>
            <a:off x="6240780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3116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Continue only with Gate open and every validation marked PASS.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Browser workshop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22 / 52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COMPLETE LABS 00-05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Lab 03 checkpoint: classifications and review flags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6272" y="1261872"/>
            <a:ext cx="6759150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Compare only the retained stands: 119 in this rehearsal.</a:t>
            </a:r>
          </a:p>
        </p:txBody>
      </p:sp>
      <p:sp>
        <p:nvSpPr>
          <p:cNvPr id="7" name="Oval 6"/>
          <p:cNvSpPr/>
          <p:nvPr/>
        </p:nvSpPr>
        <p:spPr>
          <a:xfrm>
            <a:off x="6240780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3116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The review queue has 13 stands. The demonstration uses a simulated prior period.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Browser workshop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23 / 52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COMPLETE LABS 00-05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Lab 04 checkpoint: recognize offline demonstration narratives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3707" y="1261872"/>
            <a:ext cx="5864280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The rehearsal wrote 40 narratives, not one narrative for every stand.</a:t>
            </a:r>
          </a:p>
        </p:txBody>
      </p:sp>
      <p:sp>
        <p:nvSpPr>
          <p:cNvPr id="7" name="Oval 6"/>
          <p:cNvSpPr/>
          <p:nvPr/>
        </p:nvSpPr>
        <p:spPr>
          <a:xfrm>
            <a:off x="4340351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2688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offline-stub is deliberate. These are not live model responses.</a:t>
            </a:r>
          </a:p>
        </p:txBody>
      </p:sp>
      <p:sp>
        <p:nvSpPr>
          <p:cNvPr id="9" name="Oval 8"/>
          <p:cNvSpPr/>
          <p:nvPr/>
        </p:nvSpPr>
        <p:spPr>
          <a:xfrm>
            <a:off x="8141207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3543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Check zero failed rows and keep the validation guard enabled.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Browser workshop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24 / 52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COMPLETE LABS 00-05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Lab 05 checkpoint: verify the four Gold tables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9115" y="1261872"/>
            <a:ext cx="9873465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119 retained facts differ from the full 120-stand register. Keep both counts.</a:t>
            </a:r>
          </a:p>
        </p:txBody>
      </p:sp>
      <p:sp>
        <p:nvSpPr>
          <p:cNvPr id="7" name="Oval 6"/>
          <p:cNvSpPr/>
          <p:nvPr/>
        </p:nvSpPr>
        <p:spPr>
          <a:xfrm>
            <a:off x="6240780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3116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The date and class dimensions are also written to your learner lakehouse.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Browser workshop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25 / 52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COMPLETE LABS 00-05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Lab 05: check the GeoJSON export readback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071" y="1261872"/>
            <a:ext cx="9707551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Use Files/gold/maps/stand_classification.geojson as the native Map layer.</a:t>
            </a:r>
          </a:p>
        </p:txBody>
      </p:sp>
      <p:sp>
        <p:nvSpPr>
          <p:cNvPr id="7" name="Oval 6"/>
          <p:cNvSpPr/>
          <p:nvPr/>
        </p:nvSpPr>
        <p:spPr>
          <a:xfrm>
            <a:off x="4340351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2688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Check 120 registered features, 119 retained results and one missing result.</a:t>
            </a:r>
          </a:p>
        </p:txBody>
      </p:sp>
      <p:sp>
        <p:nvSpPr>
          <p:cNvPr id="9" name="Oval 8"/>
          <p:cNvSpPr/>
          <p:nvPr/>
        </p:nvSpPr>
        <p:spPr>
          <a:xfrm>
            <a:off x="8141207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3543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Readback must report PASS before you build the Map.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Browser workshop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26 / 52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CHECK THE GOLD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Independently check the period and register coverage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4698" y="1261872"/>
            <a:ext cx="7762299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Run the read-only coverage query after the Gold tables synchronize.</a:t>
            </a:r>
          </a:p>
        </p:txBody>
      </p:sp>
      <p:sp>
        <p:nvSpPr>
          <p:cNvPr id="7" name="Oval 6"/>
          <p:cNvSpPr/>
          <p:nvPr/>
        </p:nvSpPr>
        <p:spPr>
          <a:xfrm>
            <a:off x="6240780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3116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For 2026-08-31: 120 registered, 119 retained, one missing and 99.17%. Keep this SQL ground truth.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Browser workshop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27 / 52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BUILD THE NATIVE FABRIC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Create a native Fabric Map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9656" y="1261872"/>
            <a:ext cx="9332382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Use map_woodlands_&lt;your suffix&gt; in your learner folder.</a:t>
            </a:r>
          </a:p>
        </p:txBody>
      </p:sp>
      <p:sp>
        <p:nvSpPr>
          <p:cNvPr id="7" name="Oval 6"/>
          <p:cNvSpPr/>
          <p:nvPr/>
        </p:nvSpPr>
        <p:spPr>
          <a:xfrm>
            <a:off x="6240780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3116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Create the Map item. This is not a Power BI map visual.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Browser workshop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28 / 52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BUILD THE NATIVE FABRIC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Connect the Map to your own lakehouse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3259" y="1261872"/>
            <a:ext cx="7565175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Select lh_woodlands_demo, or your own suffixed Lakehouse.</a:t>
            </a:r>
          </a:p>
        </p:txBody>
      </p:sp>
      <p:sp>
        <p:nvSpPr>
          <p:cNvPr id="7" name="Oval 6"/>
          <p:cNvSpPr/>
          <p:nvPr/>
        </p:nvSpPr>
        <p:spPr>
          <a:xfrm>
            <a:off x="4340351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2688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Confirm Location is fabric-training-manual.</a:t>
            </a:r>
          </a:p>
        </p:txBody>
      </p:sp>
      <p:sp>
        <p:nvSpPr>
          <p:cNvPr id="9" name="Oval 8"/>
          <p:cNvSpPr/>
          <p:nvPr/>
        </p:nvSpPr>
        <p:spPr>
          <a:xfrm>
            <a:off x="8141207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3543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Select Add to connect the source.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Browser workshop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29 / 52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BUILD THE NATIVE FABRIC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Display the exported stand polygons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904" y="1261872"/>
            <a:ext cx="8777886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Select the maps folder, not only its expansion arrow, to open the file pane.</a:t>
            </a:r>
          </a:p>
        </p:txBody>
      </p:sp>
      <p:sp>
        <p:nvSpPr>
          <p:cNvPr id="7" name="Oval 6"/>
          <p:cNvSpPr/>
          <p:nvPr/>
        </p:nvSpPr>
        <p:spPr>
          <a:xfrm>
            <a:off x="6240780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3116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Open the GeoJSON file's More options menu and select Show on map.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Browser workshop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30 / 52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BUILD THE NATIVE FABRIC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Style the actual categories, including missing results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5331" y="1261872"/>
            <a:ext cx="6261032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Enable data-driven styling and Color by map_class, using Category.</a:t>
            </a:r>
          </a:p>
        </p:txBody>
      </p:sp>
      <p:sp>
        <p:nvSpPr>
          <p:cNvPr id="7" name="Oval 6"/>
          <p:cNvSpPr/>
          <p:nvPr/>
        </p:nvSpPr>
        <p:spPr>
          <a:xfrm>
            <a:off x="4340351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2688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Use gray #61717D for no_classified_result. It is not a healthy or unclassified stand.</a:t>
            </a:r>
          </a:p>
        </p:txBody>
      </p:sp>
      <p:sp>
        <p:nvSpPr>
          <p:cNvPr id="9" name="Oval 8"/>
          <p:cNvSpPr/>
          <p:nvPr/>
        </p:nvSpPr>
        <p:spPr>
          <a:xfrm>
            <a:off x="8141207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3543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Keep extrusion off and use 65% fill opacity for readable polygons.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Browser workshop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31 / 52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BUILD THE NATIVE FABRIC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Inspect the period, quality and synthetic provenance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2381" y="1261872"/>
            <a:ext cx="4326931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Hover a polygon and check its stand ID, reporting date, class and hectares.</a:t>
            </a:r>
          </a:p>
        </p:txBody>
      </p:sp>
      <p:sp>
        <p:nvSpPr>
          <p:cNvPr id="7" name="Oval 6"/>
          <p:cNvSpPr/>
          <p:nvPr/>
        </p:nvSpPr>
        <p:spPr>
          <a:xfrm>
            <a:off x="6240780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3116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Scroll inside the tooltip to inspect stand_source: synthetic. Collapse the legend if it overlaps.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Browser workshop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32 / 52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BUILD THE NATIVE FABRIC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Inspect stands with no retained classification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72" y="1261872"/>
            <a:ext cx="10704350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Filter coverage_status to no_classified_result. This rehearsal has one such stand.</a:t>
            </a:r>
          </a:p>
        </p:txBody>
      </p:sp>
      <p:sp>
        <p:nvSpPr>
          <p:cNvPr id="7" name="Oval 6"/>
          <p:cNvSpPr/>
          <p:nvPr/>
        </p:nvSpPr>
        <p:spPr>
          <a:xfrm>
            <a:off x="6240780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3116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Remove filters before saving the complete map.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Browser workshop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33 / 52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BUILD THE NATIVE FABRIC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Set the view learners will see when the Map opens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7265" y="1261872"/>
            <a:ext cx="4217164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After Zoom to fit, open Map settings.</a:t>
            </a:r>
          </a:p>
        </p:txBody>
      </p:sp>
      <p:sp>
        <p:nvSpPr>
          <p:cNvPr id="7" name="Oval 6"/>
          <p:cNvSpPr/>
          <p:nvPr/>
        </p:nvSpPr>
        <p:spPr>
          <a:xfrm>
            <a:off x="6240780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3116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Choose Set initial view, close the pane, then Save and wait for confirmation.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Browser workshop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34 / 52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BUILD THE NATIVE FABRIC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Reopen the saved Map and check all four categories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9180" y="1261872"/>
            <a:ext cx="3633334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The saved item opens in Viewing mode over the New Brunswick stands.</a:t>
            </a:r>
          </a:p>
        </p:txBody>
      </p:sp>
      <p:sp>
        <p:nvSpPr>
          <p:cNvPr id="7" name="Oval 6"/>
          <p:cNvSpPr/>
          <p:nvPr/>
        </p:nvSpPr>
        <p:spPr>
          <a:xfrm>
            <a:off x="6240780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3116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The gray missing-result polygon remains visible beside retained classifications.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Browser workshop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35 / 52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BUILD AND TEST THE FABRIC DATA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Create your native Fabric Data Agent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4860" y="1261872"/>
            <a:ext cx="6821973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Name it agent_woodlands_&lt;your suffix&gt; in your learner folder.</a:t>
            </a:r>
          </a:p>
        </p:txBody>
      </p:sp>
      <p:sp>
        <p:nvSpPr>
          <p:cNvPr id="7" name="Oval 6"/>
          <p:cNvSpPr/>
          <p:nvPr/>
        </p:nvSpPr>
        <p:spPr>
          <a:xfrm>
            <a:off x="6240780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3116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Create the item. No Azure OpenAI key is needed for this exercise.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Browser workshop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36 / 52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BUILD AND TEST THE FABRIC DATA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Add the learner lakehouse as the agent's data source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1791" y="1261872"/>
            <a:ext cx="7868112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Select your own lakehouse. Verify its workspace in the row details.</a:t>
            </a:r>
          </a:p>
        </p:txBody>
      </p:sp>
      <p:sp>
        <p:nvSpPr>
          <p:cNvPr id="7" name="Oval 6"/>
          <p:cNvSpPr/>
          <p:nvPr/>
        </p:nvSpPr>
        <p:spPr>
          <a:xfrm>
            <a:off x="6240780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3116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Select Add and wait for the source schema to load.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Browser workshop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37 / 52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BUILD AND TEST THE FABRIC DATA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Select only these four Gold tables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3331" y="1261872"/>
            <a:ext cx="3685032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2155698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gold_dim_date: reporting dates.</a:t>
            </a:r>
          </a:p>
        </p:txBody>
      </p:sp>
      <p:sp>
        <p:nvSpPr>
          <p:cNvPr id="7" name="Oval 6"/>
          <p:cNvSpPr/>
          <p:nvPr/>
        </p:nvSpPr>
        <p:spPr>
          <a:xfrm>
            <a:off x="3390138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2474" y="5650992"/>
            <a:ext cx="2155698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gold_dim_forest_class: class labels and definitions.</a:t>
            </a:r>
          </a:p>
        </p:txBody>
      </p:sp>
      <p:sp>
        <p:nvSpPr>
          <p:cNvPr id="9" name="Oval 8"/>
          <p:cNvSpPr/>
          <p:nvPr/>
        </p:nvSpPr>
        <p:spPr>
          <a:xfrm>
            <a:off x="6240780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43116" y="5650992"/>
            <a:ext cx="2155698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gold_dim_stand: the full stand register and coverage denominator.</a:t>
            </a:r>
          </a:p>
        </p:txBody>
      </p:sp>
      <p:sp>
        <p:nvSpPr>
          <p:cNvPr id="11" name="Oval 10"/>
          <p:cNvSpPr/>
          <p:nvPr/>
        </p:nvSpPr>
        <p:spPr>
          <a:xfrm>
            <a:off x="9091422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93758" y="5650992"/>
            <a:ext cx="2155698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gold_stand_facts: retained stand-period results. Leave the other tables unchecked.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Browser workshop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38 / 52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BUILD AND TEST THE FABRIC DATA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Save instructions that define grain, coverage and limitations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2660" y="1261872"/>
            <a:ext cx="2266374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Paste the complete instructions, replacing the starter text. Click the preview to save.</a:t>
            </a:r>
          </a:p>
        </p:txBody>
      </p:sp>
      <p:sp>
        <p:nvSpPr>
          <p:cNvPr id="7" name="Oval 6"/>
          <p:cNvSpPr/>
          <p:nvPr/>
        </p:nvSpPr>
        <p:spPr>
          <a:xfrm>
            <a:off x="4340351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2688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Coverage uses every registered stand, not only the retained facts.</a:t>
            </a:r>
          </a:p>
        </p:txBody>
      </p:sp>
      <p:sp>
        <p:nvSpPr>
          <p:cNvPr id="9" name="Oval 8"/>
          <p:cNvSpPr/>
          <p:nvPr/>
        </p:nvSpPr>
        <p:spPr>
          <a:xfrm>
            <a:off x="8141207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3543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Keep the simulated-baseline and offline-narrative limitations explicit.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Browser workshop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39 / 52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BUILD AND TEST THE FABRIC DATA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Add and validate the question/SQL pairs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8841" y="1261872"/>
            <a:ext cx="7954012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Enter the question, then let the portal finish saving before editing its SQL.</a:t>
            </a:r>
          </a:p>
        </p:txBody>
      </p:sp>
      <p:sp>
        <p:nvSpPr>
          <p:cNvPr id="7" name="Oval 6"/>
          <p:cNvSpPr/>
          <p:nvPr/>
        </p:nvSpPr>
        <p:spPr>
          <a:xfrm>
            <a:off x="4340351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2688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Replace the SQL placeholder. Click outside and wait for automatic validation.</a:t>
            </a:r>
          </a:p>
        </p:txBody>
      </p:sp>
      <p:sp>
        <p:nvSpPr>
          <p:cNvPr id="9" name="Oval 8"/>
          <p:cNvSpPr/>
          <p:nvPr/>
        </p:nvSpPr>
        <p:spPr>
          <a:xfrm>
            <a:off x="8141207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3543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Add all three examples. Reopen them and check that the saved queries match the handout.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Browser workshop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40 / 52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BUILD AND TEST THE FABRIC DATA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Check the full-register count against SQL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8739" y="1261872"/>
            <a:ext cx="5234216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The full register has 120 stands, including stands without a retained fact.</a:t>
            </a:r>
          </a:p>
        </p:txBody>
      </p:sp>
      <p:sp>
        <p:nvSpPr>
          <p:cNvPr id="7" name="Oval 6"/>
          <p:cNvSpPr/>
          <p:nvPr/>
        </p:nvSpPr>
        <p:spPr>
          <a:xfrm>
            <a:off x="6240780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3116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Expand completed steps to inspect the actual source, generated SQL and output.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Browser workshop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41 / 52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BUILD AND TEST THE FABRIC DATA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Require a date and whole-register coverage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3049" y="1261872"/>
            <a:ext cx="7385596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The reporting period must be an actual date: 2026-08-31 in this rehearsal.</a:t>
            </a:r>
          </a:p>
        </p:txBody>
      </p:sp>
      <p:sp>
        <p:nvSpPr>
          <p:cNvPr id="7" name="Oval 6"/>
          <p:cNvSpPr/>
          <p:nvPr/>
        </p:nvSpPr>
        <p:spPr>
          <a:xfrm>
            <a:off x="4340351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2688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119 out of 120 is 99.17%, not 100% of retained facts.</a:t>
            </a:r>
          </a:p>
        </p:txBody>
      </p:sp>
      <p:sp>
        <p:nvSpPr>
          <p:cNvPr id="9" name="Oval 8"/>
          <p:cNvSpPr/>
          <p:nvPr/>
        </p:nvSpPr>
        <p:spPr>
          <a:xfrm>
            <a:off x="8141207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3543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Inspect the generated SQL and compare it with your independent endpoint query.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Browser workshop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42 / 52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BUILD AND TEST THE FABRIC DATA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Verify the review queue and its limitations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2801" y="1261872"/>
            <a:ext cx="4386091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Expand response, then open Steps completed to inspect SQL and source output.</a:t>
            </a:r>
          </a:p>
        </p:txBody>
      </p:sp>
      <p:sp>
        <p:nvSpPr>
          <p:cNvPr id="7" name="Oval 6"/>
          <p:cNvSpPr/>
          <p:nvPr/>
        </p:nvSpPr>
        <p:spPr>
          <a:xfrm>
            <a:off x="4340351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2688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All 13 stand IDs and hectare values match the independently executed SQL.</a:t>
            </a:r>
          </a:p>
        </p:txBody>
      </p:sp>
      <p:sp>
        <p:nvSpPr>
          <p:cNvPr id="9" name="Oval 8"/>
          <p:cNvSpPr/>
          <p:nvPr/>
        </p:nvSpPr>
        <p:spPr>
          <a:xfrm>
            <a:off x="8141207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3543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Keep the simulated-data limitation. These flags are not operational forestry advice.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Browser workshop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43 / 52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BUILD AND TEST THE FABRIC DATA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Publish to Fabric without enabling an additional channel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4836" y="1261872"/>
            <a:ext cx="9102021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Describe the agent's read-only training purpose and limitations.</a:t>
            </a:r>
          </a:p>
        </p:txBody>
      </p:sp>
      <p:sp>
        <p:nvSpPr>
          <p:cNvPr id="7" name="Oval 6"/>
          <p:cNvSpPr/>
          <p:nvPr/>
        </p:nvSpPr>
        <p:spPr>
          <a:xfrm>
            <a:off x="4340351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2688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Leave Also publish to Microsoft 365 Copilot off for this workshop.</a:t>
            </a:r>
          </a:p>
        </p:txBody>
      </p:sp>
      <p:sp>
        <p:nvSpPr>
          <p:cNvPr id="9" name="Oval 8"/>
          <p:cNvSpPr/>
          <p:nvPr/>
        </p:nvSpPr>
        <p:spPr>
          <a:xfrm>
            <a:off x="8141207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3543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Publish only after all answer checks agree with SQL.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Browser workshop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44 / 52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BUILD AND TEST THE FABRIC DATA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Retest the published version after reopening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0848" y="1261872"/>
            <a:ext cx="7969998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Switch from Draft to Published. The label confirms which version you are testing.</a:t>
            </a:r>
          </a:p>
        </p:txBody>
      </p:sp>
      <p:sp>
        <p:nvSpPr>
          <p:cNvPr id="7" name="Oval 6"/>
          <p:cNvSpPr/>
          <p:nvPr/>
        </p:nvSpPr>
        <p:spPr>
          <a:xfrm>
            <a:off x="4340351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2688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The published answer still states the correct reporting date.</a:t>
            </a:r>
          </a:p>
        </p:txBody>
      </p:sp>
      <p:sp>
        <p:nvSpPr>
          <p:cNvPr id="9" name="Oval 8"/>
          <p:cNvSpPr/>
          <p:nvPr/>
        </p:nvSpPr>
        <p:spPr>
          <a:xfrm>
            <a:off x="8141207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3543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Recheck 120 registered, 119 retained, one missing and 99.17% coverage against SQL.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Browser workshop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45 / 52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FINAL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Hand in links to your completed Fabric items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646" y="1261872"/>
            <a:ext cx="6704401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Submit the published Data Agent and its independently checked answers.</a:t>
            </a:r>
          </a:p>
        </p:txBody>
      </p:sp>
      <p:sp>
        <p:nvSpPr>
          <p:cNvPr id="7" name="Oval 6"/>
          <p:cNvSpPr/>
          <p:nvPr/>
        </p:nvSpPr>
        <p:spPr>
          <a:xfrm>
            <a:off x="6240780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3116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Submit the saved Map, lakehouse and six completed notebook links. Stop your Spark session.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Browser workshop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46 / 52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OPTIONAL MANUAL FALLBACK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Select the supplied Sentinel-2 scene in Planetary Computer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867" y="2392607"/>
            <a:ext cx="11109960" cy="1990489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10707624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Use the supplied scene ID and June 29 acquisition date. The analysis period still ends August 31.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Browser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47 / 52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OPTIONAL MANUAL FALLBACK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Use original scientific bands, not the RGB preview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867" y="1271135"/>
            <a:ext cx="11109960" cy="4233432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B04 is an original red-band GeoTIFF. The other required keys are B08, B11, B12 and SCL.</a:t>
            </a:r>
          </a:p>
        </p:txBody>
      </p:sp>
      <p:sp>
        <p:nvSpPr>
          <p:cNvPr id="7" name="Oval 6"/>
          <p:cNvSpPr/>
          <p:nvPr/>
        </p:nvSpPr>
        <p:spPr>
          <a:xfrm>
            <a:off x="6240780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3116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The displayed natural-colour image is for inspection only; it cannot replace the five bands.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Browser workshop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48 / 52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OPTIONAL MANUAL FALLBACK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Download metadata and all five original TIFFs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7965" y="1261872"/>
            <a:ext cx="8635763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Download item.json first. It identifies the scene and original grids.</a:t>
            </a:r>
          </a:p>
        </p:txBody>
      </p:sp>
      <p:sp>
        <p:nvSpPr>
          <p:cNvPr id="7" name="Oval 6"/>
          <p:cNvSpPr/>
          <p:nvPr/>
        </p:nvSpPr>
        <p:spPr>
          <a:xfrm>
            <a:off x="4340351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2688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Download B04, B08, B11 and B12. Keep the original filenames.</a:t>
            </a:r>
          </a:p>
        </p:txBody>
      </p:sp>
      <p:sp>
        <p:nvSpPr>
          <p:cNvPr id="9" name="Oval 8"/>
          <p:cNvSpPr/>
          <p:nvPr/>
        </p:nvSpPr>
        <p:spPr>
          <a:xfrm>
            <a:off x="8141207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3543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Download SCL too. Wait for all six transfers in the browser's Downloads list.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Browser workshop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49 / 52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OPTIONAL MANUAL FALLBACK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Upload the original files into your scene folder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8673" y="1261872"/>
            <a:ext cx="6494348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Open the scene folder's More options menu, then Upload.</a:t>
            </a:r>
          </a:p>
        </p:txBody>
      </p:sp>
      <p:sp>
        <p:nvSpPr>
          <p:cNvPr id="7" name="Oval 6"/>
          <p:cNvSpPr/>
          <p:nvPr/>
        </p:nvSpPr>
        <p:spPr>
          <a:xfrm>
            <a:off x="6240780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3116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Choose Upload files. Do not choose Load to Tables.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Browser workshop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50 / 52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OPTIONAL MANUAL FALLBACK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Verify all six inputs before starting Lab 01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9274" y="1261872"/>
            <a:ext cx="5153146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The folder must show six completed files: five TIFFs and one JSON.</a:t>
            </a:r>
          </a:p>
        </p:txBody>
      </p:sp>
      <p:sp>
        <p:nvSpPr>
          <p:cNvPr id="7" name="Oval 6"/>
          <p:cNvSpPr/>
          <p:nvPr/>
        </p:nvSpPr>
        <p:spPr>
          <a:xfrm>
            <a:off x="6240780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3116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item.json belongs beside the TIFFs, not in a different folder.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Browser workshop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51 / 52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7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4008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3600" b="1" i="0">
                <a:solidFill>
                  <a:srgbClr val="F1F5F3"/>
                </a:solidFill>
                <a:latin typeface="Segoe UI"/>
              </a:defRPr>
            </a:pPr>
            <a:r>
              <a:t>Your hand-in</a:t>
            </a:r>
          </a:p>
        </p:txBody>
      </p:sp>
      <p:sp>
        <p:nvSpPr>
          <p:cNvPr id="3" name="Oval 2"/>
          <p:cNvSpPr/>
          <p:nvPr/>
        </p:nvSpPr>
        <p:spPr>
          <a:xfrm>
            <a:off x="731520" y="1828800"/>
            <a:ext cx="384048" cy="384048"/>
          </a:xfrm>
          <a:prstGeom prst="ellipse">
            <a:avLst/>
          </a:prstGeom>
          <a:solidFill>
            <a:srgbClr val="3FC1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0D1714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53312" y="1801368"/>
            <a:ext cx="98755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200" b="0" i="0">
                <a:solidFill>
                  <a:srgbClr val="F1F5F3"/>
                </a:solidFill>
                <a:latin typeface="Segoe UI"/>
              </a:defRPr>
            </a:pPr>
            <a:r>
              <a:t>Six completed notebooks with passing validation output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2670048"/>
            <a:ext cx="384048" cy="384048"/>
          </a:xfrm>
          <a:prstGeom prst="ellipse">
            <a:avLst/>
          </a:prstGeom>
          <a:solidFill>
            <a:srgbClr val="3FC1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0D1714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53312" y="2642616"/>
            <a:ext cx="98755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200" b="0" i="0">
                <a:solidFill>
                  <a:srgbClr val="F1F5F3"/>
                </a:solidFill>
                <a:latin typeface="Segoe UI"/>
              </a:defRPr>
            </a:pPr>
            <a:r>
              <a:t>Your lakehouse, with verified Gold tables and GeoJSON export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3511296"/>
            <a:ext cx="384048" cy="384048"/>
          </a:xfrm>
          <a:prstGeom prst="ellipse">
            <a:avLst/>
          </a:prstGeom>
          <a:solidFill>
            <a:srgbClr val="3FC1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0D1714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3312" y="3483864"/>
            <a:ext cx="98755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200" b="0" i="0">
                <a:solidFill>
                  <a:srgbClr val="F1F5F3"/>
                </a:solidFill>
                <a:latin typeface="Segoe UI"/>
              </a:defRPr>
            </a:pPr>
            <a:r>
              <a:t>A saved native Map with class colors, tooltips and coverage filtering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4352544"/>
            <a:ext cx="384048" cy="384048"/>
          </a:xfrm>
          <a:prstGeom prst="ellipse">
            <a:avLst/>
          </a:prstGeom>
          <a:solidFill>
            <a:srgbClr val="3FC1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0D1714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53312" y="4325112"/>
            <a:ext cx="98755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200" b="0" i="0">
                <a:solidFill>
                  <a:srgbClr val="F1F5F3"/>
                </a:solidFill>
                <a:latin typeface="Segoe UI"/>
              </a:defRPr>
            </a:pPr>
            <a:r>
              <a:t>A published data agent whose answers match the independent SQL checks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742432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800" b="0" i="0">
                <a:solidFill>
                  <a:srgbClr val="3FC17E"/>
                </a:solidFill>
                <a:latin typeface="Segoe UI"/>
              </a:defRPr>
            </a:pPr>
            <a:r>
              <a:t>Explain missing results, simulated history and offline narrative stubs. Stop your Spark session.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