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is the build. Session 1 was foundations, and if anyone missed it, pair them with someone</a:t>
            </a:r>
          </a:p>
          <a:p>
            <a:r>
              <a:t>who did not, because we do not have time to rebuild a workspace this morning.</a:t>
            </a:r>
          </a:p>
          <a:p/>
          <a:p>
            <a:r>
              <a:t>Set expectations in the first minute: by the end of today there is a pipeline that runs on a</a:t>
            </a:r>
          </a:p>
          <a:p>
            <a:r>
              <a:t>schedule with nobody watching it. Not a notebook someone runs. That distinction is the whole</a:t>
            </a:r>
          </a:p>
          <a:p>
            <a:r>
              <a:t>point of the day.</a:t>
            </a:r>
          </a:p>
          <a:p/>
          <a:p>
            <a:r>
              <a:t>Say plainly that the hard part today is not the imagery. It is the discipline about what each</a:t>
            </a:r>
          </a:p>
          <a:p>
            <a:r>
              <a:t>layer is allowed to do, and the twenty minutes we spend on where AI is quietly wrong.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once, slowly, then leave it on screen for a beat.</a:t>
            </a:r>
          </a:p>
          <a:p/>
          <a:p>
            <a:r>
              <a:t>This paragraph is the spine of the day. Every time someone proposes an addition, and they will,</a:t>
            </a:r>
          </a:p>
          <a:p>
            <a:r>
              <a:t>the test is whether it serves this sentence. Most proposals do not, and saying so out loud is</a:t>
            </a:r>
          </a:p>
          <a:p>
            <a:r>
              <a:t>the most useful thing a lead does on a project like this.</a:t>
            </a:r>
          </a:p>
          <a:p/>
          <a:p>
            <a:r>
              <a:t>Point at the second line specifically. "Without anyone opening a notebook" is the requirement</a:t>
            </a:r>
          </a:p>
          <a:p>
            <a:r>
              <a:t>that separates a demo from a product, and it is the reason Step 5 exists.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Flag the break now. A room that does not know when the break is takes its own break, one person</a:t>
            </a:r>
          </a:p>
          <a:p>
            <a:r>
              <a:t>at a time, during the block you most needed them awake for.</a:t>
            </a:r>
          </a:p>
          <a:p/>
          <a:p>
            <a:r>
              <a:t>The five steps map one to one onto the five notebooks. Say that, because it makes the deck and</a:t>
            </a:r>
          </a:p>
          <a:p>
            <a:r>
              <a:t>the repo navigable without anyone asking.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tight. It is fifteen minutes and it will eat thirty if you let it.</a:t>
            </a:r>
          </a:p>
          <a:p/>
          <a:p>
            <a:r>
              <a:t>The cloud point is worth drawing out. Someone will have picked a month with no usable scene and</a:t>
            </a:r>
          </a:p>
          <a:p>
            <a:r>
              <a:t>concluded they did something wrong. They did not. That is the production problem, and we design</a:t>
            </a:r>
          </a:p>
          <a:p>
            <a:r>
              <a:t>for it in Step 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per layer, no more. This is a recap, not a re-teach.</a:t>
            </a:r>
          </a:p>
          <a:p/>
          <a:p>
            <a:r>
              <a:t>The line worth repeating is that bronze does not make decisions. Every reprojection, every mask,</a:t>
            </a:r>
          </a:p>
          <a:p>
            <a:r>
              <a:t>every threshold is a decision, and the moment you make one in bronze you have lost the ability to</a:t>
            </a:r>
          </a:p>
          <a:p>
            <a:r>
              <a:t>change your mind later without going back to the network.</a:t>
            </a:r>
          </a:p>
          <a:p/>
          <a:p>
            <a:r>
              <a:t>Point at the footnote and remind them the three workspaces are why their notebooks read through</a:t>
            </a:r>
          </a:p>
          <a:p>
            <a:r>
              <a:t>shortcuts today.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Notebook 01. The block splits fifteen minutes of teaching and thirty hands-on.</a:t>
            </a:r>
          </a:p>
          <a:p/>
          <a:p>
            <a:r>
              <a:t>Warn them now that this is the block most likely to produce zero rows on the first attempt, and</a:t>
            </a:r>
          </a:p>
          <a:p>
            <a:r>
              <a:t>that zero rows is almost never a code problem.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reason to teach the nouns rather than the API is that STAC is a standard, not a Microsoft</a:t>
            </a:r>
          </a:p>
          <a:p>
            <a:r>
              <a:t>thing. Element 84, USGS, NASA and Planetary Computer all speak it. Learn it once.</a:t>
            </a:r>
          </a:p>
          <a:p/>
          <a:p>
            <a:r>
              <a:t>If someone asks why not just use the Sentinel Hub API or a download portal: because those are</a:t>
            </a:r>
          </a:p>
          <a:p>
            <a:r>
              <a:t>products, and this is a protocol. Your pipeline outlives the product.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the time on the right-hand column. Most rooms have lived the file share version and will</a:t>
            </a:r>
          </a:p>
          <a:p>
            <a:r>
              <a:t>recognise it immediately, which is what makes the catalogue argument land.</a:t>
            </a:r>
          </a:p>
          <a:p/>
          <a:p>
            <a:r>
              <a:t>"The query is a person" is the line to say out loud. Every organisation has a folder that only</a:t>
            </a:r>
          </a:p>
          <a:p>
            <a:r>
              <a:t>one person understands, and that is a single point of failure nobody has written down.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common support question in the block, and the failure is delayed: it</a:t>
            </a:r>
          </a:p>
          <a:p>
            <a:r>
              <a:t>works in the session where you signed, and breaks in the scheduled run tomorrow.</a:t>
            </a:r>
          </a:p>
          <a:p/>
          <a:p>
            <a:r>
              <a:t>Make the credential point explicitly. A signed href in a Delta table is a secret in a table that</a:t>
            </a:r>
          </a:p>
          <a:p>
            <a:r>
              <a:t>gets backed up, replicated and read by anyone with access to the lakehouse. Strip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explains why the hands-on finishes in thirty minutes rather than not at all.</a:t>
            </a:r>
          </a:p>
          <a:p/>
          <a:p>
            <a:r>
              <a:t>The practical instruction: always pass bbox, and always pass resolution. Loading at 20 metres</a:t>
            </a:r>
          </a:p>
          <a:p>
            <a:r>
              <a:t>rather than 10 costs nothing at stand scale and cuts the bytes by four. A twelve hectare stand is</a:t>
            </a:r>
          </a:p>
          <a:p>
            <a:r>
              <a:t>about three hundred pixels at 20 m, which is more than enough for a stable median.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Foresters in the room will know the physics better than you do. Let them. Ask whether NDMI or</a:t>
            </a:r>
          </a:p>
          <a:p>
            <a:r>
              <a:t>NBR matches what they use in the field and you will get a better answer than the slide.</a:t>
            </a:r>
          </a:p>
          <a:p/>
          <a:p>
            <a:r>
              <a:t>The footnote is the layer discipline again. Dropping a band at ingest is a decision, and bronze</a:t>
            </a:r>
          </a:p>
          <a:p>
            <a:r>
              <a:t>does not make decisions.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bbox order out loud: west, south, east, north. Then say that New Brunswick longitudes are</a:t>
            </a:r>
          </a:p>
          <a:p>
            <a:r>
              <a:t>negative, around minus sixty-six. Both of those are in the troubleshooting list because both cost</a:t>
            </a:r>
          </a:p>
          <a:p>
            <a:r>
              <a:t>somebody an hour in a previous delivery.</a:t>
            </a:r>
          </a:p>
          <a:p/>
          <a:p>
            <a:r>
              <a:t>The ranking pattern is the useful habit. Filter generously, sort by quality, take the best few.</a:t>
            </a:r>
          </a:p>
          <a:p>
            <a:r>
              <a:t>That way an unusually cloudy month degrades instead of returning nothing.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this on screen before the hands-on starts, not after, because it turns the most common thirty</a:t>
            </a:r>
          </a:p>
          <a:p>
            <a:r>
              <a:t>minute stall into a two minute check.</a:t>
            </a:r>
          </a:p>
          <a:p/>
          <a:p>
            <a:r>
              <a:t>The general lesson is worth naming: a query that returns nothing is not an error, so it will not</a:t>
            </a:r>
          </a:p>
          <a:p>
            <a:r>
              <a:t>raise. Silent emptiness is the most expensive failure mode in data work, and the defence is to</a:t>
            </a:r>
          </a:p>
          <a:p>
            <a:r>
              <a:t>validate the shape of what came back, not just that the call succeeded.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during step three. The no-crs-argument instruction is the one people override because</a:t>
            </a:r>
          </a:p>
          <a:p>
            <a:r>
              <a:t>they think they are being helpful, and reprojecting in bronze breaks the layer contract in a way</a:t>
            </a:r>
          </a:p>
          <a:p>
            <a:r>
              <a:t>that does not show up until silver produces subtly wrong areas.</a:t>
            </a:r>
          </a:p>
          <a:p/>
          <a:p>
            <a:r>
              <a:t>Checkpoint: bronze_scene_catalog has at least two scenes, no signed hrefs, and the raster files</a:t>
            </a:r>
          </a:p>
          <a:p>
            <a:r>
              <a:t>exist on disk.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Notebooks 02 and 03. Twelve minutes of teaching, thirty-eight hands-on, and the hands-on is where</a:t>
            </a:r>
          </a:p>
          <a:p>
            <a:r>
              <a:t>Copilot does the typing.</a:t>
            </a:r>
          </a:p>
          <a:p/>
          <a:p>
            <a:r>
              <a:t>This is the block where the room's spectral knowledge is ahead of yours. Use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the time on class 10. Cloud and shadow are obvious in a picture and get caught. Thin cirrus</a:t>
            </a:r>
          </a:p>
          <a:p>
            <a:r>
              <a:t>does not, and it moves NDMI in the same direction that moisture stress does, so it produces a</a:t>
            </a:r>
          </a:p>
          <a:p>
            <a:r>
              <a:t>plausible wrong answer rather than an obviously wrong one.</a:t>
            </a:r>
          </a:p>
          <a:p/>
          <a:p>
            <a:r>
              <a:t>That is the pattern to name: the errors that hurt are the ones that look like findings.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subtitle carries the important idea. A ratio cancels multiplicative effects, which is why you</a:t>
            </a:r>
          </a:p>
          <a:p>
            <a:r>
              <a:t>can compare June to August without correcting for sun angle. That is also why the missing scale</a:t>
            </a:r>
          </a:p>
          <a:p>
            <a:r>
              <a:t>factor in the next slide does not break NDVI: it cancels.</a:t>
            </a:r>
          </a:p>
          <a:p/>
          <a:p>
            <a:r>
              <a:t>Ask the foresters which of these they would trust for a harvest check. You will usually get NBR</a:t>
            </a:r>
          </a:p>
          <a:p>
            <a:r>
              <a:t>plus a caveat about partial cuts, which is exactly right.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area point is the one that gets a reaction. Computing hectares in degrees produces a number</a:t>
            </a:r>
          </a:p>
          <a:p>
            <a:r>
              <a:t>that looks like a number, goes into a report, and is wrong. Nothing errors.</a:t>
            </a:r>
          </a:p>
          <a:p/>
          <a:p>
            <a:r>
              <a:t>If the room has GIS people they will already know this. Let them say it, because it lands better</a:t>
            </a:r>
          </a:p>
          <a:p>
            <a:r>
              <a:t>from a peer than from the front.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footnote is the professional habit worth teaching. Every aggregate should carry the count it</a:t>
            </a:r>
          </a:p>
          <a:p>
            <a:r>
              <a:t>was computed from, because otherwise a heavily clouded stand and a clear one look identical in the</a:t>
            </a:r>
          </a:p>
          <a:p>
            <a:r>
              <a:t>output and only one of them is trustworthy.</a:t>
            </a:r>
          </a:p>
          <a:p/>
          <a:p>
            <a:r>
              <a:t>Median rather than mean, because a single unmasked cloud edge pixel drags a mean and barely moves</a:t>
            </a:r>
          </a:p>
          <a:p>
            <a:r>
              <a:t>a median.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both prompts live if the room is warm. The weak one produces code that runs, which is</a:t>
            </a:r>
          </a:p>
          <a:p>
            <a:r>
              <a:t>exactly what makes it dangerous.</a:t>
            </a:r>
          </a:p>
          <a:p/>
          <a:p>
            <a:r>
              <a:t>The caption is the transferable skill and it is worth writing on a whiteboard. Not "is this code</a:t>
            </a:r>
          </a:p>
          <a:p>
            <a:r>
              <a:t>correct", which is hard, but "what did it assume", which is answerable by reading.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intellectual centre of the morning. Take the full five minutes.</a:t>
            </a:r>
          </a:p>
          <a:p/>
          <a:p>
            <a:r>
              <a:t>The common thread: none of these three raise an exception, none produce an obviously silly number,</a:t>
            </a:r>
          </a:p>
          <a:p>
            <a:r>
              <a:t>and all three move a result in a direction that a forester might plausibly believe. That is the</a:t>
            </a:r>
          </a:p>
          <a:p>
            <a:r>
              <a:t>definition of an expensive bug.</a:t>
            </a:r>
          </a:p>
          <a:p/>
          <a:p>
            <a:r>
              <a:t>Ask the room how they would catch each one. The answers are: check a known stand against a known</a:t>
            </a:r>
          </a:p>
          <a:p>
            <a:r>
              <a:t>value, check the range of your indices against physical limits, and look at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range check in step three is the cheapest bug detector in the whole day. Any normalised</a:t>
            </a:r>
          </a:p>
          <a:p>
            <a:r>
              <a:t>difference index outside minus one to one means the arithmetic is wrong, full stop.</a:t>
            </a:r>
          </a:p>
          <a:p/>
          <a:p>
            <a:r>
              <a:t>Checkpoint: silver_stand_observations has one row per stand per scene date, and</a:t>
            </a:r>
          </a:p>
          <a:p>
            <a:r>
              <a:t>gold_stand_classification assigns a class to every stand with a confidence.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Notebook 04. Fifteen minutes teaching, thirty hands-on.</a:t>
            </a:r>
          </a:p>
          <a:p/>
          <a:p>
            <a:r>
              <a:t>Set the tone in one sentence: this is the block where we are honest about AI, which means being</a:t>
            </a:r>
          </a:p>
          <a:p>
            <a:r>
              <a:t>specific about both what it is good at and where it will embarrass you.</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footnote is the rule of thumb to leave them with, and it holds up well outside this workshop.</a:t>
            </a:r>
          </a:p>
          <a:p/>
          <a:p>
            <a:r>
              <a:t>On the right-hand column, the first item usually gets pushback: surely a model could classify from</a:t>
            </a:r>
          </a:p>
          <a:p>
            <a:r>
              <a:t>the spectral values? It can, and it will be roughly right, and you will not be able to explain a</a:t>
            </a:r>
          </a:p>
          <a:p>
            <a:r>
              <a:t>single stand to a regulator or reproduce last month's answer. A threshold on NDVI you can write on</a:t>
            </a:r>
          </a:p>
          <a:p>
            <a:r>
              <a:t>one line and defend for a decade.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these live, in that order. They escalate nicely.</a:t>
            </a:r>
          </a:p>
          <a:p/>
          <a:p>
            <a:r>
              <a:t>Demonstration three is the one that changes minds, because a missing measurement is a finding.</a:t>
            </a:r>
          </a:p>
          <a:p>
            <a:r>
              <a:t>A stand with no NDMI this month might be under persistent cloud, which is itself operational</a:t>
            </a:r>
          </a:p>
          <a:p>
            <a:r>
              <a:t>information, and the model erases it with a confident sentence.</a:t>
            </a:r>
          </a:p>
          <a:p/>
          <a:p>
            <a:r>
              <a:t>Do not let this turn into an anti-AI session. The point is not that the tool is bad, it is that</a:t>
            </a:r>
          </a:p>
          <a:p>
            <a:r>
              <a:t>this specific use is outside what it can be trusted with, and the next slide is the fix.</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they take back to work. The pattern is not specific to forestry or to Foundry.</a:t>
            </a:r>
          </a:p>
          <a:p/>
          <a:p>
            <a:r>
              <a:t>Dwell on the last box. The tempting implementation drops rows that fail validation, and then the</a:t>
            </a:r>
          </a:p>
          <a:p>
            <a:r>
              <a:t>report looks clean while quietly losing stands. Keeping the row and suppressing the narrative</a:t>
            </a:r>
          </a:p>
          <a:p>
            <a:r>
              <a:t>means somebody can see that fifteen stands failed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guard line by line. It is six lines of regex and set arithmetic, and it catches the</a:t>
            </a:r>
          </a:p>
          <a:p>
            <a:r>
              <a:t>failure mode from demonstration one every time.</a:t>
            </a:r>
          </a:p>
          <a:p/>
          <a:p>
            <a:r>
              <a:t>Say clearly that this is deliberately unsophisticated. A cleverer validator would be harder to</a:t>
            </a:r>
          </a:p>
          <a:p>
            <a:r>
              <a:t>explain, harder to trust, and no better. Boring, auditable code is the right answer where the</a:t>
            </a:r>
          </a:p>
          <a:p>
            <a:r>
              <a:t>output is going to a regulator.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four is the one people remember. Removing a safeguard and watching bad data walk through is a</a:t>
            </a:r>
          </a:p>
          <a:p>
            <a:r>
              <a:t>better teacher than any slide about why the safeguard exists.</a:t>
            </a:r>
          </a:p>
          <a:p/>
          <a:p>
            <a:r>
              <a:t>Checkpoint: gold_stand_narrative exists, and at least one row carries a validation_status other</a:t>
            </a:r>
          </a:p>
          <a:p>
            <a:r>
              <a:t>than ok, because the guard is doing its job. If everything is ok, the guard is probably not wired</a:t>
            </a:r>
          </a:p>
          <a:p>
            <a:r>
              <a:t>in, and that is worth checking rather than celebrating.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Notebook 05 then the Power BI service. Twelve minutes teaching, thirty-three hands-on.</a:t>
            </a:r>
          </a:p>
          <a:p/>
          <a:p>
            <a:r>
              <a:t>This is the block where the work becomes visible to somebody who does not write code, which is</a:t>
            </a:r>
          </a:p>
          <a:p>
            <a:r>
              <a:t>the only reason any of it matters.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footnote is the bit to slow down on, and it leads straight into the next slide.</a:t>
            </a:r>
          </a:p>
          <a:p/>
          <a:p>
            <a:r>
              <a:t>The failure mode is that everything works in testing with a small model, then falls back in</a:t>
            </a:r>
          </a:p>
          <a:p>
            <a:r>
              <a:t>production under real volume, and the only symptom is that the report got slow. Nobody gets an</a:t>
            </a:r>
          </a:p>
          <a:p>
            <a:r>
              <a:t>error. Somebody gets a complaint three weeks later.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footnote is the reusable principle. A calculated column in the semantic model is invisible to</a:t>
            </a:r>
          </a:p>
          <a:p>
            <a:r>
              <a:t>your tests, your source control and your pipeline. The same logic in the gold notebook is all three.</a:t>
            </a:r>
          </a:p>
          <a:p/>
          <a:p>
            <a:r>
              <a:t>Show them where to check: the Fabric capacity metrics app reports fallback, and the performance</a:t>
            </a:r>
          </a:p>
          <a:p>
            <a:r>
              <a:t>analyzer in Desktop shows the query being pushed down. Checking it is a five minute habit that</a:t>
            </a:r>
          </a:p>
          <a:p>
            <a:r>
              <a:t>saves a bad quarter.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centroid point in dim_stand is practical and gets missed: the Power BI map visual wants points,</a:t>
            </a:r>
          </a:p>
          <a:p>
            <a:r>
              <a:t>and the shape map wants a registered boundary set. Carrying a lat/long centroid alongside the WKB</a:t>
            </a:r>
          </a:p>
          <a:p>
            <a:r>
              <a:t>means the common case works without anyone registering anything.</a:t>
            </a:r>
          </a:p>
          <a:p/>
          <a:p>
            <a:r>
              <a:t>Storing the threshold definition in dim_class is a small thing that pays off in month four, when</a:t>
            </a:r>
          </a:p>
          <a:p>
            <a:r>
              <a:t>somebody asks why a stand changed class and the answer is in the model rather than in a notebook</a:t>
            </a:r>
          </a:p>
          <a:p>
            <a:r>
              <a:t>nobody can find.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five takes three minutes and is the difference between a report that works today and one that</a:t>
            </a:r>
          </a:p>
          <a:p>
            <a:r>
              <a:t>still works at scale. Do not let the room skip it because they are running late.</a:t>
            </a:r>
          </a:p>
          <a:p/>
          <a:p>
            <a:r>
              <a:t>Checkpoint: a report page that answers the problem statement from 0:00. Put that slide back up and</a:t>
            </a:r>
          </a:p>
          <a:p>
            <a:r>
              <a:t>check it literally, clause by clause.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the learner screenshots with the final validation and Gold table preview.</a:t>
            </a:r>
          </a:p>
          <a:p>
            <a:r>
              <a:t>The September 17 training run produced 102 facts from 120 synthetic stands and 40 offline narratives.</a:t>
            </a:r>
          </a:p>
          <a:p>
            <a:r>
              <a:t>The stored trusted coverage is measured over retained facts, not over all registered stands.</a:t>
            </a:r>
          </a:p>
          <a:p>
            <a:r>
              <a:t>Do not present model-ready tables as proof that a Direct Lake report or schedule was created.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the problem statement back on screen for this. The phrase "without anyone opening a notebook"</a:t>
            </a:r>
          </a:p>
          <a:p>
            <a:r>
              <a:t>is the entire justification for this block, and it is the difference between what we have built so</a:t>
            </a:r>
          </a:p>
          <a:p>
            <a:r>
              <a:t>far and something Woodlands can actually rely 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gate placement is deliberate and worth explaining: after silver, before gold. Late enough that</a:t>
            </a:r>
          </a:p>
          <a:p>
            <a:r>
              <a:t>you can measure real data quality, early enough that a bad month never reaches anything a planner</a:t>
            </a:r>
          </a:p>
          <a:p>
            <a:r>
              <a:t>sees.</a:t>
            </a:r>
          </a:p>
          <a:p/>
          <a:p>
            <a:r>
              <a:t>Ask what the gate should check. You want scene count above zero, masked fraction below a</a:t>
            </a:r>
          </a:p>
          <a:p>
            <a:r>
              <a:t>threshold, and stand coverage close to the register size. All three are cheap and all three catch a</a:t>
            </a:r>
          </a:p>
          <a:p>
            <a:r>
              <a:t>different failure.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Bullet four is a judgement call worth arguing about with the room, and it usually splits them.</a:t>
            </a:r>
          </a:p>
          <a:p>
            <a:r>
              <a:t>Publishing a partial month keeps the dashboard fresh and quietly degrades the trend. Failing loudly</a:t>
            </a:r>
          </a:p>
          <a:p>
            <a:r>
              <a:t>looks worse on the day and is better every day after.</a:t>
            </a:r>
          </a:p>
          <a:p/>
          <a:p>
            <a:r>
              <a:t>Come down on the side of failing loudly, but let them push back, because in some organisations the</a:t>
            </a:r>
          </a:p>
          <a:p>
            <a:r>
              <a:t>dashboard going stale is a genuine operational problem.</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story behind the last row, because it is fresh and it is real.</a:t>
            </a:r>
          </a:p>
          <a:p/>
          <a:p>
            <a:r>
              <a:t>Building this material, notebook 01 failed with a Spark session cancellation and no other detail.</a:t>
            </a:r>
          </a:p>
          <a:p>
            <a:r>
              <a:t>Nothing in our code had changed. The cause was a transitive dependency, affine, releasing version</a:t>
            </a:r>
          </a:p>
          <a:p>
            <a:r>
              <a:t>3.0.1, in which iterating a transform raises a TypeError. odc-geo unpacks transforms, so every</a:t>
            </a:r>
          </a:p>
          <a:p>
            <a:r>
              <a:t>single raster load failed. The fix was one line: pin affine below 3.</a:t>
            </a:r>
          </a:p>
          <a:p/>
          <a:p>
            <a:r>
              <a:t>Two lessons. First, that is why the library set is pinned in a published Environment rather than</a:t>
            </a:r>
          </a:p>
          <a:p>
            <a:r>
              <a:t>installed ad hoc. Second, the platform error message named no cell and no exception, so the only</a:t>
            </a:r>
          </a:p>
          <a:p>
            <a:r>
              <a:t>way to find it was to run the notebook cell by cell inside a harness that caught everything. When</a:t>
            </a:r>
          </a:p>
          <a:p>
            <a:r>
              <a:t>a scheduled run gives you an unattributable failure, get the real traceback before forming a theory.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This is the sentence the day has been building towards.</a:t>
            </a:r>
          </a:p>
          <a:p/>
          <a:p>
            <a:r>
              <a:t>If anyone in the room takes one idea back to their team, this is the one worth taking, and it</a:t>
            </a:r>
          </a:p>
          <a:p>
            <a:r>
              <a:t>applies well beyond forestry or Fabric.</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bullet is the one that separates a good submission from a competent one. Knowing where</a:t>
            </a:r>
          </a:p>
          <a:p>
            <a:r>
              <a:t>automation stops being appropriate is a senior judgement, and asking for it in writing forces the</a:t>
            </a:r>
          </a:p>
          <a:p>
            <a:r>
              <a:t>thinking.</a:t>
            </a:r>
          </a:p>
          <a:p/>
          <a:p>
            <a:r>
              <a:t>Expect answers about final harvest sign-off, anything with a regulatory signature, and any</a:t>
            </a:r>
          </a:p>
          <a:p>
            <a:r>
              <a:t>decision where a person is accountable for the outcome. All correct.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office hours line properly: bring the actual notebook and the actual error. A description</a:t>
            </a:r>
          </a:p>
          <a:p>
            <a:r>
              <a:t>of a problem takes twenty minutes to unpick and the notebook takes two.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last bullet slowly. Most of the room came in thinking the satellite imagery would be the</a:t>
            </a:r>
          </a:p>
          <a:p>
            <a:r>
              <a:t>hard part. It was not. The hard parts were the projection, the layer discipline, and being honest</a:t>
            </a:r>
          </a:p>
          <a:p>
            <a:r>
              <a:t>about AI.</a:t>
            </a:r>
          </a:p>
          <a:p/>
          <a:p>
            <a:r>
              <a:t>The footnote matters for credibility: this is not a deck describing a hypothetical pipeline.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transferable content and it is the right note to end the teaching on.</a:t>
            </a:r>
          </a:p>
          <a:p/>
          <a:p>
            <a:r>
              <a:t>If the room is engaged, ask which of the five on the right they have personally shipped. You will</a:t>
            </a:r>
          </a:p>
          <a:p>
            <a:r>
              <a:t>get honest answers and it makes the list stick.</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end on a thank you slide with nothing on it. End on the assignment, because that is what</a:t>
            </a:r>
          </a:p>
          <a:p>
            <a:r>
              <a:t>happens next.</a:t>
            </a:r>
          </a:p>
          <a:p/>
          <a:p>
            <a:r>
              <a:t>Then stop talking and circulate. The best conversations of the whole workshop happen in these ten</a:t>
            </a:r>
          </a:p>
          <a:p>
            <a:r>
              <a:t>minutes, one to one, and they do not happen if you are still at the front.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1.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22.png"/><Relationship Id="rId6" Type="http://schemas.openxmlformats.org/officeDocument/2006/relationships/image" Target="../media/image35.png"/><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25.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21.png"/><Relationship Id="rId4" Type="http://schemas.openxmlformats.org/officeDocument/2006/relationships/image" Target="../media/image34.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53.png"/><Relationship Id="rId6" Type="http://schemas.openxmlformats.org/officeDocument/2006/relationships/image" Target="../media/image39.png"/><Relationship Id="rId7" Type="http://schemas.openxmlformats.org/officeDocument/2006/relationships/image" Target="../media/image4.png"/><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10.png"/><Relationship Id="rId7" Type="http://schemas.openxmlformats.org/officeDocument/2006/relationships/image" Target="../media/image9.png"/><Relationship Id="rId8" Type="http://schemas.openxmlformats.org/officeDocument/2006/relationships/image" Target="../media/image60.png"/><Relationship Id="rId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pic>
        <p:nvPicPr>
          <p:cNvPr id="2" name="Picture 1" descr="satellite_3fc17e.png"/>
          <p:cNvPicPr>
            <a:picLocks noChangeAspect="1"/>
          </p:cNvPicPr>
          <p:nvPr/>
        </p:nvPicPr>
        <p:blipFill>
          <a:blip r:embed="rId2"/>
          <a:stretch>
            <a:fillRect/>
          </a:stretch>
        </p:blipFill>
        <p:spPr>
          <a:xfrm>
            <a:off x="822960" y="1143000"/>
            <a:ext cx="475488" cy="475488"/>
          </a:xfrm>
          <a:prstGeom prst="rect">
            <a:avLst/>
          </a:prstGeom>
        </p:spPr>
      </p:pic>
      <p:pic>
        <p:nvPicPr>
          <p:cNvPr id="3" name="Picture 2" descr="filter_389ff7.png"/>
          <p:cNvPicPr>
            <a:picLocks noChangeAspect="1"/>
          </p:cNvPicPr>
          <p:nvPr/>
        </p:nvPicPr>
        <p:blipFill>
          <a:blip r:embed="rId3"/>
          <a:stretch>
            <a:fillRect/>
          </a:stretch>
        </p:blipFill>
        <p:spPr>
          <a:xfrm>
            <a:off x="1536192" y="1143000"/>
            <a:ext cx="475488" cy="475488"/>
          </a:xfrm>
          <a:prstGeom prst="rect">
            <a:avLst/>
          </a:prstGeom>
        </p:spPr>
      </p:pic>
      <p:pic>
        <p:nvPicPr>
          <p:cNvPr id="4" name="Picture 3" descr="brain_3fc17e.png"/>
          <p:cNvPicPr>
            <a:picLocks noChangeAspect="1"/>
          </p:cNvPicPr>
          <p:nvPr/>
        </p:nvPicPr>
        <p:blipFill>
          <a:blip r:embed="rId4"/>
          <a:stretch>
            <a:fillRect/>
          </a:stretch>
        </p:blipFill>
        <p:spPr>
          <a:xfrm>
            <a:off x="2249424" y="1143000"/>
            <a:ext cx="475488" cy="475488"/>
          </a:xfrm>
          <a:prstGeom prst="rect">
            <a:avLst/>
          </a:prstGeom>
        </p:spPr>
      </p:pic>
      <p:pic>
        <p:nvPicPr>
          <p:cNvPr id="5" name="Picture 4" descr="chart_389ff7.png"/>
          <p:cNvPicPr>
            <a:picLocks noChangeAspect="1"/>
          </p:cNvPicPr>
          <p:nvPr/>
        </p:nvPicPr>
        <p:blipFill>
          <a:blip r:embed="rId5"/>
          <a:stretch>
            <a:fillRect/>
          </a:stretch>
        </p:blipFill>
        <p:spPr>
          <a:xfrm>
            <a:off x="2962656" y="1143000"/>
            <a:ext cx="475488" cy="475488"/>
          </a:xfrm>
          <a:prstGeom prst="rect">
            <a:avLst/>
          </a:prstGeom>
        </p:spPr>
      </p:pic>
      <p:pic>
        <p:nvPicPr>
          <p:cNvPr id="6" name="Picture 5" descr="pipeline_3fc17e.png"/>
          <p:cNvPicPr>
            <a:picLocks noChangeAspect="1"/>
          </p:cNvPicPr>
          <p:nvPr/>
        </p:nvPicPr>
        <p:blipFill>
          <a:blip r:embed="rId6"/>
          <a:stretch>
            <a:fillRect/>
          </a:stretch>
        </p:blipFill>
        <p:spPr>
          <a:xfrm>
            <a:off x="3675888" y="1143000"/>
            <a:ext cx="475488" cy="475488"/>
          </a:xfrm>
          <a:prstGeom prst="rect">
            <a:avLst/>
          </a:prstGeom>
        </p:spPr>
      </p:pic>
      <p:pic>
        <p:nvPicPr>
          <p:cNvPr id="7" name="Picture 6" descr="forest_389ff7.png"/>
          <p:cNvPicPr>
            <a:picLocks noChangeAspect="1"/>
          </p:cNvPicPr>
          <p:nvPr/>
        </p:nvPicPr>
        <p:blipFill>
          <a:blip r:embed="rId7"/>
          <a:stretch>
            <a:fillRect/>
          </a:stretch>
        </p:blipFill>
        <p:spPr>
          <a:xfrm>
            <a:off x="4389120" y="1143000"/>
            <a:ext cx="475488" cy="475488"/>
          </a:xfrm>
          <a:prstGeom prst="rect">
            <a:avLst/>
          </a:prstGeom>
        </p:spPr>
      </p:pic>
      <p:sp>
        <p:nvSpPr>
          <p:cNvPr id="8" name="Rectangle 7"/>
          <p:cNvSpPr/>
          <p:nvPr/>
        </p:nvSpPr>
        <p:spPr>
          <a:xfrm>
            <a:off x="822960" y="2148840"/>
            <a:ext cx="1463040" cy="68580"/>
          </a:xfrm>
          <a:prstGeom prst="rect">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95728"/>
            <a:ext cx="10241280" cy="1371600"/>
          </a:xfrm>
          <a:prstGeom prst="rect">
            <a:avLst/>
          </a:prstGeom>
          <a:noFill/>
        </p:spPr>
        <p:txBody>
          <a:bodyPr wrap="square" lIns="0" rIns="0" tIns="0" bIns="0">
            <a:spAutoFit/>
          </a:bodyPr>
          <a:lstStyle/>
          <a:p>
            <a:pPr algn="l">
              <a:lnSpc>
                <a:spcPct val="105000"/>
              </a:lnSpc>
              <a:defRPr sz="4400" b="1" i="0">
                <a:solidFill>
                  <a:srgbClr val="F1F5F3"/>
                </a:solidFill>
                <a:latin typeface="Segoe UI"/>
              </a:defRPr>
            </a:pPr>
            <a:r>
              <a:t>Build it end to end</a:t>
            </a:r>
          </a:p>
        </p:txBody>
      </p:sp>
      <p:sp>
        <p:nvSpPr>
          <p:cNvPr id="10" name="TextBox 9"/>
          <p:cNvSpPr txBox="1"/>
          <p:nvPr/>
        </p:nvSpPr>
        <p:spPr>
          <a:xfrm>
            <a:off x="822960" y="3822191"/>
            <a:ext cx="10241280" cy="548640"/>
          </a:xfrm>
          <a:prstGeom prst="rect">
            <a:avLst/>
          </a:prstGeom>
          <a:noFill/>
        </p:spPr>
        <p:txBody>
          <a:bodyPr wrap="square" lIns="0" rIns="0" tIns="0" bIns="0">
            <a:spAutoFit/>
          </a:bodyPr>
          <a:lstStyle/>
          <a:p>
            <a:pPr algn="l">
              <a:lnSpc>
                <a:spcPct val="100000"/>
              </a:lnSpc>
              <a:defRPr sz="2100" b="0" i="0">
                <a:solidFill>
                  <a:srgbClr val="3FC17E"/>
                </a:solidFill>
                <a:latin typeface="Segoe UI"/>
              </a:defRPr>
            </a:pPr>
            <a:r>
              <a:t>Session 2  ·  Imagery to a map a planner can filter</a:t>
            </a:r>
          </a:p>
        </p:txBody>
      </p:sp>
      <p:sp>
        <p:nvSpPr>
          <p:cNvPr id="11" name="TextBox 10"/>
          <p:cNvSpPr txBox="1"/>
          <p:nvPr/>
        </p:nvSpPr>
        <p:spPr>
          <a:xfrm>
            <a:off x="822960" y="4526280"/>
            <a:ext cx="10241280" cy="822960"/>
          </a:xfrm>
          <a:prstGeom prst="rect">
            <a:avLst/>
          </a:prstGeom>
          <a:noFill/>
        </p:spPr>
        <p:txBody>
          <a:bodyPr wrap="square" lIns="0" rIns="0" tIns="0" bIns="0">
            <a:spAutoFit/>
          </a:bodyPr>
          <a:lstStyle/>
          <a:p>
            <a:pPr algn="l">
              <a:lnSpc>
                <a:spcPct val="125000"/>
              </a:lnSpc>
              <a:defRPr sz="1400" b="0" i="0">
                <a:solidFill>
                  <a:srgbClr val="9CAFA8"/>
                </a:solidFill>
                <a:latin typeface="Segoe UI"/>
              </a:defRPr>
            </a:pPr>
            <a:r>
              <a:t>JDI Woodlands  ·  Four hours  ·  Five steps, one scheduled pipeline, one honest conversation about AI</a:t>
            </a:r>
          </a:p>
        </p:txBody>
      </p:sp>
      <p:sp>
        <p:nvSpPr>
          <p:cNvPr id="12" name="TextBox 11"/>
          <p:cNvSpPr txBox="1"/>
          <p:nvPr/>
        </p:nvSpPr>
        <p:spPr>
          <a:xfrm>
            <a:off x="822960" y="6080760"/>
            <a:ext cx="10241280" cy="365760"/>
          </a:xfrm>
          <a:prstGeom prst="rect">
            <a:avLst/>
          </a:prstGeom>
          <a:noFill/>
        </p:spPr>
        <p:txBody>
          <a:bodyPr wrap="square" lIns="0" rIns="0" tIns="0" bIns="0">
            <a:spAutoFit/>
          </a:bodyPr>
          <a:lstStyle/>
          <a:p>
            <a:pPr algn="l">
              <a:lnSpc>
                <a:spcPct val="100000"/>
              </a:lnSpc>
              <a:defRPr sz="1100" b="0" i="0">
                <a:solidFill>
                  <a:srgbClr val="647C74"/>
                </a:solidFill>
                <a:latin typeface="Segoe UI"/>
              </a:defRPr>
            </a:pPr>
            <a:r>
              <a:t>Session 2 of 2  ·  You need the workspace and the stand register from Session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F1B"/>
        </a:solidFill>
        <a:effectLst/>
      </p:bgPr>
    </p:bg>
    <p:spTree>
      <p:nvGrpSpPr>
        <p:cNvPr id="1" name=""/>
        <p:cNvGrpSpPr/>
        <p:nvPr/>
      </p:nvGrpSpPr>
      <p:grpSpPr/>
      <p:pic>
        <p:nvPicPr>
          <p:cNvPr id="2" name="Picture 1" descr="target_3fc17e.png"/>
          <p:cNvPicPr>
            <a:picLocks noChangeAspect="1"/>
          </p:cNvPicPr>
          <p:nvPr/>
        </p:nvPicPr>
        <p:blipFill>
          <a:blip r:embed="rId2"/>
          <a:stretch>
            <a:fillRect/>
          </a:stretch>
        </p:blipFill>
        <p:spPr>
          <a:xfrm>
            <a:off x="822960" y="1965960"/>
            <a:ext cx="640080" cy="640080"/>
          </a:xfrm>
          <a:prstGeom prst="rect">
            <a:avLst/>
          </a:prstGeom>
        </p:spPr>
      </p:pic>
      <p:sp>
        <p:nvSpPr>
          <p:cNvPr id="3" name="Rectangle 2"/>
          <p:cNvSpPr/>
          <p:nvPr/>
        </p:nvSpPr>
        <p:spPr>
          <a:xfrm>
            <a:off x="822960" y="2834640"/>
            <a:ext cx="1280160" cy="68580"/>
          </a:xfrm>
          <a:prstGeom prst="rect">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27248"/>
            <a:ext cx="10241280" cy="2011680"/>
          </a:xfrm>
          <a:prstGeom prst="rect">
            <a:avLst/>
          </a:prstGeom>
          <a:noFill/>
        </p:spPr>
        <p:txBody>
          <a:bodyPr wrap="square" lIns="0" rIns="0" tIns="0" bIns="0">
            <a:spAutoFit/>
          </a:bodyPr>
          <a:lstStyle/>
          <a:p>
            <a:pPr algn="l">
              <a:lnSpc>
                <a:spcPct val="120000"/>
              </a:lnSpc>
              <a:defRPr sz="2600" b="1" i="0">
                <a:solidFill>
                  <a:srgbClr val="F1F5F3"/>
                </a:solidFill>
                <a:latin typeface="Segoe UI"/>
              </a:defRPr>
            </a:pPr>
            <a:r>
              <a:t>Woodlands planning needs a monthly, stand-level view of forest condition:</a:t>
            </a:r>
          </a:p>
          <a:p>
            <a:pPr algn="l">
              <a:lnSpc>
                <a:spcPct val="120000"/>
              </a:lnSpc>
              <a:defRPr sz="2600" b="1" i="0">
                <a:solidFill>
                  <a:srgbClr val="F1F5F3"/>
                </a:solidFill>
                <a:latin typeface="Segoe UI"/>
              </a:defRPr>
            </a:pPr>
            <a:r>
              <a:t>which stands are softwood, hardwood or mixedwood, which have been harvested</a:t>
            </a:r>
          </a:p>
          <a:p>
            <a:pPr algn="l">
              <a:lnSpc>
                <a:spcPct val="120000"/>
              </a:lnSpc>
              <a:defRPr sz="2600" b="1" i="0">
                <a:solidFill>
                  <a:srgbClr val="F1F5F3"/>
                </a:solidFill>
                <a:latin typeface="Segoe UI"/>
              </a:defRPr>
            </a:pPr>
            <a:r>
              <a:t>since the last look, and which are showing moisture stress.</a:t>
            </a:r>
          </a:p>
        </p:txBody>
      </p:sp>
      <p:sp>
        <p:nvSpPr>
          <p:cNvPr id="5" name="TextBox 4"/>
          <p:cNvSpPr txBox="1"/>
          <p:nvPr/>
        </p:nvSpPr>
        <p:spPr>
          <a:xfrm>
            <a:off x="822960" y="5257800"/>
            <a:ext cx="10241280" cy="365760"/>
          </a:xfrm>
          <a:prstGeom prst="rect">
            <a:avLst/>
          </a:prstGeom>
          <a:noFill/>
        </p:spPr>
        <p:txBody>
          <a:bodyPr wrap="square" lIns="0" rIns="0" tIns="0" bIns="0">
            <a:spAutoFit/>
          </a:bodyPr>
          <a:lstStyle/>
          <a:p>
            <a:pPr algn="l">
              <a:lnSpc>
                <a:spcPct val="100000"/>
              </a:lnSpc>
              <a:defRPr sz="1300" b="0" i="0">
                <a:solidFill>
                  <a:srgbClr val="9CAFA8"/>
                </a:solidFill>
                <a:latin typeface="Segoe UI"/>
              </a:defRPr>
            </a:pPr>
            <a:r>
              <a:t>It must refresh without anyone opening a notebook, and a planner must be able to filter it on a map.</a:t>
            </a:r>
          </a:p>
        </p:txBody>
      </p:sp>
      <p:sp>
        <p:nvSpPr>
          <p:cNvPr id="6" name="TextBox 5"/>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1 / 44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AGENDA</a:t>
            </a:r>
          </a:p>
        </p:txBody>
      </p:sp>
      <p:pic>
        <p:nvPicPr>
          <p:cNvPr id="4" name="Picture 3" descr="clock_3fc17e.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2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Running order</a:t>
            </a:r>
          </a:p>
        </p:txBody>
      </p:sp>
      <p:sp>
        <p:nvSpPr>
          <p:cNvPr id="7" name="TextBox 6"/>
          <p:cNvSpPr txBox="1"/>
          <p:nvPr/>
        </p:nvSpPr>
        <p:spPr>
          <a:xfrm>
            <a:off x="822960" y="1828800"/>
            <a:ext cx="1034592" cy="310896"/>
          </a:xfrm>
          <a:prstGeom prst="rect">
            <a:avLst/>
          </a:prstGeom>
          <a:noFill/>
        </p:spPr>
        <p:txBody>
          <a:bodyPr wrap="square" lIns="0" rIns="0" tIns="0" bIns="0">
            <a:spAutoFit/>
          </a:bodyPr>
          <a:lstStyle/>
          <a:p>
            <a:pPr algn="l">
              <a:lnSpc>
                <a:spcPct val="100000"/>
              </a:lnSpc>
              <a:defRPr sz="1050" b="1" i="0">
                <a:solidFill>
                  <a:srgbClr val="3FC17E"/>
                </a:solidFill>
                <a:latin typeface="Segoe UI"/>
              </a:defRPr>
            </a:pPr>
            <a:r>
              <a:t>TIME</a:t>
            </a:r>
          </a:p>
        </p:txBody>
      </p:sp>
      <p:sp>
        <p:nvSpPr>
          <p:cNvPr id="8" name="TextBox 7"/>
          <p:cNvSpPr txBox="1"/>
          <p:nvPr/>
        </p:nvSpPr>
        <p:spPr>
          <a:xfrm>
            <a:off x="1994712" y="1828800"/>
            <a:ext cx="8325499" cy="310896"/>
          </a:xfrm>
          <a:prstGeom prst="rect">
            <a:avLst/>
          </a:prstGeom>
          <a:noFill/>
        </p:spPr>
        <p:txBody>
          <a:bodyPr wrap="square" lIns="0" rIns="0" tIns="0" bIns="0">
            <a:spAutoFit/>
          </a:bodyPr>
          <a:lstStyle/>
          <a:p>
            <a:pPr algn="l">
              <a:lnSpc>
                <a:spcPct val="100000"/>
              </a:lnSpc>
              <a:defRPr sz="1050" b="1" i="0">
                <a:solidFill>
                  <a:srgbClr val="3FC17E"/>
                </a:solidFill>
                <a:latin typeface="Segoe UI"/>
              </a:defRPr>
            </a:pPr>
            <a:r>
              <a:t>BLOCK</a:t>
            </a:r>
          </a:p>
        </p:txBody>
      </p:sp>
      <p:sp>
        <p:nvSpPr>
          <p:cNvPr id="9" name="TextBox 8"/>
          <p:cNvSpPr txBox="1"/>
          <p:nvPr/>
        </p:nvSpPr>
        <p:spPr>
          <a:xfrm>
            <a:off x="10457371" y="1828800"/>
            <a:ext cx="774203" cy="310896"/>
          </a:xfrm>
          <a:prstGeom prst="rect">
            <a:avLst/>
          </a:prstGeom>
          <a:noFill/>
        </p:spPr>
        <p:txBody>
          <a:bodyPr wrap="square" lIns="0" rIns="0" tIns="0" bIns="0">
            <a:spAutoFit/>
          </a:bodyPr>
          <a:lstStyle/>
          <a:p>
            <a:pPr algn="l">
              <a:lnSpc>
                <a:spcPct val="100000"/>
              </a:lnSpc>
              <a:defRPr sz="1050" b="1" i="0">
                <a:solidFill>
                  <a:srgbClr val="3FC17E"/>
                </a:solidFill>
                <a:latin typeface="Segoe UI"/>
              </a:defRPr>
            </a:pPr>
            <a:r>
              <a:t>MIN</a:t>
            </a:r>
          </a:p>
        </p:txBody>
      </p:sp>
      <p:sp>
        <p:nvSpPr>
          <p:cNvPr id="10" name="Rectangle 9"/>
          <p:cNvSpPr/>
          <p:nvPr/>
        </p:nvSpPr>
        <p:spPr>
          <a:xfrm>
            <a:off x="822960" y="2157984"/>
            <a:ext cx="10545775" cy="18288"/>
          </a:xfrm>
          <a:prstGeom prst="rect">
            <a:avLst/>
          </a:prstGeom>
          <a:solidFill>
            <a:srgbClr val="1F3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2167128"/>
            <a:ext cx="10765231" cy="431074"/>
          </a:xfrm>
          <a:prstGeom prst="rect">
            <a:avLst/>
          </a:prstGeom>
          <a:solidFill>
            <a:srgbClr val="1526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258568"/>
            <a:ext cx="1034592" cy="376210"/>
          </a:xfrm>
          <a:prstGeom prst="rect">
            <a:avLst/>
          </a:prstGeom>
          <a:noFill/>
        </p:spPr>
        <p:txBody>
          <a:bodyPr wrap="square" lIns="0" rIns="0" tIns="0" bIns="0">
            <a:spAutoFit/>
          </a:bodyPr>
          <a:lstStyle/>
          <a:p>
            <a:pPr algn="l">
              <a:lnSpc>
                <a:spcPct val="100000"/>
              </a:lnSpc>
              <a:defRPr sz="1250" b="1" i="0">
                <a:solidFill>
                  <a:srgbClr val="F1F5F3"/>
                </a:solidFill>
                <a:latin typeface="Segoe UI"/>
              </a:defRPr>
            </a:pPr>
            <a:r>
              <a:t>0:00</a:t>
            </a:r>
          </a:p>
        </p:txBody>
      </p:sp>
      <p:sp>
        <p:nvSpPr>
          <p:cNvPr id="13" name="TextBox 12"/>
          <p:cNvSpPr txBox="1"/>
          <p:nvPr/>
        </p:nvSpPr>
        <p:spPr>
          <a:xfrm>
            <a:off x="1994712" y="2258568"/>
            <a:ext cx="8325499" cy="37621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Homework debrief and today's problem statement</a:t>
            </a:r>
          </a:p>
        </p:txBody>
      </p:sp>
      <p:sp>
        <p:nvSpPr>
          <p:cNvPr id="14" name="TextBox 13"/>
          <p:cNvSpPr txBox="1"/>
          <p:nvPr/>
        </p:nvSpPr>
        <p:spPr>
          <a:xfrm>
            <a:off x="10457371" y="2258568"/>
            <a:ext cx="774203" cy="37621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15</a:t>
            </a:r>
          </a:p>
        </p:txBody>
      </p:sp>
      <p:sp>
        <p:nvSpPr>
          <p:cNvPr id="15" name="TextBox 14"/>
          <p:cNvSpPr txBox="1"/>
          <p:nvPr/>
        </p:nvSpPr>
        <p:spPr>
          <a:xfrm>
            <a:off x="822960" y="2726218"/>
            <a:ext cx="1034592" cy="376210"/>
          </a:xfrm>
          <a:prstGeom prst="rect">
            <a:avLst/>
          </a:prstGeom>
          <a:noFill/>
        </p:spPr>
        <p:txBody>
          <a:bodyPr wrap="square" lIns="0" rIns="0" tIns="0" bIns="0">
            <a:spAutoFit/>
          </a:bodyPr>
          <a:lstStyle/>
          <a:p>
            <a:pPr algn="l">
              <a:lnSpc>
                <a:spcPct val="100000"/>
              </a:lnSpc>
              <a:defRPr sz="1250" b="1" i="0">
                <a:solidFill>
                  <a:srgbClr val="F1F5F3"/>
                </a:solidFill>
                <a:latin typeface="Segoe UI"/>
              </a:defRPr>
            </a:pPr>
            <a:r>
              <a:t>0:15</a:t>
            </a:r>
          </a:p>
        </p:txBody>
      </p:sp>
      <p:sp>
        <p:nvSpPr>
          <p:cNvPr id="16" name="TextBox 15"/>
          <p:cNvSpPr txBox="1"/>
          <p:nvPr/>
        </p:nvSpPr>
        <p:spPr>
          <a:xfrm>
            <a:off x="1994712" y="2726218"/>
            <a:ext cx="8325499" cy="37621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Step 1, get the imagery: Planetary Computer and STAC</a:t>
            </a:r>
          </a:p>
        </p:txBody>
      </p:sp>
      <p:sp>
        <p:nvSpPr>
          <p:cNvPr id="17" name="TextBox 16"/>
          <p:cNvSpPr txBox="1"/>
          <p:nvPr/>
        </p:nvSpPr>
        <p:spPr>
          <a:xfrm>
            <a:off x="10457371" y="2726218"/>
            <a:ext cx="774203" cy="37621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45</a:t>
            </a:r>
          </a:p>
        </p:txBody>
      </p:sp>
      <p:sp>
        <p:nvSpPr>
          <p:cNvPr id="18" name="Rectangle 17"/>
          <p:cNvSpPr/>
          <p:nvPr/>
        </p:nvSpPr>
        <p:spPr>
          <a:xfrm>
            <a:off x="713232" y="3102428"/>
            <a:ext cx="10765231" cy="431074"/>
          </a:xfrm>
          <a:prstGeom prst="rect">
            <a:avLst/>
          </a:prstGeom>
          <a:solidFill>
            <a:srgbClr val="1526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193868"/>
            <a:ext cx="1034592" cy="376210"/>
          </a:xfrm>
          <a:prstGeom prst="rect">
            <a:avLst/>
          </a:prstGeom>
          <a:noFill/>
        </p:spPr>
        <p:txBody>
          <a:bodyPr wrap="square" lIns="0" rIns="0" tIns="0" bIns="0">
            <a:spAutoFit/>
          </a:bodyPr>
          <a:lstStyle/>
          <a:p>
            <a:pPr algn="l">
              <a:lnSpc>
                <a:spcPct val="100000"/>
              </a:lnSpc>
              <a:defRPr sz="1250" b="1" i="0">
                <a:solidFill>
                  <a:srgbClr val="F1F5F3"/>
                </a:solidFill>
                <a:latin typeface="Segoe UI"/>
              </a:defRPr>
            </a:pPr>
            <a:r>
              <a:t>1:00</a:t>
            </a:r>
          </a:p>
        </p:txBody>
      </p:sp>
      <p:sp>
        <p:nvSpPr>
          <p:cNvPr id="20" name="TextBox 19"/>
          <p:cNvSpPr txBox="1"/>
          <p:nvPr/>
        </p:nvSpPr>
        <p:spPr>
          <a:xfrm>
            <a:off x="1994712" y="3193868"/>
            <a:ext cx="8325499" cy="37621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Step 2, analyse it: GeoPandas and Copilot</a:t>
            </a:r>
          </a:p>
        </p:txBody>
      </p:sp>
      <p:sp>
        <p:nvSpPr>
          <p:cNvPr id="21" name="TextBox 20"/>
          <p:cNvSpPr txBox="1"/>
          <p:nvPr/>
        </p:nvSpPr>
        <p:spPr>
          <a:xfrm>
            <a:off x="10457371" y="3193868"/>
            <a:ext cx="774203" cy="37621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50</a:t>
            </a:r>
          </a:p>
        </p:txBody>
      </p:sp>
      <p:sp>
        <p:nvSpPr>
          <p:cNvPr id="22" name="TextBox 21"/>
          <p:cNvSpPr txBox="1"/>
          <p:nvPr/>
        </p:nvSpPr>
        <p:spPr>
          <a:xfrm>
            <a:off x="822960" y="3661518"/>
            <a:ext cx="1034592" cy="376210"/>
          </a:xfrm>
          <a:prstGeom prst="rect">
            <a:avLst/>
          </a:prstGeom>
          <a:noFill/>
        </p:spPr>
        <p:txBody>
          <a:bodyPr wrap="square" lIns="0" rIns="0" tIns="0" bIns="0">
            <a:spAutoFit/>
          </a:bodyPr>
          <a:lstStyle/>
          <a:p>
            <a:pPr algn="l">
              <a:lnSpc>
                <a:spcPct val="100000"/>
              </a:lnSpc>
              <a:defRPr sz="1250" b="1" i="0">
                <a:solidFill>
                  <a:srgbClr val="F1F5F3"/>
                </a:solidFill>
                <a:latin typeface="Segoe UI"/>
              </a:defRPr>
            </a:pPr>
            <a:r>
              <a:t>1:50</a:t>
            </a:r>
          </a:p>
        </p:txBody>
      </p:sp>
      <p:sp>
        <p:nvSpPr>
          <p:cNvPr id="23" name="TextBox 22"/>
          <p:cNvSpPr txBox="1"/>
          <p:nvPr/>
        </p:nvSpPr>
        <p:spPr>
          <a:xfrm>
            <a:off x="1994712" y="3661518"/>
            <a:ext cx="8325499" cy="37621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Break</a:t>
            </a:r>
          </a:p>
        </p:txBody>
      </p:sp>
      <p:sp>
        <p:nvSpPr>
          <p:cNvPr id="24" name="TextBox 23"/>
          <p:cNvSpPr txBox="1"/>
          <p:nvPr/>
        </p:nvSpPr>
        <p:spPr>
          <a:xfrm>
            <a:off x="10457371" y="3661518"/>
            <a:ext cx="774203" cy="37621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15</a:t>
            </a:r>
          </a:p>
        </p:txBody>
      </p:sp>
      <p:sp>
        <p:nvSpPr>
          <p:cNvPr id="25" name="Rectangle 24"/>
          <p:cNvSpPr/>
          <p:nvPr/>
        </p:nvSpPr>
        <p:spPr>
          <a:xfrm>
            <a:off x="713232" y="4037729"/>
            <a:ext cx="10765231" cy="431074"/>
          </a:xfrm>
          <a:prstGeom prst="rect">
            <a:avLst/>
          </a:prstGeom>
          <a:solidFill>
            <a:srgbClr val="1526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129169"/>
            <a:ext cx="1034592" cy="376210"/>
          </a:xfrm>
          <a:prstGeom prst="rect">
            <a:avLst/>
          </a:prstGeom>
          <a:noFill/>
        </p:spPr>
        <p:txBody>
          <a:bodyPr wrap="square" lIns="0" rIns="0" tIns="0" bIns="0">
            <a:spAutoFit/>
          </a:bodyPr>
          <a:lstStyle/>
          <a:p>
            <a:pPr algn="l">
              <a:lnSpc>
                <a:spcPct val="100000"/>
              </a:lnSpc>
              <a:defRPr sz="1250" b="1" i="0">
                <a:solidFill>
                  <a:srgbClr val="F1F5F3"/>
                </a:solidFill>
                <a:latin typeface="Segoe UI"/>
              </a:defRPr>
            </a:pPr>
            <a:r>
              <a:t>2:05</a:t>
            </a:r>
          </a:p>
        </p:txBody>
      </p:sp>
      <p:sp>
        <p:nvSpPr>
          <p:cNvPr id="27" name="TextBox 26"/>
          <p:cNvSpPr txBox="1"/>
          <p:nvPr/>
        </p:nvSpPr>
        <p:spPr>
          <a:xfrm>
            <a:off x="1994712" y="4129169"/>
            <a:ext cx="8325499" cy="37621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Step 3, add AI where it earns its place, and where it is quietly wrong</a:t>
            </a:r>
          </a:p>
        </p:txBody>
      </p:sp>
      <p:sp>
        <p:nvSpPr>
          <p:cNvPr id="28" name="TextBox 27"/>
          <p:cNvSpPr txBox="1"/>
          <p:nvPr/>
        </p:nvSpPr>
        <p:spPr>
          <a:xfrm>
            <a:off x="10457371" y="4129169"/>
            <a:ext cx="774203" cy="37621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45</a:t>
            </a:r>
          </a:p>
        </p:txBody>
      </p:sp>
      <p:sp>
        <p:nvSpPr>
          <p:cNvPr id="29" name="TextBox 28"/>
          <p:cNvSpPr txBox="1"/>
          <p:nvPr/>
        </p:nvSpPr>
        <p:spPr>
          <a:xfrm>
            <a:off x="822960" y="4596819"/>
            <a:ext cx="1034592" cy="376210"/>
          </a:xfrm>
          <a:prstGeom prst="rect">
            <a:avLst/>
          </a:prstGeom>
          <a:noFill/>
        </p:spPr>
        <p:txBody>
          <a:bodyPr wrap="square" lIns="0" rIns="0" tIns="0" bIns="0">
            <a:spAutoFit/>
          </a:bodyPr>
          <a:lstStyle/>
          <a:p>
            <a:pPr algn="l">
              <a:lnSpc>
                <a:spcPct val="100000"/>
              </a:lnSpc>
              <a:defRPr sz="1250" b="1" i="0">
                <a:solidFill>
                  <a:srgbClr val="F1F5F3"/>
                </a:solidFill>
                <a:latin typeface="Segoe UI"/>
              </a:defRPr>
            </a:pPr>
            <a:r>
              <a:t>2:50</a:t>
            </a:r>
          </a:p>
        </p:txBody>
      </p:sp>
      <p:sp>
        <p:nvSpPr>
          <p:cNvPr id="30" name="TextBox 29"/>
          <p:cNvSpPr txBox="1"/>
          <p:nvPr/>
        </p:nvSpPr>
        <p:spPr>
          <a:xfrm>
            <a:off x="1994712" y="4596819"/>
            <a:ext cx="8325499" cy="37621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Step 4, publish it: Delta, Direct Lake, Power BI</a:t>
            </a:r>
          </a:p>
        </p:txBody>
      </p:sp>
      <p:sp>
        <p:nvSpPr>
          <p:cNvPr id="31" name="TextBox 30"/>
          <p:cNvSpPr txBox="1"/>
          <p:nvPr/>
        </p:nvSpPr>
        <p:spPr>
          <a:xfrm>
            <a:off x="10457371" y="4596819"/>
            <a:ext cx="774203" cy="37621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45</a:t>
            </a:r>
          </a:p>
        </p:txBody>
      </p:sp>
      <p:sp>
        <p:nvSpPr>
          <p:cNvPr id="32" name="Rectangle 31"/>
          <p:cNvSpPr/>
          <p:nvPr/>
        </p:nvSpPr>
        <p:spPr>
          <a:xfrm>
            <a:off x="713232" y="4973029"/>
            <a:ext cx="10765231" cy="431074"/>
          </a:xfrm>
          <a:prstGeom prst="rect">
            <a:avLst/>
          </a:prstGeom>
          <a:solidFill>
            <a:srgbClr val="1526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5064469"/>
            <a:ext cx="1034592" cy="376210"/>
          </a:xfrm>
          <a:prstGeom prst="rect">
            <a:avLst/>
          </a:prstGeom>
          <a:noFill/>
        </p:spPr>
        <p:txBody>
          <a:bodyPr wrap="square" lIns="0" rIns="0" tIns="0" bIns="0">
            <a:spAutoFit/>
          </a:bodyPr>
          <a:lstStyle/>
          <a:p>
            <a:pPr algn="l">
              <a:lnSpc>
                <a:spcPct val="100000"/>
              </a:lnSpc>
              <a:defRPr sz="1250" b="1" i="0">
                <a:solidFill>
                  <a:srgbClr val="F1F5F3"/>
                </a:solidFill>
                <a:latin typeface="Segoe UI"/>
              </a:defRPr>
            </a:pPr>
            <a:r>
              <a:t>3:35</a:t>
            </a:r>
          </a:p>
        </p:txBody>
      </p:sp>
      <p:sp>
        <p:nvSpPr>
          <p:cNvPr id="34" name="TextBox 33"/>
          <p:cNvSpPr txBox="1"/>
          <p:nvPr/>
        </p:nvSpPr>
        <p:spPr>
          <a:xfrm>
            <a:off x="1994712" y="5064469"/>
            <a:ext cx="8325499" cy="37621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Step 5, make it repeatable, assignment, office hours</a:t>
            </a:r>
          </a:p>
        </p:txBody>
      </p:sp>
      <p:sp>
        <p:nvSpPr>
          <p:cNvPr id="35" name="TextBox 34"/>
          <p:cNvSpPr txBox="1"/>
          <p:nvPr/>
        </p:nvSpPr>
        <p:spPr>
          <a:xfrm>
            <a:off x="10457371" y="5064469"/>
            <a:ext cx="774203" cy="37621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25</a:t>
            </a:r>
          </a:p>
        </p:txBody>
      </p:sp>
      <p:sp>
        <p:nvSpPr>
          <p:cNvPr id="36" name="TextBox 35"/>
          <p:cNvSpPr txBox="1"/>
          <p:nvPr/>
        </p:nvSpPr>
        <p:spPr>
          <a:xfrm>
            <a:off x="822960" y="5897880"/>
            <a:ext cx="10332720" cy="457200"/>
          </a:xfrm>
          <a:prstGeom prst="rect">
            <a:avLst/>
          </a:prstGeom>
          <a:noFill/>
        </p:spPr>
        <p:txBody>
          <a:bodyPr wrap="square" lIns="0" rIns="0" tIns="0" bIns="0">
            <a:spAutoFit/>
          </a:bodyPr>
          <a:lstStyle/>
          <a:p>
            <a:pPr algn="l">
              <a:lnSpc>
                <a:spcPct val="100000"/>
              </a:lnSpc>
              <a:defRPr sz="1300" b="0" i="0">
                <a:solidFill>
                  <a:srgbClr val="3FC17E"/>
                </a:solidFill>
                <a:latin typeface="Segoe UI"/>
              </a:defRPr>
            </a:pPr>
            <a:r>
              <a:t>Four checkpoints. Each one has a solution notebook. Using it is the designed path.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0:00</a:t>
            </a:r>
          </a:p>
        </p:txBody>
      </p:sp>
      <p:pic>
        <p:nvPicPr>
          <p:cNvPr id="4" name="Picture 3" descr="people_3fc17e.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3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Homework debrief</a:t>
            </a:r>
          </a:p>
        </p:txBody>
      </p:sp>
      <p:sp>
        <p:nvSpPr>
          <p:cNvPr id="7" name="Oval 6"/>
          <p:cNvSpPr/>
          <p:nvPr/>
        </p:nvSpPr>
        <p:spPr>
          <a:xfrm>
            <a:off x="822960" y="2148839"/>
            <a:ext cx="402336" cy="402336"/>
          </a:xfrm>
          <a:prstGeom prst="ellipse">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1</a:t>
            </a:r>
          </a:p>
        </p:txBody>
      </p:sp>
      <p:sp>
        <p:nvSpPr>
          <p:cNvPr id="8" name="TextBox 7"/>
          <p:cNvSpPr txBox="1"/>
          <p:nvPr/>
        </p:nvSpPr>
        <p:spPr>
          <a:xfrm>
            <a:off x="1426464" y="2130551"/>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Three volunteers, two minutes each</a:t>
            </a:r>
          </a:p>
        </p:txBody>
      </p:sp>
      <p:sp>
        <p:nvSpPr>
          <p:cNvPr id="9" name="TextBox 8"/>
          <p:cNvSpPr txBox="1"/>
          <p:nvPr/>
        </p:nvSpPr>
        <p:spPr>
          <a:xfrm>
            <a:off x="1426464" y="2441447"/>
            <a:ext cx="7863840" cy="566928"/>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Show the area of interest you chose and the row count you landed. No slides, just the notebook.</a:t>
            </a:r>
          </a:p>
        </p:txBody>
      </p:sp>
      <p:sp>
        <p:nvSpPr>
          <p:cNvPr id="10" name="TextBox 9"/>
          <p:cNvSpPr txBox="1"/>
          <p:nvPr/>
        </p:nvSpPr>
        <p:spPr>
          <a:xfrm>
            <a:off x="9357055" y="2167127"/>
            <a:ext cx="2011680" cy="365760"/>
          </a:xfrm>
          <a:prstGeom prst="rect">
            <a:avLst/>
          </a:prstGeom>
          <a:noFill/>
        </p:spPr>
        <p:txBody>
          <a:bodyPr wrap="square" lIns="0" rIns="0" tIns="0" bIns="0">
            <a:spAutoFit/>
          </a:bodyPr>
          <a:lstStyle/>
          <a:p>
            <a:pPr algn="r">
              <a:lnSpc>
                <a:spcPct val="100000"/>
              </a:lnSpc>
              <a:defRPr sz="1300" b="1" i="0">
                <a:solidFill>
                  <a:srgbClr val="3FC17E"/>
                </a:solidFill>
                <a:latin typeface="Segoe UI"/>
              </a:defRPr>
            </a:pPr>
            <a:r>
              <a:t>6 min</a:t>
            </a:r>
          </a:p>
        </p:txBody>
      </p:sp>
      <p:sp>
        <p:nvSpPr>
          <p:cNvPr id="11" name="Oval 10"/>
          <p:cNvSpPr/>
          <p:nvPr/>
        </p:nvSpPr>
        <p:spPr>
          <a:xfrm>
            <a:off x="822960" y="3081527"/>
            <a:ext cx="402336" cy="402336"/>
          </a:xfrm>
          <a:prstGeom prst="ellipse">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2</a:t>
            </a:r>
          </a:p>
        </p:txBody>
      </p:sp>
      <p:sp>
        <p:nvSpPr>
          <p:cNvPr id="12" name="TextBox 11"/>
          <p:cNvSpPr txBox="1"/>
          <p:nvPr/>
        </p:nvSpPr>
        <p:spPr>
          <a:xfrm>
            <a:off x="1426464" y="3063239"/>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What went wrong</a:t>
            </a:r>
          </a:p>
        </p:txBody>
      </p:sp>
      <p:sp>
        <p:nvSpPr>
          <p:cNvPr id="13" name="TextBox 12"/>
          <p:cNvSpPr txBox="1"/>
          <p:nvPr/>
        </p:nvSpPr>
        <p:spPr>
          <a:xfrm>
            <a:off x="1426464" y="3374135"/>
            <a:ext cx="7863840" cy="566928"/>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The bounding box, almost always. Reversed corners or a dropped minus sign on the longitude.</a:t>
            </a:r>
          </a:p>
        </p:txBody>
      </p:sp>
      <p:sp>
        <p:nvSpPr>
          <p:cNvPr id="14" name="TextBox 13"/>
          <p:cNvSpPr txBox="1"/>
          <p:nvPr/>
        </p:nvSpPr>
        <p:spPr>
          <a:xfrm>
            <a:off x="9357055" y="3099815"/>
            <a:ext cx="2011680" cy="365760"/>
          </a:xfrm>
          <a:prstGeom prst="rect">
            <a:avLst/>
          </a:prstGeom>
          <a:noFill/>
        </p:spPr>
        <p:txBody>
          <a:bodyPr wrap="square" lIns="0" rIns="0" tIns="0" bIns="0">
            <a:spAutoFit/>
          </a:bodyPr>
          <a:lstStyle/>
          <a:p>
            <a:pPr algn="r">
              <a:lnSpc>
                <a:spcPct val="100000"/>
              </a:lnSpc>
              <a:defRPr sz="1300" b="1" i="0">
                <a:solidFill>
                  <a:srgbClr val="3FC17E"/>
                </a:solidFill>
                <a:latin typeface="Segoe UI"/>
              </a:defRPr>
            </a:pPr>
            <a:r>
              <a:t>4 min</a:t>
            </a:r>
          </a:p>
        </p:txBody>
      </p:sp>
      <p:sp>
        <p:nvSpPr>
          <p:cNvPr id="15" name="Oval 14"/>
          <p:cNvSpPr/>
          <p:nvPr/>
        </p:nvSpPr>
        <p:spPr>
          <a:xfrm>
            <a:off x="822960" y="4014215"/>
            <a:ext cx="402336" cy="402336"/>
          </a:xfrm>
          <a:prstGeom prst="ellipse">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3</a:t>
            </a:r>
          </a:p>
        </p:txBody>
      </p:sp>
      <p:sp>
        <p:nvSpPr>
          <p:cNvPr id="16" name="TextBox 15"/>
          <p:cNvSpPr txBox="1"/>
          <p:nvPr/>
        </p:nvSpPr>
        <p:spPr>
          <a:xfrm>
            <a:off x="1426464" y="3995927"/>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What surprised you</a:t>
            </a:r>
          </a:p>
        </p:txBody>
      </p:sp>
      <p:sp>
        <p:nvSpPr>
          <p:cNvPr id="17" name="TextBox 16"/>
          <p:cNvSpPr txBox="1"/>
          <p:nvPr/>
        </p:nvSpPr>
        <p:spPr>
          <a:xfrm>
            <a:off x="1426464" y="4306824"/>
            <a:ext cx="7863840" cy="566928"/>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Usually the cloud. The month you wanted had no clear scene, which is the real problem this pipeline exists to handle.</a:t>
            </a:r>
          </a:p>
        </p:txBody>
      </p:sp>
      <p:sp>
        <p:nvSpPr>
          <p:cNvPr id="18" name="TextBox 17"/>
          <p:cNvSpPr txBox="1"/>
          <p:nvPr/>
        </p:nvSpPr>
        <p:spPr>
          <a:xfrm>
            <a:off x="9357055" y="4032503"/>
            <a:ext cx="2011680" cy="365760"/>
          </a:xfrm>
          <a:prstGeom prst="rect">
            <a:avLst/>
          </a:prstGeom>
          <a:noFill/>
        </p:spPr>
        <p:txBody>
          <a:bodyPr wrap="square" lIns="0" rIns="0" tIns="0" bIns="0">
            <a:spAutoFit/>
          </a:bodyPr>
          <a:lstStyle/>
          <a:p>
            <a:pPr algn="r">
              <a:lnSpc>
                <a:spcPct val="100000"/>
              </a:lnSpc>
              <a:defRPr sz="1300" b="1" i="0">
                <a:solidFill>
                  <a:srgbClr val="3FC17E"/>
                </a:solidFill>
                <a:latin typeface="Segoe UI"/>
              </a:defRPr>
            </a:pPr>
            <a:r>
              <a:t>3 min</a:t>
            </a:r>
          </a:p>
        </p:txBody>
      </p:sp>
      <p:sp>
        <p:nvSpPr>
          <p:cNvPr id="19" name="Oval 18"/>
          <p:cNvSpPr/>
          <p:nvPr/>
        </p:nvSpPr>
        <p:spPr>
          <a:xfrm>
            <a:off x="822960" y="4946903"/>
            <a:ext cx="402336" cy="402336"/>
          </a:xfrm>
          <a:prstGeom prst="ellipse">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4</a:t>
            </a:r>
          </a:p>
        </p:txBody>
      </p:sp>
      <p:sp>
        <p:nvSpPr>
          <p:cNvPr id="20" name="TextBox 19"/>
          <p:cNvSpPr txBox="1"/>
          <p:nvPr/>
        </p:nvSpPr>
        <p:spPr>
          <a:xfrm>
            <a:off x="1426464" y="4928615"/>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Park the rest</a:t>
            </a:r>
          </a:p>
        </p:txBody>
      </p:sp>
      <p:sp>
        <p:nvSpPr>
          <p:cNvPr id="21" name="TextBox 20"/>
          <p:cNvSpPr txBox="1"/>
          <p:nvPr/>
        </p:nvSpPr>
        <p:spPr>
          <a:xfrm>
            <a:off x="1426464" y="5239512"/>
            <a:ext cx="7863840" cy="566928"/>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Anything unresolved goes in the channel and gets picked up in office hours at 3:50.</a:t>
            </a:r>
          </a:p>
        </p:txBody>
      </p:sp>
      <p:sp>
        <p:nvSpPr>
          <p:cNvPr id="22" name="TextBox 21"/>
          <p:cNvSpPr txBox="1"/>
          <p:nvPr/>
        </p:nvSpPr>
        <p:spPr>
          <a:xfrm>
            <a:off x="9357055" y="4965191"/>
            <a:ext cx="2011680" cy="365760"/>
          </a:xfrm>
          <a:prstGeom prst="rect">
            <a:avLst/>
          </a:prstGeom>
          <a:noFill/>
        </p:spPr>
        <p:txBody>
          <a:bodyPr wrap="square" lIns="0" rIns="0" tIns="0" bIns="0">
            <a:spAutoFit/>
          </a:bodyPr>
          <a:lstStyle/>
          <a:p>
            <a:pPr algn="r">
              <a:lnSpc>
                <a:spcPct val="100000"/>
              </a:lnSpc>
              <a:defRPr sz="1300" b="1" i="0">
                <a:solidFill>
                  <a:srgbClr val="3FC17E"/>
                </a:solidFill>
                <a:latin typeface="Segoe UI"/>
              </a:defRPr>
            </a:pPr>
            <a:r>
              <a:t>2 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RECAP</a:t>
            </a:r>
          </a:p>
        </p:txBody>
      </p:sp>
      <p:pic>
        <p:nvPicPr>
          <p:cNvPr id="4" name="Picture 3" descr="layers_3fc17e.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4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The contracts you agreed in Session 1</a:t>
            </a:r>
          </a:p>
        </p:txBody>
      </p:sp>
      <p:sp>
        <p:nvSpPr>
          <p:cNvPr id="7" name="Rounded Rectangle 6"/>
          <p:cNvSpPr/>
          <p:nvPr/>
        </p:nvSpPr>
        <p:spPr>
          <a:xfrm>
            <a:off x="822960" y="1700784"/>
            <a:ext cx="10543032" cy="1371600"/>
          </a:xfrm>
          <a:prstGeom prst="roundRect">
            <a:avLst>
              <a:gd name="adj" fmla="val 6000"/>
            </a:avLst>
          </a:prstGeom>
          <a:solidFill>
            <a:srgbClr val="152621"/>
          </a:solidFill>
          <a:ln w="19050">
            <a:solidFill>
              <a:srgbClr val="C084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ownload_c0844a.png"/>
          <p:cNvPicPr>
            <a:picLocks noChangeAspect="1"/>
          </p:cNvPicPr>
          <p:nvPr/>
        </p:nvPicPr>
        <p:blipFill>
          <a:blip r:embed="rId3"/>
          <a:stretch>
            <a:fillRect/>
          </a:stretch>
        </p:blipFill>
        <p:spPr>
          <a:xfrm>
            <a:off x="1115568" y="1975104"/>
            <a:ext cx="402336" cy="402336"/>
          </a:xfrm>
          <a:prstGeom prst="rect">
            <a:avLst/>
          </a:prstGeom>
        </p:spPr>
      </p:pic>
      <p:sp>
        <p:nvSpPr>
          <p:cNvPr id="9" name="TextBox 8"/>
          <p:cNvSpPr txBox="1"/>
          <p:nvPr/>
        </p:nvSpPr>
        <p:spPr>
          <a:xfrm>
            <a:off x="1691640" y="1938528"/>
            <a:ext cx="2377440" cy="329184"/>
          </a:xfrm>
          <a:prstGeom prst="rect">
            <a:avLst/>
          </a:prstGeom>
          <a:noFill/>
        </p:spPr>
        <p:txBody>
          <a:bodyPr wrap="square" lIns="0" rIns="0" tIns="0" bIns="0">
            <a:spAutoFit/>
          </a:bodyPr>
          <a:lstStyle/>
          <a:p>
            <a:pPr algn="l">
              <a:lnSpc>
                <a:spcPct val="100000"/>
              </a:lnSpc>
              <a:defRPr sz="1700" b="1" i="0">
                <a:solidFill>
                  <a:srgbClr val="C0844A"/>
                </a:solidFill>
                <a:latin typeface="Segoe UI"/>
              </a:defRPr>
            </a:pPr>
            <a:r>
              <a:t>BRONZE</a:t>
            </a:r>
          </a:p>
        </p:txBody>
      </p:sp>
      <p:sp>
        <p:nvSpPr>
          <p:cNvPr id="10" name="TextBox 9"/>
          <p:cNvSpPr txBox="1"/>
          <p:nvPr/>
        </p:nvSpPr>
        <p:spPr>
          <a:xfrm>
            <a:off x="1691640" y="2304288"/>
            <a:ext cx="2560320" cy="365760"/>
          </a:xfrm>
          <a:prstGeom prst="rect">
            <a:avLst/>
          </a:prstGeom>
          <a:noFill/>
        </p:spPr>
        <p:txBody>
          <a:bodyPr wrap="square" lIns="0" rIns="0" tIns="0" bIns="0">
            <a:spAutoFit/>
          </a:bodyPr>
          <a:lstStyle/>
          <a:p>
            <a:pPr algn="l">
              <a:lnSpc>
                <a:spcPct val="100000"/>
              </a:lnSpc>
              <a:defRPr sz="1150" b="0" i="0">
                <a:solidFill>
                  <a:srgbClr val="647C74"/>
                </a:solidFill>
                <a:latin typeface="Segoe UI"/>
              </a:defRPr>
            </a:pPr>
            <a:r>
              <a:t>fidelity to source</a:t>
            </a:r>
          </a:p>
        </p:txBody>
      </p:sp>
      <p:sp>
        <p:nvSpPr>
          <p:cNvPr id="11" name="TextBox 10"/>
          <p:cNvSpPr txBox="1"/>
          <p:nvPr/>
        </p:nvSpPr>
        <p:spPr>
          <a:xfrm>
            <a:off x="4389120" y="1920240"/>
            <a:ext cx="6675120" cy="1005840"/>
          </a:xfrm>
          <a:prstGeom prst="rect">
            <a:avLst/>
          </a:prstGeom>
          <a:noFill/>
        </p:spPr>
        <p:txBody>
          <a:bodyPr wrap="square" lIns="0" rIns="0">
            <a:spAutoFit/>
          </a:bodyPr>
          <a:lstStyle/>
          <a:p>
            <a:pPr>
              <a:lnSpc>
                <a:spcPct val="115000"/>
              </a:lnSpc>
              <a:spcBef>
                <a:spcPts val="0"/>
              </a:spcBef>
            </a:pPr>
            <a:r>
              <a:rPr sz="1250" b="1">
                <a:solidFill>
                  <a:srgbClr val="C0844A"/>
                </a:solidFill>
                <a:latin typeface="Segoe UI"/>
              </a:rPr>
              <a:t>·  </a:t>
            </a:r>
            <a:r>
              <a:rPr sz="1250">
                <a:solidFill>
                  <a:srgbClr val="9CAFA8"/>
                </a:solidFill>
                <a:latin typeface="Segoe UI"/>
              </a:rPr>
              <a:t>Scene catalogue, one row per scene, unsigned hrefs</a:t>
            </a:r>
          </a:p>
          <a:p>
            <a:pPr>
              <a:lnSpc>
                <a:spcPct val="115000"/>
              </a:lnSpc>
              <a:spcBef>
                <a:spcPts val="900"/>
              </a:spcBef>
            </a:pPr>
            <a:r>
              <a:rPr sz="1250" b="1">
                <a:solidFill>
                  <a:srgbClr val="C0844A"/>
                </a:solidFill>
                <a:latin typeface="Segoe UI"/>
              </a:rPr>
              <a:t>·  </a:t>
            </a:r>
            <a:r>
              <a:rPr sz="1250">
                <a:solidFill>
                  <a:srgbClr val="9CAFA8"/>
                </a:solidFill>
                <a:latin typeface="Segoe UI"/>
              </a:rPr>
              <a:t>Raw windowed rasters, native projection, nothing masked</a:t>
            </a:r>
          </a:p>
          <a:p>
            <a:pPr>
              <a:lnSpc>
                <a:spcPct val="115000"/>
              </a:lnSpc>
              <a:spcBef>
                <a:spcPts val="900"/>
              </a:spcBef>
            </a:pPr>
            <a:r>
              <a:rPr sz="1250" b="1">
                <a:solidFill>
                  <a:srgbClr val="C0844A"/>
                </a:solidFill>
                <a:latin typeface="Segoe UI"/>
              </a:rPr>
              <a:t>·  </a:t>
            </a:r>
            <a:r>
              <a:rPr sz="1250">
                <a:solidFill>
                  <a:srgbClr val="9CAFA8"/>
                </a:solidFill>
                <a:latin typeface="Segoe UI"/>
              </a:rPr>
              <a:t>Append only, every run tagged with a pipeline_run_id</a:t>
            </a:r>
          </a:p>
        </p:txBody>
      </p:sp>
      <p:sp>
        <p:nvSpPr>
          <p:cNvPr id="12" name="Rounded Rectangle 11"/>
          <p:cNvSpPr/>
          <p:nvPr/>
        </p:nvSpPr>
        <p:spPr>
          <a:xfrm>
            <a:off x="822960" y="3227832"/>
            <a:ext cx="10543032" cy="1371600"/>
          </a:xfrm>
          <a:prstGeom prst="roundRect">
            <a:avLst>
              <a:gd name="adj" fmla="val 6000"/>
            </a:avLst>
          </a:prstGeom>
          <a:solidFill>
            <a:srgbClr val="152621"/>
          </a:solidFill>
          <a:ln w="19050">
            <a:solidFill>
              <a:srgbClr val="B6C2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ilter_b6c2c9.png"/>
          <p:cNvPicPr>
            <a:picLocks noChangeAspect="1"/>
          </p:cNvPicPr>
          <p:nvPr/>
        </p:nvPicPr>
        <p:blipFill>
          <a:blip r:embed="rId4"/>
          <a:stretch>
            <a:fillRect/>
          </a:stretch>
        </p:blipFill>
        <p:spPr>
          <a:xfrm>
            <a:off x="1115568" y="3502152"/>
            <a:ext cx="402336" cy="402336"/>
          </a:xfrm>
          <a:prstGeom prst="rect">
            <a:avLst/>
          </a:prstGeom>
        </p:spPr>
      </p:pic>
      <p:sp>
        <p:nvSpPr>
          <p:cNvPr id="14" name="TextBox 13"/>
          <p:cNvSpPr txBox="1"/>
          <p:nvPr/>
        </p:nvSpPr>
        <p:spPr>
          <a:xfrm>
            <a:off x="1691640" y="3465576"/>
            <a:ext cx="2377440" cy="329184"/>
          </a:xfrm>
          <a:prstGeom prst="rect">
            <a:avLst/>
          </a:prstGeom>
          <a:noFill/>
        </p:spPr>
        <p:txBody>
          <a:bodyPr wrap="square" lIns="0" rIns="0" tIns="0" bIns="0">
            <a:spAutoFit/>
          </a:bodyPr>
          <a:lstStyle/>
          <a:p>
            <a:pPr algn="l">
              <a:lnSpc>
                <a:spcPct val="100000"/>
              </a:lnSpc>
              <a:defRPr sz="1700" b="1" i="0">
                <a:solidFill>
                  <a:srgbClr val="B6C2C9"/>
                </a:solidFill>
                <a:latin typeface="Segoe UI"/>
              </a:defRPr>
            </a:pPr>
            <a:r>
              <a:t>SILVER</a:t>
            </a:r>
          </a:p>
        </p:txBody>
      </p:sp>
      <p:sp>
        <p:nvSpPr>
          <p:cNvPr id="15" name="TextBox 14"/>
          <p:cNvSpPr txBox="1"/>
          <p:nvPr/>
        </p:nvSpPr>
        <p:spPr>
          <a:xfrm>
            <a:off x="1691640" y="3831336"/>
            <a:ext cx="2560320" cy="365760"/>
          </a:xfrm>
          <a:prstGeom prst="rect">
            <a:avLst/>
          </a:prstGeom>
          <a:noFill/>
        </p:spPr>
        <p:txBody>
          <a:bodyPr wrap="square" lIns="0" rIns="0" tIns="0" bIns="0">
            <a:spAutoFit/>
          </a:bodyPr>
          <a:lstStyle/>
          <a:p>
            <a:pPr algn="l">
              <a:lnSpc>
                <a:spcPct val="100000"/>
              </a:lnSpc>
              <a:defRPr sz="1150" b="0" i="0">
                <a:solidFill>
                  <a:srgbClr val="647C74"/>
                </a:solidFill>
                <a:latin typeface="Segoe UI"/>
              </a:defRPr>
            </a:pPr>
            <a:r>
              <a:t>comparability</a:t>
            </a:r>
          </a:p>
        </p:txBody>
      </p:sp>
      <p:sp>
        <p:nvSpPr>
          <p:cNvPr id="16" name="TextBox 15"/>
          <p:cNvSpPr txBox="1"/>
          <p:nvPr/>
        </p:nvSpPr>
        <p:spPr>
          <a:xfrm>
            <a:off x="4389120" y="3447288"/>
            <a:ext cx="6675120" cy="1005840"/>
          </a:xfrm>
          <a:prstGeom prst="rect">
            <a:avLst/>
          </a:prstGeom>
          <a:noFill/>
        </p:spPr>
        <p:txBody>
          <a:bodyPr wrap="square" lIns="0" rIns="0">
            <a:spAutoFit/>
          </a:bodyPr>
          <a:lstStyle/>
          <a:p>
            <a:pPr>
              <a:lnSpc>
                <a:spcPct val="115000"/>
              </a:lnSpc>
              <a:spcBef>
                <a:spcPts val="0"/>
              </a:spcBef>
            </a:pPr>
            <a:r>
              <a:rPr sz="1250" b="1">
                <a:solidFill>
                  <a:srgbClr val="B6C2C9"/>
                </a:solidFill>
                <a:latin typeface="Segoe UI"/>
              </a:rPr>
              <a:t>·  </a:t>
            </a:r>
            <a:r>
              <a:rPr sz="1250">
                <a:solidFill>
                  <a:srgbClr val="9CAFA8"/>
                </a:solidFill>
                <a:latin typeface="Segoe UI"/>
              </a:rPr>
              <a:t>Reprojected once to EPSG:2953, cloud and shadow masked</a:t>
            </a:r>
          </a:p>
          <a:p>
            <a:pPr>
              <a:lnSpc>
                <a:spcPct val="115000"/>
              </a:lnSpc>
              <a:spcBef>
                <a:spcPts val="900"/>
              </a:spcBef>
            </a:pPr>
            <a:r>
              <a:rPr sz="1250" b="1">
                <a:solidFill>
                  <a:srgbClr val="B6C2C9"/>
                </a:solidFill>
                <a:latin typeface="Segoe UI"/>
              </a:rPr>
              <a:t>·  </a:t>
            </a:r>
            <a:r>
              <a:rPr sz="1250">
                <a:solidFill>
                  <a:srgbClr val="9CAFA8"/>
                </a:solidFill>
                <a:latin typeface="Segoe UI"/>
              </a:rPr>
              <a:t>Spectral indices computed, NDVI, NDMI, NBR</a:t>
            </a:r>
          </a:p>
          <a:p>
            <a:pPr>
              <a:lnSpc>
                <a:spcPct val="115000"/>
              </a:lnSpc>
              <a:spcBef>
                <a:spcPts val="900"/>
              </a:spcBef>
            </a:pPr>
            <a:r>
              <a:rPr sz="1250" b="1">
                <a:solidFill>
                  <a:srgbClr val="B6C2C9"/>
                </a:solidFill>
                <a:latin typeface="Segoe UI"/>
              </a:rPr>
              <a:t>·  </a:t>
            </a:r>
            <a:r>
              <a:rPr sz="1250">
                <a:solidFill>
                  <a:srgbClr val="9CAFA8"/>
                </a:solidFill>
                <a:latin typeface="Segoe UI"/>
              </a:rPr>
              <a:t>One row per stand per scene date</a:t>
            </a:r>
          </a:p>
        </p:txBody>
      </p:sp>
      <p:sp>
        <p:nvSpPr>
          <p:cNvPr id="17" name="Rounded Rectangle 16"/>
          <p:cNvSpPr/>
          <p:nvPr/>
        </p:nvSpPr>
        <p:spPr>
          <a:xfrm>
            <a:off x="822960" y="4754880"/>
            <a:ext cx="10543032" cy="1371600"/>
          </a:xfrm>
          <a:prstGeom prst="roundRect">
            <a:avLst>
              <a:gd name="adj" fmla="val 6000"/>
            </a:avLst>
          </a:prstGeom>
          <a:solidFill>
            <a:srgbClr val="152621"/>
          </a:solidFill>
          <a:ln w="19050">
            <a:solidFill>
              <a:srgbClr val="E3B3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arget_e3b341.png"/>
          <p:cNvPicPr>
            <a:picLocks noChangeAspect="1"/>
          </p:cNvPicPr>
          <p:nvPr/>
        </p:nvPicPr>
        <p:blipFill>
          <a:blip r:embed="rId5"/>
          <a:stretch>
            <a:fillRect/>
          </a:stretch>
        </p:blipFill>
        <p:spPr>
          <a:xfrm>
            <a:off x="1115568" y="5029200"/>
            <a:ext cx="402336" cy="402336"/>
          </a:xfrm>
          <a:prstGeom prst="rect">
            <a:avLst/>
          </a:prstGeom>
        </p:spPr>
      </p:pic>
      <p:sp>
        <p:nvSpPr>
          <p:cNvPr id="19" name="TextBox 18"/>
          <p:cNvSpPr txBox="1"/>
          <p:nvPr/>
        </p:nvSpPr>
        <p:spPr>
          <a:xfrm>
            <a:off x="1691640" y="4992624"/>
            <a:ext cx="2377440" cy="329184"/>
          </a:xfrm>
          <a:prstGeom prst="rect">
            <a:avLst/>
          </a:prstGeom>
          <a:noFill/>
        </p:spPr>
        <p:txBody>
          <a:bodyPr wrap="square" lIns="0" rIns="0" tIns="0" bIns="0">
            <a:spAutoFit/>
          </a:bodyPr>
          <a:lstStyle/>
          <a:p>
            <a:pPr algn="l">
              <a:lnSpc>
                <a:spcPct val="100000"/>
              </a:lnSpc>
              <a:defRPr sz="1700" b="1" i="0">
                <a:solidFill>
                  <a:srgbClr val="E3B341"/>
                </a:solidFill>
                <a:latin typeface="Segoe UI"/>
              </a:defRPr>
            </a:pPr>
            <a:r>
              <a:t>GOLD</a:t>
            </a:r>
          </a:p>
        </p:txBody>
      </p:sp>
      <p:sp>
        <p:nvSpPr>
          <p:cNvPr id="20" name="TextBox 19"/>
          <p:cNvSpPr txBox="1"/>
          <p:nvPr/>
        </p:nvSpPr>
        <p:spPr>
          <a:xfrm>
            <a:off x="1691640" y="5358384"/>
            <a:ext cx="2560320" cy="365760"/>
          </a:xfrm>
          <a:prstGeom prst="rect">
            <a:avLst/>
          </a:prstGeom>
          <a:noFill/>
        </p:spPr>
        <p:txBody>
          <a:bodyPr wrap="square" lIns="0" rIns="0" tIns="0" bIns="0">
            <a:spAutoFit/>
          </a:bodyPr>
          <a:lstStyle/>
          <a:p>
            <a:pPr algn="l">
              <a:lnSpc>
                <a:spcPct val="100000"/>
              </a:lnSpc>
              <a:defRPr sz="1150" b="0" i="0">
                <a:solidFill>
                  <a:srgbClr val="647C74"/>
                </a:solidFill>
                <a:latin typeface="Segoe UI"/>
              </a:defRPr>
            </a:pPr>
            <a:r>
              <a:t>meaning for a decision</a:t>
            </a:r>
          </a:p>
        </p:txBody>
      </p:sp>
      <p:sp>
        <p:nvSpPr>
          <p:cNvPr id="21" name="TextBox 20"/>
          <p:cNvSpPr txBox="1"/>
          <p:nvPr/>
        </p:nvSpPr>
        <p:spPr>
          <a:xfrm>
            <a:off x="4389120" y="4974336"/>
            <a:ext cx="6675120" cy="1005840"/>
          </a:xfrm>
          <a:prstGeom prst="rect">
            <a:avLst/>
          </a:prstGeom>
          <a:noFill/>
        </p:spPr>
        <p:txBody>
          <a:bodyPr wrap="square" lIns="0" rIns="0">
            <a:spAutoFit/>
          </a:bodyPr>
          <a:lstStyle/>
          <a:p>
            <a:pPr>
              <a:lnSpc>
                <a:spcPct val="115000"/>
              </a:lnSpc>
              <a:spcBef>
                <a:spcPts val="0"/>
              </a:spcBef>
            </a:pPr>
            <a:r>
              <a:rPr sz="1250" b="1">
                <a:solidFill>
                  <a:srgbClr val="E3B341"/>
                </a:solidFill>
                <a:latin typeface="Segoe UI"/>
              </a:rPr>
              <a:t>·  </a:t>
            </a:r>
            <a:r>
              <a:rPr sz="1250">
                <a:solidFill>
                  <a:srgbClr val="9CAFA8"/>
                </a:solidFill>
                <a:latin typeface="Segoe UI"/>
              </a:rPr>
              <a:t>Classified stands with a confidence and a threshold you can point at</a:t>
            </a:r>
          </a:p>
          <a:p>
            <a:pPr>
              <a:lnSpc>
                <a:spcPct val="115000"/>
              </a:lnSpc>
              <a:spcBef>
                <a:spcPts val="900"/>
              </a:spcBef>
            </a:pPr>
            <a:r>
              <a:rPr sz="1250" b="1">
                <a:solidFill>
                  <a:srgbClr val="E3B341"/>
                </a:solidFill>
                <a:latin typeface="Segoe UI"/>
              </a:rPr>
              <a:t>·  </a:t>
            </a:r>
            <a:r>
              <a:rPr sz="1250">
                <a:solidFill>
                  <a:srgbClr val="9CAFA8"/>
                </a:solidFill>
                <a:latin typeface="Segoe UI"/>
              </a:rPr>
              <a:t>Star schema, facts and dimensions, ready for Direct Lake</a:t>
            </a:r>
          </a:p>
          <a:p>
            <a:pPr>
              <a:lnSpc>
                <a:spcPct val="115000"/>
              </a:lnSpc>
              <a:spcBef>
                <a:spcPts val="900"/>
              </a:spcBef>
            </a:pPr>
            <a:r>
              <a:rPr sz="1250" b="1">
                <a:solidFill>
                  <a:srgbClr val="E3B341"/>
                </a:solidFill>
                <a:latin typeface="Segoe UI"/>
              </a:rPr>
              <a:t>·  </a:t>
            </a:r>
            <a:r>
              <a:rPr sz="1250">
                <a:solidFill>
                  <a:srgbClr val="9CAFA8"/>
                </a:solidFill>
                <a:latin typeface="Segoe UI"/>
              </a:rPr>
              <a:t>AI narrative, validated against the source row</a:t>
            </a:r>
          </a:p>
        </p:txBody>
      </p:sp>
      <p:sp>
        <p:nvSpPr>
          <p:cNvPr id="22" name="TextBox 21"/>
          <p:cNvSpPr txBox="1"/>
          <p:nvPr/>
        </p:nvSpPr>
        <p:spPr>
          <a:xfrm>
            <a:off x="822960" y="6199632"/>
            <a:ext cx="8595360" cy="411480"/>
          </a:xfrm>
          <a:prstGeom prst="rect">
            <a:avLst/>
          </a:prstGeom>
          <a:noFill/>
        </p:spPr>
        <p:txBody>
          <a:bodyPr wrap="square" lIns="0" rIns="0" tIns="0" bIns="0">
            <a:spAutoFit/>
          </a:bodyPr>
          <a:lstStyle/>
          <a:p>
            <a:pPr algn="l">
              <a:lnSpc>
                <a:spcPct val="100000"/>
              </a:lnSpc>
              <a:defRPr sz="1250" b="0" i="0">
                <a:solidFill>
                  <a:srgbClr val="3FC17E"/>
                </a:solidFill>
                <a:latin typeface="Segoe UI"/>
              </a:defRPr>
            </a:pPr>
            <a:r>
              <a:t>Three workspaces, one per layer. A mistake in silver cannot overwrite bronze.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F1B"/>
        </a:solidFill>
        <a:effectLst/>
      </p:bgPr>
    </p:bg>
    <p:spTree>
      <p:nvGrpSpPr>
        <p:cNvPr id="1" name=""/>
        <p:cNvGrpSpPr/>
        <p:nvPr/>
      </p:nvGrpSpPr>
      <p:grpSpPr/>
      <p:pic>
        <p:nvPicPr>
          <p:cNvPr id="2" name="Picture 1" descr="satellite_c0844a.png"/>
          <p:cNvPicPr>
            <a:picLocks noChangeAspect="1"/>
          </p:cNvPicPr>
          <p:nvPr/>
        </p:nvPicPr>
        <p:blipFill>
          <a:blip r:embed="rId2"/>
          <a:stretch>
            <a:fillRect/>
          </a:stretch>
        </p:blipFill>
        <p:spPr>
          <a:xfrm>
            <a:off x="822960" y="2148840"/>
            <a:ext cx="777240" cy="777240"/>
          </a:xfrm>
          <a:prstGeom prst="rect">
            <a:avLst/>
          </a:prstGeom>
        </p:spPr>
      </p:pic>
      <p:sp>
        <p:nvSpPr>
          <p:cNvPr id="3" name="Rectangle 2"/>
          <p:cNvSpPr/>
          <p:nvPr/>
        </p:nvSpPr>
        <p:spPr>
          <a:xfrm>
            <a:off x="822960" y="3154680"/>
            <a:ext cx="1280160" cy="68580"/>
          </a:xfrm>
          <a:prstGeom prst="rect">
            <a:avLst/>
          </a:prstGeom>
          <a:solidFill>
            <a:srgbClr val="C0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2743200" cy="365760"/>
          </a:xfrm>
          <a:prstGeom prst="rect">
            <a:avLst/>
          </a:prstGeom>
          <a:noFill/>
        </p:spPr>
        <p:txBody>
          <a:bodyPr wrap="square" lIns="0" rIns="0" tIns="0" bIns="0">
            <a:spAutoFit/>
          </a:bodyPr>
          <a:lstStyle/>
          <a:p>
            <a:pPr algn="l">
              <a:lnSpc>
                <a:spcPct val="100000"/>
              </a:lnSpc>
              <a:defRPr sz="1100" b="1" i="0">
                <a:solidFill>
                  <a:srgbClr val="647C74"/>
                </a:solidFill>
                <a:latin typeface="Segoe UI"/>
              </a:defRPr>
            </a:pPr>
            <a:r>
              <a:t>BLOCK 1</a:t>
            </a:r>
          </a:p>
        </p:txBody>
      </p:sp>
      <p:sp>
        <p:nvSpPr>
          <p:cNvPr id="5" name="TextBox 4"/>
          <p:cNvSpPr txBox="1"/>
          <p:nvPr/>
        </p:nvSpPr>
        <p:spPr>
          <a:xfrm>
            <a:off x="822960" y="3401568"/>
            <a:ext cx="9601200" cy="914400"/>
          </a:xfrm>
          <a:prstGeom prst="rect">
            <a:avLst/>
          </a:prstGeom>
          <a:noFill/>
        </p:spPr>
        <p:txBody>
          <a:bodyPr wrap="square" lIns="0" rIns="0" tIns="0" bIns="0">
            <a:spAutoFit/>
          </a:bodyPr>
          <a:lstStyle/>
          <a:p>
            <a:pPr algn="l">
              <a:lnSpc>
                <a:spcPct val="100000"/>
              </a:lnSpc>
              <a:defRPr sz="3400" b="1" i="0">
                <a:solidFill>
                  <a:srgbClr val="F1F5F3"/>
                </a:solidFill>
                <a:latin typeface="Segoe UI"/>
              </a:defRPr>
            </a:pPr>
            <a:r>
              <a:t>Get the imagery</a:t>
            </a:r>
          </a:p>
        </p:txBody>
      </p:sp>
      <p:sp>
        <p:nvSpPr>
          <p:cNvPr id="6" name="TextBox 5"/>
          <p:cNvSpPr txBox="1"/>
          <p:nvPr/>
        </p:nvSpPr>
        <p:spPr>
          <a:xfrm>
            <a:off x="822960" y="4434840"/>
            <a:ext cx="9601200" cy="822960"/>
          </a:xfrm>
          <a:prstGeom prst="rect">
            <a:avLst/>
          </a:prstGeom>
          <a:noFill/>
        </p:spPr>
        <p:txBody>
          <a:bodyPr wrap="square" lIns="0" rIns="0" tIns="0" bIns="0">
            <a:spAutoFit/>
          </a:bodyPr>
          <a:lstStyle/>
          <a:p>
            <a:pPr algn="l">
              <a:lnSpc>
                <a:spcPct val="125000"/>
              </a:lnSpc>
              <a:defRPr sz="1500" b="0" i="0">
                <a:solidFill>
                  <a:srgbClr val="9CAFA8"/>
                </a:solidFill>
                <a:latin typeface="Segoe UI"/>
              </a:defRPr>
            </a:pPr>
            <a:r>
              <a:t>Planetary Computer, STAC, and why a catalogue beats a file share</a:t>
            </a:r>
          </a:p>
        </p:txBody>
      </p:sp>
      <p:sp>
        <p:nvSpPr>
          <p:cNvPr id="7" name="TextBox 6"/>
          <p:cNvSpPr txBox="1"/>
          <p:nvPr/>
        </p:nvSpPr>
        <p:spPr>
          <a:xfrm>
            <a:off x="8625535" y="1691640"/>
            <a:ext cx="2743200" cy="365760"/>
          </a:xfrm>
          <a:prstGeom prst="rect">
            <a:avLst/>
          </a:prstGeom>
          <a:noFill/>
        </p:spPr>
        <p:txBody>
          <a:bodyPr wrap="square" lIns="0" rIns="0" tIns="0" bIns="0">
            <a:spAutoFit/>
          </a:bodyPr>
          <a:lstStyle/>
          <a:p>
            <a:pPr algn="r">
              <a:lnSpc>
                <a:spcPct val="100000"/>
              </a:lnSpc>
              <a:defRPr sz="1200" b="1" i="0">
                <a:solidFill>
                  <a:srgbClr val="C0844A"/>
                </a:solidFill>
                <a:latin typeface="Segoe UI"/>
              </a:defRPr>
            </a:pPr>
            <a:r>
              <a:t>45 min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C0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1</a:t>
            </a:r>
          </a:p>
        </p:txBody>
      </p:sp>
      <p:pic>
        <p:nvPicPr>
          <p:cNvPr id="4" name="Picture 3" descr="satellite_c0844a.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5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STAC in four nouns</a:t>
            </a:r>
          </a:p>
        </p:txBody>
      </p:sp>
      <p:sp>
        <p:nvSpPr>
          <p:cNvPr id="7" name="TextBox 6"/>
          <p:cNvSpPr txBox="1"/>
          <p:nvPr/>
        </p:nvSpPr>
        <p:spPr>
          <a:xfrm>
            <a:off x="822960" y="1481328"/>
            <a:ext cx="10332720" cy="365760"/>
          </a:xfrm>
          <a:prstGeom prst="rect">
            <a:avLst/>
          </a:prstGeom>
          <a:noFill/>
        </p:spPr>
        <p:txBody>
          <a:bodyPr wrap="square" lIns="0" rIns="0" tIns="0" bIns="0">
            <a:spAutoFit/>
          </a:bodyPr>
          <a:lstStyle/>
          <a:p>
            <a:pPr algn="l">
              <a:lnSpc>
                <a:spcPct val="100000"/>
              </a:lnSpc>
              <a:defRPr sz="1350" b="0" i="0">
                <a:solidFill>
                  <a:srgbClr val="9CAFA8"/>
                </a:solidFill>
                <a:latin typeface="Segoe UI"/>
              </a:defRPr>
            </a:pPr>
            <a:r>
              <a:t>Learn these four and every STAC API in the world is navigable.</a:t>
            </a:r>
          </a:p>
        </p:txBody>
      </p:sp>
      <p:sp>
        <p:nvSpPr>
          <p:cNvPr id="8" name="Rounded Rectangle 7"/>
          <p:cNvSpPr/>
          <p:nvPr/>
        </p:nvSpPr>
        <p:spPr>
          <a:xfrm>
            <a:off x="822960" y="2057400"/>
            <a:ext cx="2444419"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ook_c0844a.png"/>
          <p:cNvPicPr>
            <a:picLocks noChangeAspect="1"/>
          </p:cNvPicPr>
          <p:nvPr/>
        </p:nvPicPr>
        <p:blipFill>
          <a:blip r:embed="rId3"/>
          <a:stretch>
            <a:fillRect/>
          </a:stretch>
        </p:blipFill>
        <p:spPr>
          <a:xfrm>
            <a:off x="1097280" y="2313432"/>
            <a:ext cx="384048" cy="384048"/>
          </a:xfrm>
          <a:prstGeom prst="rect">
            <a:avLst/>
          </a:prstGeom>
        </p:spPr>
      </p:pic>
      <p:sp>
        <p:nvSpPr>
          <p:cNvPr id="10" name="TextBox 9"/>
          <p:cNvSpPr txBox="1"/>
          <p:nvPr/>
        </p:nvSpPr>
        <p:spPr>
          <a:xfrm>
            <a:off x="1097280" y="2834640"/>
            <a:ext cx="1895779" cy="365760"/>
          </a:xfrm>
          <a:prstGeom prst="rect">
            <a:avLst/>
          </a:prstGeom>
          <a:noFill/>
        </p:spPr>
        <p:txBody>
          <a:bodyPr wrap="square" lIns="0" rIns="0" tIns="0" bIns="0">
            <a:spAutoFit/>
          </a:bodyPr>
          <a:lstStyle/>
          <a:p>
            <a:pPr algn="l">
              <a:lnSpc>
                <a:spcPct val="100000"/>
              </a:lnSpc>
              <a:defRPr sz="1500" b="1" i="0">
                <a:solidFill>
                  <a:srgbClr val="C0844A"/>
                </a:solidFill>
                <a:latin typeface="Segoe UI"/>
              </a:defRPr>
            </a:pPr>
            <a:r>
              <a:t>Catalog</a:t>
            </a:r>
          </a:p>
        </p:txBody>
      </p:sp>
      <p:sp>
        <p:nvSpPr>
          <p:cNvPr id="11" name="TextBox 10"/>
          <p:cNvSpPr txBox="1"/>
          <p:nvPr/>
        </p:nvSpPr>
        <p:spPr>
          <a:xfrm>
            <a:off x="1097280" y="3218688"/>
            <a:ext cx="1895779" cy="685799"/>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The top of the tree. Planetary Computer publishes one, at /api/stac/v1. Everything else hangs off it.</a:t>
            </a:r>
          </a:p>
        </p:txBody>
      </p:sp>
      <p:sp>
        <p:nvSpPr>
          <p:cNvPr id="12" name="Rounded Rectangle 11"/>
          <p:cNvSpPr/>
          <p:nvPr/>
        </p:nvSpPr>
        <p:spPr>
          <a:xfrm>
            <a:off x="3523411" y="2057400"/>
            <a:ext cx="2444419"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ayers_c0844a.png"/>
          <p:cNvPicPr>
            <a:picLocks noChangeAspect="1"/>
          </p:cNvPicPr>
          <p:nvPr/>
        </p:nvPicPr>
        <p:blipFill>
          <a:blip r:embed="rId4"/>
          <a:stretch>
            <a:fillRect/>
          </a:stretch>
        </p:blipFill>
        <p:spPr>
          <a:xfrm>
            <a:off x="3797731" y="2313432"/>
            <a:ext cx="384048" cy="384048"/>
          </a:xfrm>
          <a:prstGeom prst="rect">
            <a:avLst/>
          </a:prstGeom>
        </p:spPr>
      </p:pic>
      <p:sp>
        <p:nvSpPr>
          <p:cNvPr id="14" name="TextBox 13"/>
          <p:cNvSpPr txBox="1"/>
          <p:nvPr/>
        </p:nvSpPr>
        <p:spPr>
          <a:xfrm>
            <a:off x="3797731" y="2834640"/>
            <a:ext cx="1895779" cy="365760"/>
          </a:xfrm>
          <a:prstGeom prst="rect">
            <a:avLst/>
          </a:prstGeom>
          <a:noFill/>
        </p:spPr>
        <p:txBody>
          <a:bodyPr wrap="square" lIns="0" rIns="0" tIns="0" bIns="0">
            <a:spAutoFit/>
          </a:bodyPr>
          <a:lstStyle/>
          <a:p>
            <a:pPr algn="l">
              <a:lnSpc>
                <a:spcPct val="100000"/>
              </a:lnSpc>
              <a:defRPr sz="1500" b="1" i="0">
                <a:solidFill>
                  <a:srgbClr val="C0844A"/>
                </a:solidFill>
                <a:latin typeface="Segoe UI"/>
              </a:defRPr>
            </a:pPr>
            <a:r>
              <a:t>Collection</a:t>
            </a:r>
          </a:p>
        </p:txBody>
      </p:sp>
      <p:sp>
        <p:nvSpPr>
          <p:cNvPr id="15" name="TextBox 14"/>
          <p:cNvSpPr txBox="1"/>
          <p:nvPr/>
        </p:nvSpPr>
        <p:spPr>
          <a:xfrm>
            <a:off x="3797731" y="3218688"/>
            <a:ext cx="1895779" cy="685799"/>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A dataset. `sentinel-2-l2a` is one. It carries the extent, the licence and the band definitions.</a:t>
            </a:r>
          </a:p>
        </p:txBody>
      </p:sp>
      <p:sp>
        <p:nvSpPr>
          <p:cNvPr id="16" name="Rounded Rectangle 15"/>
          <p:cNvSpPr/>
          <p:nvPr/>
        </p:nvSpPr>
        <p:spPr>
          <a:xfrm>
            <a:off x="6223863" y="2057400"/>
            <a:ext cx="2444419"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able_c0844a.png"/>
          <p:cNvPicPr>
            <a:picLocks noChangeAspect="1"/>
          </p:cNvPicPr>
          <p:nvPr/>
        </p:nvPicPr>
        <p:blipFill>
          <a:blip r:embed="rId5"/>
          <a:stretch>
            <a:fillRect/>
          </a:stretch>
        </p:blipFill>
        <p:spPr>
          <a:xfrm>
            <a:off x="6498183" y="2313432"/>
            <a:ext cx="384048" cy="384048"/>
          </a:xfrm>
          <a:prstGeom prst="rect">
            <a:avLst/>
          </a:prstGeom>
        </p:spPr>
      </p:pic>
      <p:sp>
        <p:nvSpPr>
          <p:cNvPr id="18" name="TextBox 17"/>
          <p:cNvSpPr txBox="1"/>
          <p:nvPr/>
        </p:nvSpPr>
        <p:spPr>
          <a:xfrm>
            <a:off x="6498183" y="2834640"/>
            <a:ext cx="1895779" cy="365760"/>
          </a:xfrm>
          <a:prstGeom prst="rect">
            <a:avLst/>
          </a:prstGeom>
          <a:noFill/>
        </p:spPr>
        <p:txBody>
          <a:bodyPr wrap="square" lIns="0" rIns="0" tIns="0" bIns="0">
            <a:spAutoFit/>
          </a:bodyPr>
          <a:lstStyle/>
          <a:p>
            <a:pPr algn="l">
              <a:lnSpc>
                <a:spcPct val="100000"/>
              </a:lnSpc>
              <a:defRPr sz="1500" b="1" i="0">
                <a:solidFill>
                  <a:srgbClr val="C0844A"/>
                </a:solidFill>
                <a:latin typeface="Segoe UI"/>
              </a:defRPr>
            </a:pPr>
            <a:r>
              <a:t>Item</a:t>
            </a:r>
          </a:p>
        </p:txBody>
      </p:sp>
      <p:sp>
        <p:nvSpPr>
          <p:cNvPr id="19" name="TextBox 18"/>
          <p:cNvSpPr txBox="1"/>
          <p:nvPr/>
        </p:nvSpPr>
        <p:spPr>
          <a:xfrm>
            <a:off x="6498183" y="3218688"/>
            <a:ext cx="1895779" cy="685799"/>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One scene, at one time, over one footprint. This is the row you search for and the thing you record in bronze.</a:t>
            </a:r>
          </a:p>
        </p:txBody>
      </p:sp>
      <p:sp>
        <p:nvSpPr>
          <p:cNvPr id="20" name="Rounded Rectangle 19"/>
          <p:cNvSpPr/>
          <p:nvPr/>
        </p:nvSpPr>
        <p:spPr>
          <a:xfrm>
            <a:off x="8924315" y="2057400"/>
            <a:ext cx="2444419"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download_c0844a.png"/>
          <p:cNvPicPr>
            <a:picLocks noChangeAspect="1"/>
          </p:cNvPicPr>
          <p:nvPr/>
        </p:nvPicPr>
        <p:blipFill>
          <a:blip r:embed="rId6"/>
          <a:stretch>
            <a:fillRect/>
          </a:stretch>
        </p:blipFill>
        <p:spPr>
          <a:xfrm>
            <a:off x="9198635" y="2313432"/>
            <a:ext cx="384048" cy="384048"/>
          </a:xfrm>
          <a:prstGeom prst="rect">
            <a:avLst/>
          </a:prstGeom>
        </p:spPr>
      </p:pic>
      <p:sp>
        <p:nvSpPr>
          <p:cNvPr id="22" name="TextBox 21"/>
          <p:cNvSpPr txBox="1"/>
          <p:nvPr/>
        </p:nvSpPr>
        <p:spPr>
          <a:xfrm>
            <a:off x="9198635" y="2834640"/>
            <a:ext cx="1895779" cy="365760"/>
          </a:xfrm>
          <a:prstGeom prst="rect">
            <a:avLst/>
          </a:prstGeom>
          <a:noFill/>
        </p:spPr>
        <p:txBody>
          <a:bodyPr wrap="square" lIns="0" rIns="0" tIns="0" bIns="0">
            <a:spAutoFit/>
          </a:bodyPr>
          <a:lstStyle/>
          <a:p>
            <a:pPr algn="l">
              <a:lnSpc>
                <a:spcPct val="100000"/>
              </a:lnSpc>
              <a:defRPr sz="1500" b="1" i="0">
                <a:solidFill>
                  <a:srgbClr val="C0844A"/>
                </a:solidFill>
                <a:latin typeface="Segoe UI"/>
              </a:defRPr>
            </a:pPr>
            <a:r>
              <a:t>Asset</a:t>
            </a:r>
          </a:p>
        </p:txBody>
      </p:sp>
      <p:sp>
        <p:nvSpPr>
          <p:cNvPr id="23" name="TextBox 22"/>
          <p:cNvSpPr txBox="1"/>
          <p:nvPr/>
        </p:nvSpPr>
        <p:spPr>
          <a:xfrm>
            <a:off x="9198635" y="3218688"/>
            <a:ext cx="1895779" cy="685799"/>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One file on an Item. B04 is an asset, SCL is an asset. Each is a Cloud Optimized GeoTIFF with an href.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1</a:t>
            </a:r>
          </a:p>
        </p:txBody>
      </p:sp>
      <p:pic>
        <p:nvPicPr>
          <p:cNvPr id="4" name="Picture 3" descr="search_3fc17e.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6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Why a catalogue, not a file share</a:t>
            </a:r>
          </a:p>
        </p:txBody>
      </p:sp>
      <p:sp>
        <p:nvSpPr>
          <p:cNvPr id="7" name="Rounded Rectangle 6"/>
          <p:cNvSpPr/>
          <p:nvPr/>
        </p:nvSpPr>
        <p:spPr>
          <a:xfrm>
            <a:off x="822960" y="1783080"/>
            <a:ext cx="5090007" cy="324612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15568" y="2048256"/>
            <a:ext cx="640080" cy="45720"/>
          </a:xfrm>
          <a:prstGeom prst="rect">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2212848"/>
            <a:ext cx="4504791" cy="411480"/>
          </a:xfrm>
          <a:prstGeom prst="rect">
            <a:avLst/>
          </a:prstGeom>
          <a:noFill/>
        </p:spPr>
        <p:txBody>
          <a:bodyPr wrap="square" lIns="0" rIns="0" tIns="0" bIns="0">
            <a:spAutoFit/>
          </a:bodyPr>
          <a:lstStyle/>
          <a:p>
            <a:pPr algn="l">
              <a:lnSpc>
                <a:spcPct val="100000"/>
              </a:lnSpc>
              <a:defRPr sz="1700" b="1" i="0">
                <a:solidFill>
                  <a:srgbClr val="3FC17E"/>
                </a:solidFill>
                <a:latin typeface="Segoe UI"/>
              </a:defRPr>
            </a:pPr>
            <a:r>
              <a:t>What a STAC search gives you</a:t>
            </a:r>
          </a:p>
        </p:txBody>
      </p:sp>
      <p:sp>
        <p:nvSpPr>
          <p:cNvPr id="10" name="TextBox 9"/>
          <p:cNvSpPr txBox="1"/>
          <p:nvPr/>
        </p:nvSpPr>
        <p:spPr>
          <a:xfrm>
            <a:off x="1115568" y="2788920"/>
            <a:ext cx="4504791" cy="2103120"/>
          </a:xfrm>
          <a:prstGeom prst="rect">
            <a:avLst/>
          </a:prstGeom>
          <a:noFill/>
        </p:spPr>
        <p:txBody>
          <a:bodyPr wrap="square" lIns="0" rIns="0">
            <a:spAutoFit/>
          </a:bodyPr>
          <a:lstStyle/>
          <a:p>
            <a:pPr>
              <a:lnSpc>
                <a:spcPct val="115000"/>
              </a:lnSpc>
              <a:spcBef>
                <a:spcPts val="0"/>
              </a:spcBef>
            </a:pPr>
            <a:r>
              <a:rPr sz="1350" b="1">
                <a:solidFill>
                  <a:srgbClr val="3FC17E"/>
                </a:solidFill>
                <a:latin typeface="Segoe UI"/>
              </a:rPr>
              <a:t>✓  </a:t>
            </a:r>
            <a:r>
              <a:rPr sz="1350">
                <a:solidFill>
                  <a:srgbClr val="F1F5F3"/>
                </a:solidFill>
                <a:latin typeface="Segoe UI"/>
              </a:rPr>
              <a:t>Query by geometry, so you ask for your licence block, not a tile grid</a:t>
            </a:r>
          </a:p>
          <a:p>
            <a:pPr>
              <a:lnSpc>
                <a:spcPct val="115000"/>
              </a:lnSpc>
              <a:spcBef>
                <a:spcPts val="1300"/>
              </a:spcBef>
            </a:pPr>
            <a:r>
              <a:rPr sz="1350" b="1">
                <a:solidFill>
                  <a:srgbClr val="3FC17E"/>
                </a:solidFill>
                <a:latin typeface="Segoe UI"/>
              </a:rPr>
              <a:t>✓  </a:t>
            </a:r>
            <a:r>
              <a:rPr sz="1350">
                <a:solidFill>
                  <a:srgbClr val="F1F5F3"/>
                </a:solidFill>
                <a:latin typeface="Segoe UI"/>
              </a:rPr>
              <a:t>Query by date range and by cloud cover in the same call</a:t>
            </a:r>
          </a:p>
          <a:p>
            <a:pPr>
              <a:lnSpc>
                <a:spcPct val="115000"/>
              </a:lnSpc>
              <a:spcBef>
                <a:spcPts val="1300"/>
              </a:spcBef>
            </a:pPr>
            <a:r>
              <a:rPr sz="1350" b="1">
                <a:solidFill>
                  <a:srgbClr val="3FC17E"/>
                </a:solidFill>
                <a:latin typeface="Segoe UI"/>
              </a:rPr>
              <a:t>✓  </a:t>
            </a:r>
            <a:r>
              <a:rPr sz="1350">
                <a:solidFill>
                  <a:srgbClr val="F1F5F3"/>
                </a:solidFill>
                <a:latin typeface="Segoe UI"/>
              </a:rPr>
              <a:t>Metadata before download: projection, platform, processing baseline</a:t>
            </a:r>
          </a:p>
          <a:p>
            <a:pPr>
              <a:lnSpc>
                <a:spcPct val="115000"/>
              </a:lnSpc>
              <a:spcBef>
                <a:spcPts val="1300"/>
              </a:spcBef>
            </a:pPr>
            <a:r>
              <a:rPr sz="1350" b="1">
                <a:solidFill>
                  <a:srgbClr val="3FC17E"/>
                </a:solidFill>
                <a:latin typeface="Segoe UI"/>
              </a:rPr>
              <a:t>✓  </a:t>
            </a:r>
            <a:r>
              <a:rPr sz="1350">
                <a:solidFill>
                  <a:srgbClr val="F1F5F3"/>
                </a:solidFill>
                <a:latin typeface="Segoe UI"/>
              </a:rPr>
              <a:t>Signed hrefs to exactly the assets you asked for</a:t>
            </a:r>
          </a:p>
          <a:p>
            <a:pPr>
              <a:lnSpc>
                <a:spcPct val="115000"/>
              </a:lnSpc>
              <a:spcBef>
                <a:spcPts val="1300"/>
              </a:spcBef>
            </a:pPr>
            <a:r>
              <a:rPr sz="1350" b="1">
                <a:solidFill>
                  <a:srgbClr val="3FC17E"/>
                </a:solidFill>
                <a:latin typeface="Segoe UI"/>
              </a:rPr>
              <a:t>✓  </a:t>
            </a:r>
            <a:r>
              <a:rPr sz="1350">
                <a:solidFill>
                  <a:srgbClr val="F1F5F3"/>
                </a:solidFill>
                <a:latin typeface="Segoe UI"/>
              </a:rPr>
              <a:t>The same query works next month, and next year</a:t>
            </a:r>
          </a:p>
        </p:txBody>
      </p:sp>
      <p:sp>
        <p:nvSpPr>
          <p:cNvPr id="11" name="Rounded Rectangle 10"/>
          <p:cNvSpPr/>
          <p:nvPr/>
        </p:nvSpPr>
        <p:spPr>
          <a:xfrm>
            <a:off x="6278727" y="1783080"/>
            <a:ext cx="5090007" cy="324612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71335" y="2048256"/>
            <a:ext cx="640080" cy="4572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71335" y="2212848"/>
            <a:ext cx="4504791" cy="411480"/>
          </a:xfrm>
          <a:prstGeom prst="rect">
            <a:avLst/>
          </a:prstGeom>
          <a:noFill/>
        </p:spPr>
        <p:txBody>
          <a:bodyPr wrap="square" lIns="0" rIns="0" tIns="0" bIns="0">
            <a:spAutoFit/>
          </a:bodyPr>
          <a:lstStyle/>
          <a:p>
            <a:pPr algn="l">
              <a:lnSpc>
                <a:spcPct val="100000"/>
              </a:lnSpc>
              <a:defRPr sz="1700" b="1" i="0">
                <a:solidFill>
                  <a:srgbClr val="EF4444"/>
                </a:solidFill>
                <a:latin typeface="Segoe UI"/>
              </a:defRPr>
            </a:pPr>
            <a:r>
              <a:t>What a file share costs you</a:t>
            </a:r>
          </a:p>
        </p:txBody>
      </p:sp>
      <p:sp>
        <p:nvSpPr>
          <p:cNvPr id="14" name="TextBox 13"/>
          <p:cNvSpPr txBox="1"/>
          <p:nvPr/>
        </p:nvSpPr>
        <p:spPr>
          <a:xfrm>
            <a:off x="6571335" y="2788920"/>
            <a:ext cx="4504791" cy="2103120"/>
          </a:xfrm>
          <a:prstGeom prst="rect">
            <a:avLst/>
          </a:prstGeom>
          <a:noFill/>
        </p:spPr>
        <p:txBody>
          <a:bodyPr wrap="square" lIns="0" rIns="0">
            <a:spAutoFit/>
          </a:bodyPr>
          <a:lstStyle/>
          <a:p>
            <a:pPr>
              <a:lnSpc>
                <a:spcPct val="115000"/>
              </a:lnSpc>
              <a:spcBef>
                <a:spcPts val="0"/>
              </a:spcBef>
            </a:pPr>
            <a:r>
              <a:rPr sz="1350" b="1">
                <a:solidFill>
                  <a:srgbClr val="EF4444"/>
                </a:solidFill>
                <a:latin typeface="Segoe UI"/>
              </a:rPr>
              <a:t>✗  </a:t>
            </a:r>
            <a:r>
              <a:rPr sz="1350">
                <a:solidFill>
                  <a:srgbClr val="F1F5F3"/>
                </a:solidFill>
                <a:latin typeface="Segoe UI"/>
              </a:rPr>
              <a:t>Someone has to decide in advance which tiles to keep</a:t>
            </a:r>
          </a:p>
          <a:p>
            <a:pPr>
              <a:lnSpc>
                <a:spcPct val="115000"/>
              </a:lnSpc>
              <a:spcBef>
                <a:spcPts val="1300"/>
              </a:spcBef>
            </a:pPr>
            <a:r>
              <a:rPr sz="1350" b="1">
                <a:solidFill>
                  <a:srgbClr val="EF4444"/>
                </a:solidFill>
                <a:latin typeface="Segoe UI"/>
              </a:rPr>
              <a:t>✗  </a:t>
            </a:r>
            <a:r>
              <a:rPr sz="1350">
                <a:solidFill>
                  <a:srgbClr val="F1F5F3"/>
                </a:solidFill>
                <a:latin typeface="Segoe UI"/>
              </a:rPr>
              <a:t>Cloud cover is discovered after the download, not before</a:t>
            </a:r>
          </a:p>
          <a:p>
            <a:pPr>
              <a:lnSpc>
                <a:spcPct val="115000"/>
              </a:lnSpc>
              <a:spcBef>
                <a:spcPts val="1300"/>
              </a:spcBef>
            </a:pPr>
            <a:r>
              <a:rPr sz="1350" b="1">
                <a:solidFill>
                  <a:srgbClr val="EF4444"/>
                </a:solidFill>
                <a:latin typeface="Segoe UI"/>
              </a:rPr>
              <a:t>✗  </a:t>
            </a:r>
            <a:r>
              <a:rPr sz="1350">
                <a:solidFill>
                  <a:srgbClr val="F1F5F3"/>
                </a:solidFill>
                <a:latin typeface="Segoe UI"/>
              </a:rPr>
              <a:t>Provenance lives in a filename, and filenames drift</a:t>
            </a:r>
          </a:p>
          <a:p>
            <a:pPr>
              <a:lnSpc>
                <a:spcPct val="115000"/>
              </a:lnSpc>
              <a:spcBef>
                <a:spcPts val="1300"/>
              </a:spcBef>
            </a:pPr>
            <a:r>
              <a:rPr sz="1350" b="1">
                <a:solidFill>
                  <a:srgbClr val="EF4444"/>
                </a:solidFill>
                <a:latin typeface="Segoe UI"/>
              </a:rPr>
              <a:t>✗  </a:t>
            </a:r>
            <a:r>
              <a:rPr sz="1350">
                <a:solidFill>
                  <a:srgbClr val="F1F5F3"/>
                </a:solidFill>
                <a:latin typeface="Segoe UI"/>
              </a:rPr>
              <a:t>Storage grows with everything you might need, not what you used</a:t>
            </a:r>
          </a:p>
          <a:p>
            <a:pPr>
              <a:lnSpc>
                <a:spcPct val="115000"/>
              </a:lnSpc>
              <a:spcBef>
                <a:spcPts val="1300"/>
              </a:spcBef>
            </a:pPr>
            <a:r>
              <a:rPr sz="1350" b="1">
                <a:solidFill>
                  <a:srgbClr val="EF4444"/>
                </a:solidFill>
                <a:latin typeface="Segoe UI"/>
              </a:rPr>
              <a:t>✗  </a:t>
            </a:r>
            <a:r>
              <a:rPr sz="1350">
                <a:solidFill>
                  <a:srgbClr val="F1F5F3"/>
                </a:solidFill>
                <a:latin typeface="Segoe UI"/>
              </a:rPr>
              <a:t>The query is a person, and that person goes on leave</a:t>
            </a:r>
          </a:p>
        </p:txBody>
      </p:sp>
      <p:sp>
        <p:nvSpPr>
          <p:cNvPr id="15" name="Rounded Rectangle 14"/>
          <p:cNvSpPr/>
          <p:nvPr/>
        </p:nvSpPr>
        <p:spPr>
          <a:xfrm>
            <a:off x="822960" y="5623560"/>
            <a:ext cx="10543032" cy="713232"/>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5815584"/>
            <a:ext cx="9966960" cy="457200"/>
          </a:xfrm>
          <a:prstGeom prst="rect">
            <a:avLst/>
          </a:prstGeom>
          <a:noFill/>
        </p:spPr>
        <p:txBody>
          <a:bodyPr wrap="square" lIns="0" rIns="0" tIns="0" bIns="0">
            <a:spAutoFit/>
          </a:bodyPr>
          <a:lstStyle/>
          <a:p>
            <a:pPr algn="l">
              <a:lnSpc>
                <a:spcPct val="100000"/>
              </a:lnSpc>
              <a:defRPr sz="1350" b="0" i="0">
                <a:solidFill>
                  <a:srgbClr val="F59E0B"/>
                </a:solidFill>
                <a:latin typeface="Segoe UI"/>
              </a:defRPr>
            </a:pPr>
            <a:r>
              <a:t>The last line on each side is the one that matters in three years.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C0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1</a:t>
            </a:r>
          </a:p>
        </p:txBody>
      </p:sp>
      <p:pic>
        <p:nvPicPr>
          <p:cNvPr id="4" name="Picture 3" descr="key_c0844a.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7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Signing, and the mistake everyone makes once</a:t>
            </a:r>
          </a:p>
        </p:txBody>
      </p:sp>
      <p:sp>
        <p:nvSpPr>
          <p:cNvPr id="7" name="TextBox 6"/>
          <p:cNvSpPr txBox="1"/>
          <p:nvPr/>
        </p:nvSpPr>
        <p:spPr>
          <a:xfrm>
            <a:off x="822960" y="1783080"/>
            <a:ext cx="10332720" cy="3840480"/>
          </a:xfrm>
          <a:prstGeom prst="rect">
            <a:avLst/>
          </a:prstGeom>
          <a:noFill/>
        </p:spPr>
        <p:txBody>
          <a:bodyPr wrap="square" lIns="0" rIns="0">
            <a:spAutoFit/>
          </a:bodyPr>
          <a:lstStyle/>
          <a:p>
            <a:pPr>
              <a:lnSpc>
                <a:spcPct val="115000"/>
              </a:lnSpc>
              <a:spcBef>
                <a:spcPts val="0"/>
              </a:spcBef>
            </a:pPr>
            <a:r>
              <a:rPr sz="1500" b="1">
                <a:solidFill>
                  <a:srgbClr val="C0844A"/>
                </a:solidFill>
                <a:latin typeface="Segoe UI"/>
              </a:rPr>
              <a:t>▸  </a:t>
            </a:r>
            <a:r>
              <a:rPr sz="1500">
                <a:solidFill>
                  <a:srgbClr val="F1F5F3"/>
                </a:solidFill>
                <a:latin typeface="Segoe UI"/>
              </a:rPr>
              <a:t>Planetary Computer assets are in public blob storage but require a token appended to the URL</a:t>
            </a:r>
          </a:p>
          <a:p>
            <a:pPr>
              <a:lnSpc>
                <a:spcPct val="115000"/>
              </a:lnSpc>
              <a:spcBef>
                <a:spcPts val="1600"/>
              </a:spcBef>
            </a:pPr>
            <a:r>
              <a:rPr sz="1500" b="1">
                <a:solidFill>
                  <a:srgbClr val="C0844A"/>
                </a:solidFill>
                <a:latin typeface="Segoe UI"/>
              </a:rPr>
              <a:t>▸  </a:t>
            </a:r>
            <a:r>
              <a:rPr sz="1500">
                <a:solidFill>
                  <a:srgbClr val="F1F5F3"/>
                </a:solidFill>
                <a:latin typeface="Segoe UI"/>
              </a:rPr>
              <a:t>`planetary_computer.sign_inplace` as a STAC modifier signs each item as it is read</a:t>
            </a:r>
          </a:p>
          <a:p>
            <a:pPr>
              <a:lnSpc>
                <a:spcPct val="115000"/>
              </a:lnSpc>
              <a:spcBef>
                <a:spcPts val="1600"/>
              </a:spcBef>
            </a:pPr>
            <a:r>
              <a:rPr sz="1500" b="1">
                <a:solidFill>
                  <a:srgbClr val="C0844A"/>
                </a:solidFill>
                <a:latin typeface="Segoe UI"/>
              </a:rPr>
              <a:t>▸  </a:t>
            </a:r>
            <a:r>
              <a:rPr sz="1500">
                <a:solidFill>
                  <a:srgbClr val="F1F5F3"/>
                </a:solidFill>
                <a:latin typeface="Segoe UI"/>
              </a:rPr>
              <a:t>Tokens expire, typically within the hour, and an expired token gives you a 403 that reads like a permissions problem</a:t>
            </a:r>
          </a:p>
          <a:p>
            <a:pPr>
              <a:lnSpc>
                <a:spcPct val="115000"/>
              </a:lnSpc>
              <a:spcBef>
                <a:spcPts val="1600"/>
              </a:spcBef>
            </a:pPr>
            <a:r>
              <a:rPr sz="1500" b="1">
                <a:solidFill>
                  <a:srgbClr val="C0844A"/>
                </a:solidFill>
                <a:latin typeface="Segoe UI"/>
              </a:rPr>
              <a:t>▸  </a:t>
            </a:r>
            <a:r>
              <a:rPr sz="1500">
                <a:solidFill>
                  <a:srgbClr val="F1F5F3"/>
                </a:solidFill>
                <a:latin typeface="Segoe UI"/>
              </a:rPr>
              <a:t>Sign late and never persist a signed href, because a signed URL written to a table is a credential in a table</a:t>
            </a:r>
          </a:p>
          <a:p>
            <a:pPr>
              <a:lnSpc>
                <a:spcPct val="115000"/>
              </a:lnSpc>
              <a:spcBef>
                <a:spcPts val="1600"/>
              </a:spcBef>
            </a:pPr>
            <a:r>
              <a:rPr sz="1500" b="1">
                <a:solidFill>
                  <a:srgbClr val="C0844A"/>
                </a:solidFill>
                <a:latin typeface="Segoe UI"/>
              </a:rPr>
              <a:t>▸  </a:t>
            </a:r>
            <a:r>
              <a:rPr sz="1500">
                <a:solidFill>
                  <a:srgbClr val="F1F5F3"/>
                </a:solidFill>
                <a:latin typeface="Segoe UI"/>
              </a:rPr>
              <a:t>Bronze stores the href with the query string stripped, which is why notebook 01 splits on the question mark</a:t>
            </a:r>
          </a:p>
        </p:txBody>
      </p:sp>
      <p:sp>
        <p:nvSpPr>
          <p:cNvPr id="8" name="Rounded Rectangle 7"/>
          <p:cNvSpPr/>
          <p:nvPr/>
        </p:nvSpPr>
        <p:spPr>
          <a:xfrm>
            <a:off x="822960" y="5440680"/>
            <a:ext cx="10543032" cy="77724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5641848"/>
            <a:ext cx="9966960" cy="548640"/>
          </a:xfrm>
          <a:prstGeom prst="rect">
            <a:avLst/>
          </a:prstGeom>
          <a:noFill/>
        </p:spPr>
        <p:txBody>
          <a:bodyPr wrap="square" lIns="0" rIns="0" tIns="0" bIns="0">
            <a:spAutoFit/>
          </a:bodyPr>
          <a:lstStyle/>
          <a:p>
            <a:pPr algn="l">
              <a:lnSpc>
                <a:spcPct val="120000"/>
              </a:lnSpc>
              <a:defRPr sz="1350" b="0" i="0">
                <a:solidFill>
                  <a:srgbClr val="C0844A"/>
                </a:solidFill>
                <a:latin typeface="Segoe UI"/>
              </a:defRPr>
            </a:pPr>
            <a:r>
              <a:t>If a scene loaded this morning and 403s this afternoon, you cached a signed URL somewhere.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C0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1</a:t>
            </a:r>
          </a:p>
        </p:txBody>
      </p:sp>
      <p:pic>
        <p:nvPicPr>
          <p:cNvPr id="4" name="Picture 3" descr="download_c0844a.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8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Cloud Optimized GeoTIFF, and why the window is cheap</a:t>
            </a:r>
          </a:p>
        </p:txBody>
      </p:sp>
      <p:sp>
        <p:nvSpPr>
          <p:cNvPr id="7" name="Rounded Rectangle 6"/>
          <p:cNvSpPr/>
          <p:nvPr/>
        </p:nvSpPr>
        <p:spPr>
          <a:xfrm>
            <a:off x="822960" y="2148840"/>
            <a:ext cx="2348407" cy="2286000"/>
          </a:xfrm>
          <a:prstGeom prst="roundRect">
            <a:avLst>
              <a:gd name="adj" fmla="val 6000"/>
            </a:avLst>
          </a:prstGeom>
          <a:solidFill>
            <a:srgbClr val="152621"/>
          </a:solidFill>
          <a:ln w="19050">
            <a:solidFill>
              <a:srgbClr val="C084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loud_c0844a.png"/>
          <p:cNvPicPr>
            <a:picLocks noChangeAspect="1"/>
          </p:cNvPicPr>
          <p:nvPr/>
        </p:nvPicPr>
        <p:blipFill>
          <a:blip r:embed="rId3"/>
          <a:stretch>
            <a:fillRect/>
          </a:stretch>
        </p:blipFill>
        <p:spPr>
          <a:xfrm>
            <a:off x="1078992" y="2404872"/>
            <a:ext cx="402336" cy="402336"/>
          </a:xfrm>
          <a:prstGeom prst="rect">
            <a:avLst/>
          </a:prstGeom>
        </p:spPr>
      </p:pic>
      <p:sp>
        <p:nvSpPr>
          <p:cNvPr id="9" name="TextBox 8"/>
          <p:cNvSpPr txBox="1"/>
          <p:nvPr/>
        </p:nvSpPr>
        <p:spPr>
          <a:xfrm>
            <a:off x="1078992" y="2953512"/>
            <a:ext cx="1836343" cy="365760"/>
          </a:xfrm>
          <a:prstGeom prst="rect">
            <a:avLst/>
          </a:prstGeom>
          <a:noFill/>
        </p:spPr>
        <p:txBody>
          <a:bodyPr wrap="square" lIns="0" rIns="0" tIns="0" bIns="0">
            <a:spAutoFit/>
          </a:bodyPr>
          <a:lstStyle/>
          <a:p>
            <a:pPr algn="l">
              <a:lnSpc>
                <a:spcPct val="100000"/>
              </a:lnSpc>
              <a:defRPr sz="1500" b="1" i="0">
                <a:solidFill>
                  <a:srgbClr val="C0844A"/>
                </a:solidFill>
                <a:latin typeface="Segoe UI"/>
              </a:defRPr>
            </a:pPr>
            <a:r>
              <a:t>Scene on blob</a:t>
            </a:r>
          </a:p>
        </p:txBody>
      </p:sp>
      <p:sp>
        <p:nvSpPr>
          <p:cNvPr id="10" name="TextBox 9"/>
          <p:cNvSpPr txBox="1"/>
          <p:nvPr/>
        </p:nvSpPr>
        <p:spPr>
          <a:xfrm>
            <a:off x="1078992" y="3355848"/>
            <a:ext cx="1836343" cy="914400"/>
          </a:xfrm>
          <a:prstGeom prst="rect">
            <a:avLst/>
          </a:prstGeom>
          <a:noFill/>
        </p:spPr>
        <p:txBody>
          <a:bodyPr wrap="square" lIns="0" rIns="0" tIns="0" bIns="0">
            <a:spAutoFit/>
          </a:bodyPr>
          <a:lstStyle/>
          <a:p>
            <a:pPr algn="l">
              <a:lnSpc>
                <a:spcPct val="120000"/>
              </a:lnSpc>
              <a:defRPr sz="1150" b="0" i="0">
                <a:solidFill>
                  <a:srgbClr val="9CAFA8"/>
                </a:solidFill>
                <a:latin typeface="Segoe UI"/>
              </a:defRPr>
            </a:pPr>
            <a:r>
              <a:t>A full Sentinel-2 tile is over a gigabyte across all bands.</a:t>
            </a:r>
          </a:p>
        </p:txBody>
      </p:sp>
      <p:sp>
        <p:nvSpPr>
          <p:cNvPr id="11" name="Right Arrow 10"/>
          <p:cNvSpPr/>
          <p:nvPr/>
        </p:nvSpPr>
        <p:spPr>
          <a:xfrm>
            <a:off x="3226231" y="3191256"/>
            <a:ext cx="274320" cy="201168"/>
          </a:xfrm>
          <a:prstGeom prst="rightArrow">
            <a:avLst/>
          </a:prstGeom>
          <a:solidFill>
            <a:srgbClr val="1F3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55415" y="2148840"/>
            <a:ext cx="2348407" cy="2286000"/>
          </a:xfrm>
          <a:prstGeom prst="roundRect">
            <a:avLst>
              <a:gd name="adj" fmla="val 6000"/>
            </a:avLst>
          </a:prstGeom>
          <a:solidFill>
            <a:srgbClr val="152621"/>
          </a:solidFill>
          <a:ln w="19050">
            <a:solidFill>
              <a:srgbClr val="389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able_389ff7.png"/>
          <p:cNvPicPr>
            <a:picLocks noChangeAspect="1"/>
          </p:cNvPicPr>
          <p:nvPr/>
        </p:nvPicPr>
        <p:blipFill>
          <a:blip r:embed="rId4"/>
          <a:stretch>
            <a:fillRect/>
          </a:stretch>
        </p:blipFill>
        <p:spPr>
          <a:xfrm>
            <a:off x="3811447" y="2404872"/>
            <a:ext cx="402336" cy="402336"/>
          </a:xfrm>
          <a:prstGeom prst="rect">
            <a:avLst/>
          </a:prstGeom>
        </p:spPr>
      </p:pic>
      <p:sp>
        <p:nvSpPr>
          <p:cNvPr id="14" name="TextBox 13"/>
          <p:cNvSpPr txBox="1"/>
          <p:nvPr/>
        </p:nvSpPr>
        <p:spPr>
          <a:xfrm>
            <a:off x="3811447" y="2953512"/>
            <a:ext cx="1836343" cy="365760"/>
          </a:xfrm>
          <a:prstGeom prst="rect">
            <a:avLst/>
          </a:prstGeom>
          <a:noFill/>
        </p:spPr>
        <p:txBody>
          <a:bodyPr wrap="square" lIns="0" rIns="0" tIns="0" bIns="0">
            <a:spAutoFit/>
          </a:bodyPr>
          <a:lstStyle/>
          <a:p>
            <a:pPr algn="l">
              <a:lnSpc>
                <a:spcPct val="100000"/>
              </a:lnSpc>
              <a:defRPr sz="1500" b="1" i="0">
                <a:solidFill>
                  <a:srgbClr val="389FF7"/>
                </a:solidFill>
                <a:latin typeface="Segoe UI"/>
              </a:defRPr>
            </a:pPr>
            <a:r>
              <a:t>Internal tiling</a:t>
            </a:r>
          </a:p>
        </p:txBody>
      </p:sp>
      <p:sp>
        <p:nvSpPr>
          <p:cNvPr id="15" name="TextBox 14"/>
          <p:cNvSpPr txBox="1"/>
          <p:nvPr/>
        </p:nvSpPr>
        <p:spPr>
          <a:xfrm>
            <a:off x="3811447" y="3355848"/>
            <a:ext cx="1836343" cy="914400"/>
          </a:xfrm>
          <a:prstGeom prst="rect">
            <a:avLst/>
          </a:prstGeom>
          <a:noFill/>
        </p:spPr>
        <p:txBody>
          <a:bodyPr wrap="square" lIns="0" rIns="0" tIns="0" bIns="0">
            <a:spAutoFit/>
          </a:bodyPr>
          <a:lstStyle/>
          <a:p>
            <a:pPr algn="l">
              <a:lnSpc>
                <a:spcPct val="120000"/>
              </a:lnSpc>
              <a:defRPr sz="1150" b="0" i="0">
                <a:solidFill>
                  <a:srgbClr val="9CAFA8"/>
                </a:solidFill>
                <a:latin typeface="Segoe UI"/>
              </a:defRPr>
            </a:pPr>
            <a:r>
              <a:t>A COG is tiled and has overviews, with a header that maps tile to byte range.</a:t>
            </a:r>
          </a:p>
        </p:txBody>
      </p:sp>
      <p:sp>
        <p:nvSpPr>
          <p:cNvPr id="16" name="Right Arrow 15"/>
          <p:cNvSpPr/>
          <p:nvPr/>
        </p:nvSpPr>
        <p:spPr>
          <a:xfrm>
            <a:off x="5958687" y="3191256"/>
            <a:ext cx="274320" cy="201168"/>
          </a:xfrm>
          <a:prstGeom prst="rightArrow">
            <a:avLst/>
          </a:prstGeom>
          <a:solidFill>
            <a:srgbClr val="1F3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87871" y="2148840"/>
            <a:ext cx="2348407" cy="2286000"/>
          </a:xfrm>
          <a:prstGeom prst="roundRect">
            <a:avLst>
              <a:gd name="adj" fmla="val 6000"/>
            </a:avLst>
          </a:prstGeom>
          <a:solidFill>
            <a:srgbClr val="152621"/>
          </a:solidFill>
          <a:ln w="19050">
            <a:solidFill>
              <a:srgbClr val="3FC1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ilter_3fc17e.png"/>
          <p:cNvPicPr>
            <a:picLocks noChangeAspect="1"/>
          </p:cNvPicPr>
          <p:nvPr/>
        </p:nvPicPr>
        <p:blipFill>
          <a:blip r:embed="rId5"/>
          <a:stretch>
            <a:fillRect/>
          </a:stretch>
        </p:blipFill>
        <p:spPr>
          <a:xfrm>
            <a:off x="6543903" y="2404872"/>
            <a:ext cx="402336" cy="402336"/>
          </a:xfrm>
          <a:prstGeom prst="rect">
            <a:avLst/>
          </a:prstGeom>
        </p:spPr>
      </p:pic>
      <p:sp>
        <p:nvSpPr>
          <p:cNvPr id="19" name="TextBox 18"/>
          <p:cNvSpPr txBox="1"/>
          <p:nvPr/>
        </p:nvSpPr>
        <p:spPr>
          <a:xfrm>
            <a:off x="6543903" y="2953512"/>
            <a:ext cx="1836343" cy="365760"/>
          </a:xfrm>
          <a:prstGeom prst="rect">
            <a:avLst/>
          </a:prstGeom>
          <a:noFill/>
        </p:spPr>
        <p:txBody>
          <a:bodyPr wrap="square" lIns="0" rIns="0" tIns="0" bIns="0">
            <a:spAutoFit/>
          </a:bodyPr>
          <a:lstStyle/>
          <a:p>
            <a:pPr algn="l">
              <a:lnSpc>
                <a:spcPct val="100000"/>
              </a:lnSpc>
              <a:defRPr sz="1500" b="1" i="0">
                <a:solidFill>
                  <a:srgbClr val="3FC17E"/>
                </a:solidFill>
                <a:latin typeface="Segoe UI"/>
              </a:defRPr>
            </a:pPr>
            <a:r>
              <a:t>Range request</a:t>
            </a:r>
          </a:p>
        </p:txBody>
      </p:sp>
      <p:sp>
        <p:nvSpPr>
          <p:cNvPr id="20" name="TextBox 19"/>
          <p:cNvSpPr txBox="1"/>
          <p:nvPr/>
        </p:nvSpPr>
        <p:spPr>
          <a:xfrm>
            <a:off x="6543903" y="3355848"/>
            <a:ext cx="1836343" cy="914400"/>
          </a:xfrm>
          <a:prstGeom prst="rect">
            <a:avLst/>
          </a:prstGeom>
          <a:noFill/>
        </p:spPr>
        <p:txBody>
          <a:bodyPr wrap="square" lIns="0" rIns="0" tIns="0" bIns="0">
            <a:spAutoFit/>
          </a:bodyPr>
          <a:lstStyle/>
          <a:p>
            <a:pPr algn="l">
              <a:lnSpc>
                <a:spcPct val="120000"/>
              </a:lnSpc>
              <a:defRPr sz="1150" b="0" i="0">
                <a:solidFill>
                  <a:srgbClr val="9CAFA8"/>
                </a:solidFill>
                <a:latin typeface="Segoe UI"/>
              </a:defRPr>
            </a:pPr>
            <a:r>
              <a:t>The client reads the header, works out which tiles it needs, and asks for those bytes.</a:t>
            </a:r>
          </a:p>
        </p:txBody>
      </p:sp>
      <p:sp>
        <p:nvSpPr>
          <p:cNvPr id="21" name="Right Arrow 20"/>
          <p:cNvSpPr/>
          <p:nvPr/>
        </p:nvSpPr>
        <p:spPr>
          <a:xfrm>
            <a:off x="8691143" y="3191256"/>
            <a:ext cx="274320" cy="201168"/>
          </a:xfrm>
          <a:prstGeom prst="rightArrow">
            <a:avLst/>
          </a:prstGeom>
          <a:solidFill>
            <a:srgbClr val="1F3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020327" y="2148840"/>
            <a:ext cx="2348407" cy="2286000"/>
          </a:xfrm>
          <a:prstGeom prst="roundRect">
            <a:avLst>
              <a:gd name="adj" fmla="val 6000"/>
            </a:avLst>
          </a:prstGeom>
          <a:solidFill>
            <a:srgbClr val="152621"/>
          </a:solidFill>
          <a:ln w="19050">
            <a:solidFill>
              <a:srgbClr val="E3B3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check_e3b341.png"/>
          <p:cNvPicPr>
            <a:picLocks noChangeAspect="1"/>
          </p:cNvPicPr>
          <p:nvPr/>
        </p:nvPicPr>
        <p:blipFill>
          <a:blip r:embed="rId6"/>
          <a:stretch>
            <a:fillRect/>
          </a:stretch>
        </p:blipFill>
        <p:spPr>
          <a:xfrm>
            <a:off x="9276359" y="2404872"/>
            <a:ext cx="402336" cy="402336"/>
          </a:xfrm>
          <a:prstGeom prst="rect">
            <a:avLst/>
          </a:prstGeom>
        </p:spPr>
      </p:pic>
      <p:sp>
        <p:nvSpPr>
          <p:cNvPr id="24" name="TextBox 23"/>
          <p:cNvSpPr txBox="1"/>
          <p:nvPr/>
        </p:nvSpPr>
        <p:spPr>
          <a:xfrm>
            <a:off x="9276359" y="2953512"/>
            <a:ext cx="1836343" cy="365760"/>
          </a:xfrm>
          <a:prstGeom prst="rect">
            <a:avLst/>
          </a:prstGeom>
          <a:noFill/>
        </p:spPr>
        <p:txBody>
          <a:bodyPr wrap="square" lIns="0" rIns="0" tIns="0" bIns="0">
            <a:spAutoFit/>
          </a:bodyPr>
          <a:lstStyle/>
          <a:p>
            <a:pPr algn="l">
              <a:lnSpc>
                <a:spcPct val="100000"/>
              </a:lnSpc>
              <a:defRPr sz="1500" b="1" i="0">
                <a:solidFill>
                  <a:srgbClr val="E3B341"/>
                </a:solidFill>
                <a:latin typeface="Segoe UI"/>
              </a:defRPr>
            </a:pPr>
            <a:r>
              <a:t>Your window</a:t>
            </a:r>
          </a:p>
        </p:txBody>
      </p:sp>
      <p:sp>
        <p:nvSpPr>
          <p:cNvPr id="25" name="TextBox 24"/>
          <p:cNvSpPr txBox="1"/>
          <p:nvPr/>
        </p:nvSpPr>
        <p:spPr>
          <a:xfrm>
            <a:off x="9276359" y="3355848"/>
            <a:ext cx="1836343" cy="914400"/>
          </a:xfrm>
          <a:prstGeom prst="rect">
            <a:avLst/>
          </a:prstGeom>
          <a:noFill/>
        </p:spPr>
        <p:txBody>
          <a:bodyPr wrap="square" lIns="0" rIns="0" tIns="0" bIns="0">
            <a:spAutoFit/>
          </a:bodyPr>
          <a:lstStyle/>
          <a:p>
            <a:pPr algn="l">
              <a:lnSpc>
                <a:spcPct val="120000"/>
              </a:lnSpc>
              <a:defRPr sz="1150" b="0" i="0">
                <a:solidFill>
                  <a:srgbClr val="9CAFA8"/>
                </a:solidFill>
                <a:latin typeface="Segoe UI"/>
              </a:defRPr>
            </a:pPr>
            <a:r>
              <a:t>A licence block at 20 m is a few megabytes, fetched in seconds.</a:t>
            </a:r>
          </a:p>
        </p:txBody>
      </p:sp>
      <p:sp>
        <p:nvSpPr>
          <p:cNvPr id="26" name="Rounded Rectangle 25"/>
          <p:cNvSpPr/>
          <p:nvPr/>
        </p:nvSpPr>
        <p:spPr>
          <a:xfrm>
            <a:off x="822960" y="5486400"/>
            <a:ext cx="10543032" cy="749808"/>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43000" y="5678424"/>
            <a:ext cx="9966960" cy="502920"/>
          </a:xfrm>
          <a:prstGeom prst="rect">
            <a:avLst/>
          </a:prstGeom>
          <a:noFill/>
        </p:spPr>
        <p:txBody>
          <a:bodyPr wrap="square" lIns="0" rIns="0" tIns="0" bIns="0">
            <a:spAutoFit/>
          </a:bodyPr>
          <a:lstStyle/>
          <a:p>
            <a:pPr algn="l">
              <a:lnSpc>
                <a:spcPct val="100000"/>
              </a:lnSpc>
              <a:defRPr sz="1350" b="0" i="0">
                <a:solidFill>
                  <a:srgbClr val="C0844A"/>
                </a:solidFill>
                <a:latin typeface="Segoe UI"/>
              </a:defRPr>
            </a:pPr>
            <a:r>
              <a:t>Passing bbox into odc.stac.load is what triggers this. Without it you download the tile.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C0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1</a:t>
            </a:r>
          </a:p>
        </p:txBody>
      </p:sp>
      <p:pic>
        <p:nvPicPr>
          <p:cNvPr id="4" name="Picture 3" descr="layers_c0844a.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9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The five bands, and what each is for</a:t>
            </a:r>
          </a:p>
        </p:txBody>
      </p:sp>
      <p:sp>
        <p:nvSpPr>
          <p:cNvPr id="7" name="TextBox 6"/>
          <p:cNvSpPr txBox="1"/>
          <p:nvPr/>
        </p:nvSpPr>
        <p:spPr>
          <a:xfrm>
            <a:off x="822960" y="1828800"/>
            <a:ext cx="904398" cy="310896"/>
          </a:xfrm>
          <a:prstGeom prst="rect">
            <a:avLst/>
          </a:prstGeom>
          <a:noFill/>
        </p:spPr>
        <p:txBody>
          <a:bodyPr wrap="square" lIns="0" rIns="0" tIns="0" bIns="0">
            <a:spAutoFit/>
          </a:bodyPr>
          <a:lstStyle/>
          <a:p>
            <a:pPr algn="l">
              <a:lnSpc>
                <a:spcPct val="100000"/>
              </a:lnSpc>
              <a:defRPr sz="1050" b="1" i="0">
                <a:solidFill>
                  <a:srgbClr val="C0844A"/>
                </a:solidFill>
                <a:latin typeface="Segoe UI"/>
              </a:defRPr>
            </a:pPr>
            <a:r>
              <a:t>ASSET</a:t>
            </a:r>
          </a:p>
        </p:txBody>
      </p:sp>
      <p:sp>
        <p:nvSpPr>
          <p:cNvPr id="8" name="TextBox 7"/>
          <p:cNvSpPr txBox="1"/>
          <p:nvPr/>
        </p:nvSpPr>
        <p:spPr>
          <a:xfrm>
            <a:off x="1864518" y="1828800"/>
            <a:ext cx="2727124" cy="310896"/>
          </a:xfrm>
          <a:prstGeom prst="rect">
            <a:avLst/>
          </a:prstGeom>
          <a:noFill/>
        </p:spPr>
        <p:txBody>
          <a:bodyPr wrap="square" lIns="0" rIns="0" tIns="0" bIns="0">
            <a:spAutoFit/>
          </a:bodyPr>
          <a:lstStyle/>
          <a:p>
            <a:pPr algn="l">
              <a:lnSpc>
                <a:spcPct val="100000"/>
              </a:lnSpc>
              <a:defRPr sz="1050" b="1" i="0">
                <a:solidFill>
                  <a:srgbClr val="C0844A"/>
                </a:solidFill>
                <a:latin typeface="Segoe UI"/>
              </a:defRPr>
            </a:pPr>
            <a:r>
              <a:t>WAVELENGTH</a:t>
            </a:r>
          </a:p>
        </p:txBody>
      </p:sp>
      <p:sp>
        <p:nvSpPr>
          <p:cNvPr id="9" name="TextBox 8"/>
          <p:cNvSpPr txBox="1"/>
          <p:nvPr/>
        </p:nvSpPr>
        <p:spPr>
          <a:xfrm>
            <a:off x="4728802" y="1828800"/>
            <a:ext cx="774203" cy="310896"/>
          </a:xfrm>
          <a:prstGeom prst="rect">
            <a:avLst/>
          </a:prstGeom>
          <a:noFill/>
        </p:spPr>
        <p:txBody>
          <a:bodyPr wrap="square" lIns="0" rIns="0" tIns="0" bIns="0">
            <a:spAutoFit/>
          </a:bodyPr>
          <a:lstStyle/>
          <a:p>
            <a:pPr algn="l">
              <a:lnSpc>
                <a:spcPct val="100000"/>
              </a:lnSpc>
              <a:defRPr sz="1050" b="1" i="0">
                <a:solidFill>
                  <a:srgbClr val="C0844A"/>
                </a:solidFill>
                <a:latin typeface="Segoe UI"/>
              </a:defRPr>
            </a:pPr>
            <a:r>
              <a:t>RES</a:t>
            </a:r>
          </a:p>
        </p:txBody>
      </p:sp>
      <p:sp>
        <p:nvSpPr>
          <p:cNvPr id="10" name="TextBox 9"/>
          <p:cNvSpPr txBox="1"/>
          <p:nvPr/>
        </p:nvSpPr>
        <p:spPr>
          <a:xfrm>
            <a:off x="5640165" y="1828800"/>
            <a:ext cx="5591409" cy="310896"/>
          </a:xfrm>
          <a:prstGeom prst="rect">
            <a:avLst/>
          </a:prstGeom>
          <a:noFill/>
        </p:spPr>
        <p:txBody>
          <a:bodyPr wrap="square" lIns="0" rIns="0" tIns="0" bIns="0">
            <a:spAutoFit/>
          </a:bodyPr>
          <a:lstStyle/>
          <a:p>
            <a:pPr algn="l">
              <a:lnSpc>
                <a:spcPct val="100000"/>
              </a:lnSpc>
              <a:defRPr sz="1050" b="1" i="0">
                <a:solidFill>
                  <a:srgbClr val="C0844A"/>
                </a:solidFill>
                <a:latin typeface="Segoe UI"/>
              </a:defRPr>
            </a:pPr>
            <a:r>
              <a:t>USED FOR</a:t>
            </a:r>
          </a:p>
        </p:txBody>
      </p:sp>
      <p:sp>
        <p:nvSpPr>
          <p:cNvPr id="11" name="Rectangle 10"/>
          <p:cNvSpPr/>
          <p:nvPr/>
        </p:nvSpPr>
        <p:spPr>
          <a:xfrm>
            <a:off x="822960" y="2157984"/>
            <a:ext cx="10545775" cy="18288"/>
          </a:xfrm>
          <a:prstGeom prst="rect">
            <a:avLst/>
          </a:prstGeom>
          <a:solidFill>
            <a:srgbClr val="1F3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3232" y="2167128"/>
            <a:ext cx="10765231" cy="618134"/>
          </a:xfrm>
          <a:prstGeom prst="rect">
            <a:avLst/>
          </a:prstGeom>
          <a:solidFill>
            <a:srgbClr val="1526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258568"/>
            <a:ext cx="904398" cy="563270"/>
          </a:xfrm>
          <a:prstGeom prst="rect">
            <a:avLst/>
          </a:prstGeom>
          <a:noFill/>
        </p:spPr>
        <p:txBody>
          <a:bodyPr wrap="square" lIns="0" rIns="0" tIns="0" bIns="0">
            <a:spAutoFit/>
          </a:bodyPr>
          <a:lstStyle/>
          <a:p>
            <a:pPr algn="l">
              <a:lnSpc>
                <a:spcPct val="100000"/>
              </a:lnSpc>
              <a:defRPr sz="1250" b="1" i="0">
                <a:solidFill>
                  <a:srgbClr val="F1F5F3"/>
                </a:solidFill>
                <a:latin typeface="Segoe UI"/>
              </a:defRPr>
            </a:pPr>
            <a:r>
              <a:t>B04</a:t>
            </a:r>
          </a:p>
        </p:txBody>
      </p:sp>
      <p:sp>
        <p:nvSpPr>
          <p:cNvPr id="14" name="TextBox 13"/>
          <p:cNvSpPr txBox="1"/>
          <p:nvPr/>
        </p:nvSpPr>
        <p:spPr>
          <a:xfrm>
            <a:off x="1864518" y="2258568"/>
            <a:ext cx="2727124" cy="56327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Red, 665 nm</a:t>
            </a:r>
          </a:p>
        </p:txBody>
      </p:sp>
      <p:sp>
        <p:nvSpPr>
          <p:cNvPr id="15" name="TextBox 14"/>
          <p:cNvSpPr txBox="1"/>
          <p:nvPr/>
        </p:nvSpPr>
        <p:spPr>
          <a:xfrm>
            <a:off x="4728802" y="2258568"/>
            <a:ext cx="774203" cy="56327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10 m</a:t>
            </a:r>
          </a:p>
        </p:txBody>
      </p:sp>
      <p:sp>
        <p:nvSpPr>
          <p:cNvPr id="16" name="TextBox 15"/>
          <p:cNvSpPr txBox="1"/>
          <p:nvPr/>
        </p:nvSpPr>
        <p:spPr>
          <a:xfrm>
            <a:off x="5640165" y="2258568"/>
            <a:ext cx="5591409" cy="56327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NDVI and EVI, the greenness denominator</a:t>
            </a:r>
          </a:p>
        </p:txBody>
      </p:sp>
      <p:sp>
        <p:nvSpPr>
          <p:cNvPr id="17" name="TextBox 16"/>
          <p:cNvSpPr txBox="1"/>
          <p:nvPr/>
        </p:nvSpPr>
        <p:spPr>
          <a:xfrm>
            <a:off x="822960" y="2913278"/>
            <a:ext cx="904398" cy="563270"/>
          </a:xfrm>
          <a:prstGeom prst="rect">
            <a:avLst/>
          </a:prstGeom>
          <a:noFill/>
        </p:spPr>
        <p:txBody>
          <a:bodyPr wrap="square" lIns="0" rIns="0" tIns="0" bIns="0">
            <a:spAutoFit/>
          </a:bodyPr>
          <a:lstStyle/>
          <a:p>
            <a:pPr algn="l">
              <a:lnSpc>
                <a:spcPct val="100000"/>
              </a:lnSpc>
              <a:defRPr sz="1250" b="1" i="0">
                <a:solidFill>
                  <a:srgbClr val="F1F5F3"/>
                </a:solidFill>
                <a:latin typeface="Segoe UI"/>
              </a:defRPr>
            </a:pPr>
            <a:r>
              <a:t>B08</a:t>
            </a:r>
          </a:p>
        </p:txBody>
      </p:sp>
      <p:sp>
        <p:nvSpPr>
          <p:cNvPr id="18" name="TextBox 17"/>
          <p:cNvSpPr txBox="1"/>
          <p:nvPr/>
        </p:nvSpPr>
        <p:spPr>
          <a:xfrm>
            <a:off x="1864518" y="2913278"/>
            <a:ext cx="2727124" cy="56327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Near infrared, 842 nm</a:t>
            </a:r>
          </a:p>
        </p:txBody>
      </p:sp>
      <p:sp>
        <p:nvSpPr>
          <p:cNvPr id="19" name="TextBox 18"/>
          <p:cNvSpPr txBox="1"/>
          <p:nvPr/>
        </p:nvSpPr>
        <p:spPr>
          <a:xfrm>
            <a:off x="4728802" y="2913278"/>
            <a:ext cx="774203" cy="56327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10 m</a:t>
            </a:r>
          </a:p>
        </p:txBody>
      </p:sp>
      <p:sp>
        <p:nvSpPr>
          <p:cNvPr id="20" name="TextBox 19"/>
          <p:cNvSpPr txBox="1"/>
          <p:nvPr/>
        </p:nvSpPr>
        <p:spPr>
          <a:xfrm>
            <a:off x="5640165" y="2913278"/>
            <a:ext cx="5591409" cy="56327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Every index. Vegetation structure and biomass</a:t>
            </a:r>
          </a:p>
        </p:txBody>
      </p:sp>
      <p:sp>
        <p:nvSpPr>
          <p:cNvPr id="21" name="Rectangle 20"/>
          <p:cNvSpPr/>
          <p:nvPr/>
        </p:nvSpPr>
        <p:spPr>
          <a:xfrm>
            <a:off x="713232" y="3476548"/>
            <a:ext cx="10765231" cy="618134"/>
          </a:xfrm>
          <a:prstGeom prst="rect">
            <a:avLst/>
          </a:prstGeom>
          <a:solidFill>
            <a:srgbClr val="1526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567988"/>
            <a:ext cx="904398" cy="563270"/>
          </a:xfrm>
          <a:prstGeom prst="rect">
            <a:avLst/>
          </a:prstGeom>
          <a:noFill/>
        </p:spPr>
        <p:txBody>
          <a:bodyPr wrap="square" lIns="0" rIns="0" tIns="0" bIns="0">
            <a:spAutoFit/>
          </a:bodyPr>
          <a:lstStyle/>
          <a:p>
            <a:pPr algn="l">
              <a:lnSpc>
                <a:spcPct val="100000"/>
              </a:lnSpc>
              <a:defRPr sz="1250" b="1" i="0">
                <a:solidFill>
                  <a:srgbClr val="F1F5F3"/>
                </a:solidFill>
                <a:latin typeface="Segoe UI"/>
              </a:defRPr>
            </a:pPr>
            <a:r>
              <a:t>B11</a:t>
            </a:r>
          </a:p>
        </p:txBody>
      </p:sp>
      <p:sp>
        <p:nvSpPr>
          <p:cNvPr id="23" name="TextBox 22"/>
          <p:cNvSpPr txBox="1"/>
          <p:nvPr/>
        </p:nvSpPr>
        <p:spPr>
          <a:xfrm>
            <a:off x="1864518" y="3567988"/>
            <a:ext cx="2727124" cy="56327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Shortwave infrared, 1610 nm</a:t>
            </a:r>
          </a:p>
        </p:txBody>
      </p:sp>
      <p:sp>
        <p:nvSpPr>
          <p:cNvPr id="24" name="TextBox 23"/>
          <p:cNvSpPr txBox="1"/>
          <p:nvPr/>
        </p:nvSpPr>
        <p:spPr>
          <a:xfrm>
            <a:off x="4728802" y="3567988"/>
            <a:ext cx="774203" cy="56327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20 m</a:t>
            </a:r>
          </a:p>
        </p:txBody>
      </p:sp>
      <p:sp>
        <p:nvSpPr>
          <p:cNvPr id="25" name="TextBox 24"/>
          <p:cNvSpPr txBox="1"/>
          <p:nvPr/>
        </p:nvSpPr>
        <p:spPr>
          <a:xfrm>
            <a:off x="5640165" y="3567988"/>
            <a:ext cx="5591409" cy="56327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NDMI. Canopy moisture and drought stress</a:t>
            </a:r>
          </a:p>
        </p:txBody>
      </p:sp>
      <p:sp>
        <p:nvSpPr>
          <p:cNvPr id="26" name="TextBox 25"/>
          <p:cNvSpPr txBox="1"/>
          <p:nvPr/>
        </p:nvSpPr>
        <p:spPr>
          <a:xfrm>
            <a:off x="822960" y="4222699"/>
            <a:ext cx="904398" cy="563270"/>
          </a:xfrm>
          <a:prstGeom prst="rect">
            <a:avLst/>
          </a:prstGeom>
          <a:noFill/>
        </p:spPr>
        <p:txBody>
          <a:bodyPr wrap="square" lIns="0" rIns="0" tIns="0" bIns="0">
            <a:spAutoFit/>
          </a:bodyPr>
          <a:lstStyle/>
          <a:p>
            <a:pPr algn="l">
              <a:lnSpc>
                <a:spcPct val="100000"/>
              </a:lnSpc>
              <a:defRPr sz="1250" b="1" i="0">
                <a:solidFill>
                  <a:srgbClr val="F1F5F3"/>
                </a:solidFill>
                <a:latin typeface="Segoe UI"/>
              </a:defRPr>
            </a:pPr>
            <a:r>
              <a:t>B12</a:t>
            </a:r>
          </a:p>
        </p:txBody>
      </p:sp>
      <p:sp>
        <p:nvSpPr>
          <p:cNvPr id="27" name="TextBox 26"/>
          <p:cNvSpPr txBox="1"/>
          <p:nvPr/>
        </p:nvSpPr>
        <p:spPr>
          <a:xfrm>
            <a:off x="1864518" y="4222699"/>
            <a:ext cx="2727124" cy="56327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Shortwave infrared, 2190 nm</a:t>
            </a:r>
          </a:p>
        </p:txBody>
      </p:sp>
      <p:sp>
        <p:nvSpPr>
          <p:cNvPr id="28" name="TextBox 27"/>
          <p:cNvSpPr txBox="1"/>
          <p:nvPr/>
        </p:nvSpPr>
        <p:spPr>
          <a:xfrm>
            <a:off x="4728802" y="4222699"/>
            <a:ext cx="774203" cy="56327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20 m</a:t>
            </a:r>
          </a:p>
        </p:txBody>
      </p:sp>
      <p:sp>
        <p:nvSpPr>
          <p:cNvPr id="29" name="TextBox 28"/>
          <p:cNvSpPr txBox="1"/>
          <p:nvPr/>
        </p:nvSpPr>
        <p:spPr>
          <a:xfrm>
            <a:off x="5640165" y="4222699"/>
            <a:ext cx="5591409" cy="56327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NBR. Harvest and burn detection</a:t>
            </a:r>
          </a:p>
        </p:txBody>
      </p:sp>
      <p:sp>
        <p:nvSpPr>
          <p:cNvPr id="30" name="Rectangle 29"/>
          <p:cNvSpPr/>
          <p:nvPr/>
        </p:nvSpPr>
        <p:spPr>
          <a:xfrm>
            <a:off x="713232" y="4785969"/>
            <a:ext cx="10765231" cy="618134"/>
          </a:xfrm>
          <a:prstGeom prst="rect">
            <a:avLst/>
          </a:prstGeom>
          <a:solidFill>
            <a:srgbClr val="1526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4877409"/>
            <a:ext cx="904398" cy="563270"/>
          </a:xfrm>
          <a:prstGeom prst="rect">
            <a:avLst/>
          </a:prstGeom>
          <a:noFill/>
        </p:spPr>
        <p:txBody>
          <a:bodyPr wrap="square" lIns="0" rIns="0" tIns="0" bIns="0">
            <a:spAutoFit/>
          </a:bodyPr>
          <a:lstStyle/>
          <a:p>
            <a:pPr algn="l">
              <a:lnSpc>
                <a:spcPct val="100000"/>
              </a:lnSpc>
              <a:defRPr sz="1250" b="1" i="0">
                <a:solidFill>
                  <a:srgbClr val="F1F5F3"/>
                </a:solidFill>
                <a:latin typeface="Segoe UI"/>
              </a:defRPr>
            </a:pPr>
            <a:r>
              <a:t>SCL</a:t>
            </a:r>
          </a:p>
        </p:txBody>
      </p:sp>
      <p:sp>
        <p:nvSpPr>
          <p:cNvPr id="32" name="TextBox 31"/>
          <p:cNvSpPr txBox="1"/>
          <p:nvPr/>
        </p:nvSpPr>
        <p:spPr>
          <a:xfrm>
            <a:off x="1864518" y="4877409"/>
            <a:ext cx="2727124" cy="56327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Scene classification</a:t>
            </a:r>
          </a:p>
        </p:txBody>
      </p:sp>
      <p:sp>
        <p:nvSpPr>
          <p:cNvPr id="33" name="TextBox 32"/>
          <p:cNvSpPr txBox="1"/>
          <p:nvPr/>
        </p:nvSpPr>
        <p:spPr>
          <a:xfrm>
            <a:off x="4728802" y="4877409"/>
            <a:ext cx="774203" cy="56327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20 m</a:t>
            </a:r>
          </a:p>
        </p:txBody>
      </p:sp>
      <p:sp>
        <p:nvSpPr>
          <p:cNvPr id="34" name="TextBox 33"/>
          <p:cNvSpPr txBox="1"/>
          <p:nvPr/>
        </p:nvSpPr>
        <p:spPr>
          <a:xfrm>
            <a:off x="5640165" y="4877409"/>
            <a:ext cx="5591409" cy="563270"/>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Cloud, shadow and snow masking. Not optional</a:t>
            </a:r>
          </a:p>
        </p:txBody>
      </p:sp>
      <p:sp>
        <p:nvSpPr>
          <p:cNvPr id="35" name="TextBox 34"/>
          <p:cNvSpPr txBox="1"/>
          <p:nvPr/>
        </p:nvSpPr>
        <p:spPr>
          <a:xfrm>
            <a:off x="822960" y="5897880"/>
            <a:ext cx="10332720" cy="457200"/>
          </a:xfrm>
          <a:prstGeom prst="rect">
            <a:avLst/>
          </a:prstGeom>
          <a:noFill/>
        </p:spPr>
        <p:txBody>
          <a:bodyPr wrap="square" lIns="0" rIns="0" tIns="0" bIns="0">
            <a:spAutoFit/>
          </a:bodyPr>
          <a:lstStyle/>
          <a:p>
            <a:pPr algn="l">
              <a:lnSpc>
                <a:spcPct val="100000"/>
              </a:lnSpc>
              <a:defRPr sz="1300" b="0" i="0">
                <a:solidFill>
                  <a:srgbClr val="C0844A"/>
                </a:solidFill>
                <a:latin typeface="Segoe UI"/>
              </a:defRPr>
            </a:pPr>
            <a:r>
              <a:t>Load all five in bronze. Deciding you do not need B12 is a silver decision, not a bronze 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C0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1</a:t>
            </a:r>
          </a:p>
        </p:txBody>
      </p:sp>
      <p:pic>
        <p:nvPicPr>
          <p:cNvPr id="4" name="Picture 3" descr="code_c0844a.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10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The search, and the three filters</a:t>
            </a:r>
          </a:p>
        </p:txBody>
      </p:sp>
      <p:sp>
        <p:nvSpPr>
          <p:cNvPr id="7" name="Rounded Rectangle 6"/>
          <p:cNvSpPr/>
          <p:nvPr/>
        </p:nvSpPr>
        <p:spPr>
          <a:xfrm>
            <a:off x="822960" y="1783080"/>
            <a:ext cx="10543032" cy="3552444"/>
          </a:xfrm>
          <a:prstGeom prst="roundRect">
            <a:avLst>
              <a:gd name="adj" fmla="val 6000"/>
            </a:avLst>
          </a:prstGeom>
          <a:solidFill>
            <a:srgbClr val="0A1210"/>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1975104"/>
            <a:ext cx="9966960" cy="3168396"/>
          </a:xfrm>
          <a:prstGeom prst="rect">
            <a:avLst/>
          </a:prstGeom>
          <a:noFill/>
        </p:spPr>
        <p:txBody>
          <a:bodyPr wrap="square" lIns="0" rIns="0" tIns="0" bIns="0">
            <a:spAutoFit/>
          </a:bodyPr>
          <a:lstStyle/>
          <a:p>
            <a:pPr algn="l">
              <a:lnSpc>
                <a:spcPct val="135000"/>
              </a:lnSpc>
              <a:defRPr sz="1100" b="0" i="0">
                <a:solidFill>
                  <a:srgbClr val="F1F5F3"/>
                </a:solidFill>
                <a:latin typeface="Consolas"/>
              </a:defRPr>
            </a:pPr>
            <a:r>
              <a:t>catalog = pystac_client.Client.open(</a:t>
            </a:r>
          </a:p>
          <a:p>
            <a:pPr algn="l">
              <a:lnSpc>
                <a:spcPct val="135000"/>
              </a:lnSpc>
              <a:defRPr sz="1100" b="0" i="0">
                <a:solidFill>
                  <a:srgbClr val="F1F5F3"/>
                </a:solidFill>
                <a:latin typeface="Consolas"/>
              </a:defRPr>
            </a:pPr>
            <a:r>
              <a:t>    "https://planetarycomputer.microsoft.com/api/stac/v1",</a:t>
            </a:r>
          </a:p>
          <a:p>
            <a:pPr algn="l">
              <a:lnSpc>
                <a:spcPct val="135000"/>
              </a:lnSpc>
              <a:defRPr sz="1100" b="0" i="0">
                <a:solidFill>
                  <a:srgbClr val="F1F5F3"/>
                </a:solidFill>
                <a:latin typeface="Consolas"/>
              </a:defRPr>
            </a:pPr>
            <a:r>
              <a:t>    modifier=pc.sign_inplace,          # sign as items are read, never persist</a:t>
            </a:r>
          </a:p>
          <a:p>
            <a:pPr algn="l">
              <a:lnSpc>
                <a:spcPct val="135000"/>
              </a:lnSpc>
              <a:defRPr sz="1100" b="0" i="0">
                <a:solidFill>
                  <a:srgbClr val="F1F5F3"/>
                </a:solidFill>
                <a:latin typeface="Consolas"/>
              </a:defRPr>
            </a:pPr>
            <a:r>
              <a:t>)</a:t>
            </a:r>
          </a:p>
          <a:p>
            <a:pPr algn="l">
              <a:lnSpc>
                <a:spcPct val="135000"/>
              </a:lnSpc>
              <a:defRPr sz="1100" b="0" i="0">
                <a:solidFill>
                  <a:srgbClr val="F1F5F3"/>
                </a:solidFill>
                <a:latin typeface="Consolas"/>
              </a:defRPr>
            </a:pPr>
          </a:p>
          <a:p>
            <a:pPr algn="l">
              <a:lnSpc>
                <a:spcPct val="135000"/>
              </a:lnSpc>
              <a:defRPr sz="1100" b="0" i="0">
                <a:solidFill>
                  <a:srgbClr val="F1F5F3"/>
                </a:solidFill>
                <a:latin typeface="Consolas"/>
              </a:defRPr>
            </a:pPr>
            <a:r>
              <a:t>search = catalog.search(</a:t>
            </a:r>
          </a:p>
          <a:p>
            <a:pPr algn="l">
              <a:lnSpc>
                <a:spcPct val="135000"/>
              </a:lnSpc>
              <a:defRPr sz="1100" b="0" i="0">
                <a:solidFill>
                  <a:srgbClr val="F1F5F3"/>
                </a:solidFill>
                <a:latin typeface="Consolas"/>
              </a:defRPr>
            </a:pPr>
            <a:r>
              <a:t>    collections=["sentinel-2-l2a"],</a:t>
            </a:r>
          </a:p>
          <a:p>
            <a:pPr algn="l">
              <a:lnSpc>
                <a:spcPct val="135000"/>
              </a:lnSpc>
              <a:defRPr sz="1100" b="0" i="0">
                <a:solidFill>
                  <a:srgbClr val="F1F5F3"/>
                </a:solidFill>
                <a:latin typeface="Consolas"/>
              </a:defRPr>
            </a:pPr>
            <a:r>
              <a:t>    bbox=[-66.90, 46.10, -66.40, 46.40],   # west, south, east, north</a:t>
            </a:r>
          </a:p>
          <a:p>
            <a:pPr algn="l">
              <a:lnSpc>
                <a:spcPct val="135000"/>
              </a:lnSpc>
              <a:defRPr sz="1100" b="0" i="0">
                <a:solidFill>
                  <a:srgbClr val="F1F5F3"/>
                </a:solidFill>
                <a:latin typeface="Consolas"/>
              </a:defRPr>
            </a:pPr>
            <a:r>
              <a:t>    datetime="2026-06-01/2026-08-31",</a:t>
            </a:r>
          </a:p>
          <a:p>
            <a:pPr algn="l">
              <a:lnSpc>
                <a:spcPct val="135000"/>
              </a:lnSpc>
              <a:defRPr sz="1100" b="0" i="0">
                <a:solidFill>
                  <a:srgbClr val="F1F5F3"/>
                </a:solidFill>
                <a:latin typeface="Consolas"/>
              </a:defRPr>
            </a:pPr>
            <a:r>
              <a:t>    query={"eo:cloud_cover": {"lt": 20}},</a:t>
            </a:r>
          </a:p>
          <a:p>
            <a:pPr algn="l">
              <a:lnSpc>
                <a:spcPct val="135000"/>
              </a:lnSpc>
              <a:defRPr sz="1100" b="0" i="0">
                <a:solidFill>
                  <a:srgbClr val="F1F5F3"/>
                </a:solidFill>
                <a:latin typeface="Consolas"/>
              </a:defRPr>
            </a:pPr>
            <a:r>
              <a:t>)</a:t>
            </a:r>
          </a:p>
          <a:p>
            <a:pPr algn="l">
              <a:lnSpc>
                <a:spcPct val="135000"/>
              </a:lnSpc>
              <a:defRPr sz="1100" b="0" i="0">
                <a:solidFill>
                  <a:srgbClr val="F1F5F3"/>
                </a:solidFill>
                <a:latin typeface="Consolas"/>
              </a:defRPr>
            </a:pPr>
          </a:p>
          <a:p>
            <a:pPr algn="l">
              <a:lnSpc>
                <a:spcPct val="135000"/>
              </a:lnSpc>
              <a:defRPr sz="1100" b="0" i="0">
                <a:solidFill>
                  <a:srgbClr val="F1F5F3"/>
                </a:solidFill>
                <a:latin typeface="Consolas"/>
              </a:defRPr>
            </a:pPr>
            <a:r>
              <a:t>items = sorted(search.items(),</a:t>
            </a:r>
          </a:p>
          <a:p>
            <a:pPr algn="l">
              <a:lnSpc>
                <a:spcPct val="135000"/>
              </a:lnSpc>
              <a:defRPr sz="1100" b="0" i="0">
                <a:solidFill>
                  <a:srgbClr val="F1F5F3"/>
                </a:solidFill>
                <a:latin typeface="Consolas"/>
              </a:defRPr>
            </a:pPr>
            <a:r>
              <a:t>               key=lambda i: i.properties.get("eo:cloud_cover", 100))[:6]</a:t>
            </a:r>
          </a:p>
        </p:txBody>
      </p:sp>
      <p:sp>
        <p:nvSpPr>
          <p:cNvPr id="9" name="TextBox 8"/>
          <p:cNvSpPr txBox="1"/>
          <p:nvPr/>
        </p:nvSpPr>
        <p:spPr>
          <a:xfrm>
            <a:off x="822960" y="5591556"/>
            <a:ext cx="10332720" cy="822960"/>
          </a:xfrm>
          <a:prstGeom prst="rect">
            <a:avLst/>
          </a:prstGeom>
          <a:noFill/>
        </p:spPr>
        <p:txBody>
          <a:bodyPr wrap="square" lIns="0" rIns="0" tIns="0" bIns="0">
            <a:spAutoFit/>
          </a:bodyPr>
          <a:lstStyle/>
          <a:p>
            <a:pPr algn="l">
              <a:lnSpc>
                <a:spcPct val="125000"/>
              </a:lnSpc>
              <a:defRPr sz="1350" b="0" i="0">
                <a:solidFill>
                  <a:srgbClr val="9CAFA8"/>
                </a:solidFill>
                <a:latin typeface="Segoe UI"/>
              </a:defRPr>
            </a:pPr>
            <a:r>
              <a:t>eo:cloud_cover is scene-wide. A scene can be 40 percent cloudy overall and perfectly clear over your block, so set a generous threshold and rank rather than filtering hard.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1</a:t>
            </a:r>
          </a:p>
        </p:txBody>
      </p:sp>
      <p:pic>
        <p:nvPicPr>
          <p:cNvPr id="4" name="Picture 3" descr="warning_f59e0b.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11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Zero scenes: work the list in this order</a:t>
            </a:r>
          </a:p>
        </p:txBody>
      </p:sp>
      <p:sp>
        <p:nvSpPr>
          <p:cNvPr id="7" name="TextBox 6"/>
          <p:cNvSpPr txBox="1"/>
          <p:nvPr/>
        </p:nvSpPr>
        <p:spPr>
          <a:xfrm>
            <a:off x="822960" y="1783080"/>
            <a:ext cx="10332720" cy="3840480"/>
          </a:xfrm>
          <a:prstGeom prst="rect">
            <a:avLst/>
          </a:prstGeom>
          <a:noFill/>
        </p:spPr>
        <p:txBody>
          <a:bodyPr wrap="square" lIns="0" rIns="0">
            <a:spAutoFit/>
          </a:bodyPr>
          <a:lstStyle/>
          <a:p>
            <a:pPr>
              <a:lnSpc>
                <a:spcPct val="115000"/>
              </a:lnSpc>
              <a:spcBef>
                <a:spcPts val="0"/>
              </a:spcBef>
            </a:pPr>
            <a:r>
              <a:rPr sz="1500" b="1">
                <a:solidFill>
                  <a:srgbClr val="F59E0B"/>
                </a:solidFill>
                <a:latin typeface="Segoe UI"/>
              </a:rPr>
              <a:t>▸  </a:t>
            </a:r>
            <a:r>
              <a:rPr sz="1500">
                <a:solidFill>
                  <a:srgbClr val="F1F5F3"/>
                </a:solidFill>
                <a:latin typeface="Segoe UI"/>
              </a:rPr>
              <a:t>Bounding box order. It is west, south, east, north, and a reversed box returns nothing without erroring</a:t>
            </a:r>
          </a:p>
          <a:p>
            <a:pPr>
              <a:lnSpc>
                <a:spcPct val="115000"/>
              </a:lnSpc>
              <a:spcBef>
                <a:spcPts val="1600"/>
              </a:spcBef>
            </a:pPr>
            <a:r>
              <a:rPr sz="1500" b="1">
                <a:solidFill>
                  <a:srgbClr val="F59E0B"/>
                </a:solidFill>
                <a:latin typeface="Segoe UI"/>
              </a:rPr>
              <a:t>▸  </a:t>
            </a:r>
            <a:r>
              <a:rPr sz="1500">
                <a:solidFill>
                  <a:srgbClr val="F1F5F3"/>
                </a:solidFill>
                <a:latin typeface="Segoe UI"/>
              </a:rPr>
              <a:t>Longitude sign. Positive 66 is Mongolia. New Brunswick is negative 66</a:t>
            </a:r>
          </a:p>
          <a:p>
            <a:pPr>
              <a:lnSpc>
                <a:spcPct val="115000"/>
              </a:lnSpc>
              <a:spcBef>
                <a:spcPts val="1600"/>
              </a:spcBef>
            </a:pPr>
            <a:r>
              <a:rPr sz="1500" b="1">
                <a:solidFill>
                  <a:srgbClr val="F59E0B"/>
                </a:solidFill>
                <a:latin typeface="Segoe UI"/>
              </a:rPr>
              <a:t>▸  </a:t>
            </a:r>
            <a:r>
              <a:rPr sz="1500">
                <a:solidFill>
                  <a:srgbClr val="F1F5F3"/>
                </a:solidFill>
                <a:latin typeface="Segoe UI"/>
              </a:rPr>
              <a:t>Date range. Widen it before you touch anything else, because a single month can genuinely be empty</a:t>
            </a:r>
          </a:p>
          <a:p>
            <a:pPr>
              <a:lnSpc>
                <a:spcPct val="115000"/>
              </a:lnSpc>
              <a:spcBef>
                <a:spcPts val="1600"/>
              </a:spcBef>
            </a:pPr>
            <a:r>
              <a:rPr sz="1500" b="1">
                <a:solidFill>
                  <a:srgbClr val="F59E0B"/>
                </a:solidFill>
                <a:latin typeface="Segoe UI"/>
              </a:rPr>
              <a:t>▸  </a:t>
            </a:r>
            <a:r>
              <a:rPr sz="1500">
                <a:solidFill>
                  <a:srgbClr val="F1F5F3"/>
                </a:solidFill>
                <a:latin typeface="Segoe UI"/>
              </a:rPr>
              <a:t>Cloud threshold. Raise it to 60 and rely on the ranking rather than the filter</a:t>
            </a:r>
          </a:p>
          <a:p>
            <a:pPr>
              <a:lnSpc>
                <a:spcPct val="115000"/>
              </a:lnSpc>
              <a:spcBef>
                <a:spcPts val="1600"/>
              </a:spcBef>
            </a:pPr>
            <a:r>
              <a:rPr sz="1500" b="1">
                <a:solidFill>
                  <a:srgbClr val="F59E0B"/>
                </a:solidFill>
                <a:latin typeface="Segoe UI"/>
              </a:rPr>
              <a:t>▸  </a:t>
            </a:r>
            <a:r>
              <a:rPr sz="1500">
                <a:solidFill>
                  <a:srgbClr val="F1F5F3"/>
                </a:solidFill>
                <a:latin typeface="Segoe UI"/>
              </a:rPr>
              <a:t>Only then suspect the collection name or the network</a:t>
            </a:r>
          </a:p>
        </p:txBody>
      </p:sp>
      <p:sp>
        <p:nvSpPr>
          <p:cNvPr id="8" name="Rounded Rectangle 7"/>
          <p:cNvSpPr/>
          <p:nvPr/>
        </p:nvSpPr>
        <p:spPr>
          <a:xfrm>
            <a:off x="822960" y="5440680"/>
            <a:ext cx="10543032" cy="77724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5641848"/>
            <a:ext cx="9966960" cy="548640"/>
          </a:xfrm>
          <a:prstGeom prst="rect">
            <a:avLst/>
          </a:prstGeom>
          <a:noFill/>
        </p:spPr>
        <p:txBody>
          <a:bodyPr wrap="square" lIns="0" rIns="0" tIns="0" bIns="0">
            <a:spAutoFit/>
          </a:bodyPr>
          <a:lstStyle/>
          <a:p>
            <a:pPr algn="l">
              <a:lnSpc>
                <a:spcPct val="120000"/>
              </a:lnSpc>
              <a:defRPr sz="1350" b="0" i="0">
                <a:solidFill>
                  <a:srgbClr val="F59E0B"/>
                </a:solidFill>
                <a:latin typeface="Segoe UI"/>
              </a:defRPr>
            </a:pPr>
            <a:r>
              <a:t>Notebook 01 prints exactly this list when the search returns nothing, so nobody has to remember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C0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0:30  ·  30 MIN</a:t>
            </a:r>
          </a:p>
        </p:txBody>
      </p:sp>
      <p:pic>
        <p:nvPicPr>
          <p:cNvPr id="4" name="Picture 3" descr="notebook_c0844a.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12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Hands-on 1: land the imagery</a:t>
            </a:r>
          </a:p>
        </p:txBody>
      </p:sp>
      <p:sp>
        <p:nvSpPr>
          <p:cNvPr id="7" name="Oval 6"/>
          <p:cNvSpPr/>
          <p:nvPr/>
        </p:nvSpPr>
        <p:spPr>
          <a:xfrm>
            <a:off x="822960" y="1819656"/>
            <a:ext cx="402336" cy="402336"/>
          </a:xfrm>
          <a:prstGeom prst="ellipse">
            <a:avLst/>
          </a:prstGeom>
          <a:solidFill>
            <a:srgbClr val="C084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1</a:t>
            </a:r>
          </a:p>
        </p:txBody>
      </p:sp>
      <p:sp>
        <p:nvSpPr>
          <p:cNvPr id="8" name="TextBox 7"/>
          <p:cNvSpPr txBox="1"/>
          <p:nvPr/>
        </p:nvSpPr>
        <p:spPr>
          <a:xfrm>
            <a:off x="1426464" y="1801368"/>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Open the catalogue and search</a:t>
            </a:r>
          </a:p>
        </p:txBody>
      </p:sp>
      <p:sp>
        <p:nvSpPr>
          <p:cNvPr id="9" name="TextBox 8"/>
          <p:cNvSpPr txBox="1"/>
          <p:nvPr/>
        </p:nvSpPr>
        <p:spPr>
          <a:xfrm>
            <a:off x="1426464" y="2112264"/>
            <a:ext cx="7863840" cy="512063"/>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sentinel-2-l2a over your area of interest, your date window, cloud under 20.</a:t>
            </a:r>
          </a:p>
        </p:txBody>
      </p:sp>
      <p:sp>
        <p:nvSpPr>
          <p:cNvPr id="10" name="TextBox 9"/>
          <p:cNvSpPr txBox="1"/>
          <p:nvPr/>
        </p:nvSpPr>
        <p:spPr>
          <a:xfrm>
            <a:off x="9357055" y="1837943"/>
            <a:ext cx="2011680" cy="365760"/>
          </a:xfrm>
          <a:prstGeom prst="rect">
            <a:avLst/>
          </a:prstGeom>
          <a:noFill/>
        </p:spPr>
        <p:txBody>
          <a:bodyPr wrap="square" lIns="0" rIns="0" tIns="0" bIns="0">
            <a:spAutoFit/>
          </a:bodyPr>
          <a:lstStyle/>
          <a:p>
            <a:pPr algn="r">
              <a:lnSpc>
                <a:spcPct val="100000"/>
              </a:lnSpc>
              <a:defRPr sz="1300" b="1" i="0">
                <a:solidFill>
                  <a:srgbClr val="C0844A"/>
                </a:solidFill>
                <a:latin typeface="Segoe UI"/>
              </a:defRPr>
            </a:pPr>
            <a:r>
              <a:t>8 min</a:t>
            </a:r>
          </a:p>
        </p:txBody>
      </p:sp>
      <p:sp>
        <p:nvSpPr>
          <p:cNvPr id="11" name="Oval 10"/>
          <p:cNvSpPr/>
          <p:nvPr/>
        </p:nvSpPr>
        <p:spPr>
          <a:xfrm>
            <a:off x="822960" y="2697480"/>
            <a:ext cx="402336" cy="402336"/>
          </a:xfrm>
          <a:prstGeom prst="ellipse">
            <a:avLst/>
          </a:prstGeom>
          <a:solidFill>
            <a:srgbClr val="C084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2</a:t>
            </a:r>
          </a:p>
        </p:txBody>
      </p:sp>
      <p:sp>
        <p:nvSpPr>
          <p:cNvPr id="12" name="TextBox 11"/>
          <p:cNvSpPr txBox="1"/>
          <p:nvPr/>
        </p:nvSpPr>
        <p:spPr>
          <a:xfrm>
            <a:off x="1426464" y="2679192"/>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Inspect one item before loading</a:t>
            </a:r>
          </a:p>
        </p:txBody>
      </p:sp>
      <p:sp>
        <p:nvSpPr>
          <p:cNvPr id="13" name="TextBox 12"/>
          <p:cNvSpPr txBox="1"/>
          <p:nvPr/>
        </p:nvSpPr>
        <p:spPr>
          <a:xfrm>
            <a:off x="1426464" y="2990088"/>
            <a:ext cx="7863840" cy="512063"/>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Read the projection, the platform and the asset list. Every number you publish traces back here.</a:t>
            </a:r>
          </a:p>
        </p:txBody>
      </p:sp>
      <p:sp>
        <p:nvSpPr>
          <p:cNvPr id="14" name="TextBox 13"/>
          <p:cNvSpPr txBox="1"/>
          <p:nvPr/>
        </p:nvSpPr>
        <p:spPr>
          <a:xfrm>
            <a:off x="9357055" y="2715768"/>
            <a:ext cx="2011680" cy="365760"/>
          </a:xfrm>
          <a:prstGeom prst="rect">
            <a:avLst/>
          </a:prstGeom>
          <a:noFill/>
        </p:spPr>
        <p:txBody>
          <a:bodyPr wrap="square" lIns="0" rIns="0" tIns="0" bIns="0">
            <a:spAutoFit/>
          </a:bodyPr>
          <a:lstStyle/>
          <a:p>
            <a:pPr algn="r">
              <a:lnSpc>
                <a:spcPct val="100000"/>
              </a:lnSpc>
              <a:defRPr sz="1300" b="1" i="0">
                <a:solidFill>
                  <a:srgbClr val="C0844A"/>
                </a:solidFill>
                <a:latin typeface="Segoe UI"/>
              </a:defRPr>
            </a:pPr>
            <a:r>
              <a:t>4 min</a:t>
            </a:r>
          </a:p>
        </p:txBody>
      </p:sp>
      <p:sp>
        <p:nvSpPr>
          <p:cNvPr id="15" name="Oval 14"/>
          <p:cNvSpPr/>
          <p:nvPr/>
        </p:nvSpPr>
        <p:spPr>
          <a:xfrm>
            <a:off x="822960" y="3575304"/>
            <a:ext cx="402336" cy="402336"/>
          </a:xfrm>
          <a:prstGeom prst="ellipse">
            <a:avLst/>
          </a:prstGeom>
          <a:solidFill>
            <a:srgbClr val="C084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3</a:t>
            </a:r>
          </a:p>
        </p:txBody>
      </p:sp>
      <p:sp>
        <p:nvSpPr>
          <p:cNvPr id="16" name="TextBox 15"/>
          <p:cNvSpPr txBox="1"/>
          <p:nvPr/>
        </p:nvSpPr>
        <p:spPr>
          <a:xfrm>
            <a:off x="1426464" y="3557016"/>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Windowed load with odc.stac</a:t>
            </a:r>
          </a:p>
        </p:txBody>
      </p:sp>
      <p:sp>
        <p:nvSpPr>
          <p:cNvPr id="17" name="TextBox 16"/>
          <p:cNvSpPr txBox="1"/>
          <p:nvPr/>
        </p:nvSpPr>
        <p:spPr>
          <a:xfrm>
            <a:off x="1426464" y="3867912"/>
            <a:ext cx="7863840" cy="512063"/>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bands, bbox, resolution 20, chunks empty, groupby solar_day. No crs argument.</a:t>
            </a:r>
          </a:p>
        </p:txBody>
      </p:sp>
      <p:sp>
        <p:nvSpPr>
          <p:cNvPr id="18" name="TextBox 17"/>
          <p:cNvSpPr txBox="1"/>
          <p:nvPr/>
        </p:nvSpPr>
        <p:spPr>
          <a:xfrm>
            <a:off x="9357055" y="3593592"/>
            <a:ext cx="2011680" cy="365760"/>
          </a:xfrm>
          <a:prstGeom prst="rect">
            <a:avLst/>
          </a:prstGeom>
          <a:noFill/>
        </p:spPr>
        <p:txBody>
          <a:bodyPr wrap="square" lIns="0" rIns="0" tIns="0" bIns="0">
            <a:spAutoFit/>
          </a:bodyPr>
          <a:lstStyle/>
          <a:p>
            <a:pPr algn="r">
              <a:lnSpc>
                <a:spcPct val="100000"/>
              </a:lnSpc>
              <a:defRPr sz="1300" b="1" i="0">
                <a:solidFill>
                  <a:srgbClr val="C0844A"/>
                </a:solidFill>
                <a:latin typeface="Segoe UI"/>
              </a:defRPr>
            </a:pPr>
            <a:r>
              <a:t>8 min</a:t>
            </a:r>
          </a:p>
        </p:txBody>
      </p:sp>
      <p:sp>
        <p:nvSpPr>
          <p:cNvPr id="19" name="Oval 18"/>
          <p:cNvSpPr/>
          <p:nvPr/>
        </p:nvSpPr>
        <p:spPr>
          <a:xfrm>
            <a:off x="822960" y="4453128"/>
            <a:ext cx="402336" cy="402336"/>
          </a:xfrm>
          <a:prstGeom prst="ellipse">
            <a:avLst/>
          </a:prstGeom>
          <a:solidFill>
            <a:srgbClr val="C084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4</a:t>
            </a:r>
          </a:p>
        </p:txBody>
      </p:sp>
      <p:sp>
        <p:nvSpPr>
          <p:cNvPr id="20" name="TextBox 19"/>
          <p:cNvSpPr txBox="1"/>
          <p:nvPr/>
        </p:nvSpPr>
        <p:spPr>
          <a:xfrm>
            <a:off x="1426464" y="4434840"/>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Write the scene catalogue</a:t>
            </a:r>
          </a:p>
        </p:txBody>
      </p:sp>
      <p:sp>
        <p:nvSpPr>
          <p:cNvPr id="21" name="TextBox 20"/>
          <p:cNvSpPr txBox="1"/>
          <p:nvPr/>
        </p:nvSpPr>
        <p:spPr>
          <a:xfrm>
            <a:off x="1426464" y="4745736"/>
            <a:ext cx="7863840" cy="512063"/>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One row per scene, hrefs unsigned, tagged with pipeline_run_id, appended not overwritten.</a:t>
            </a:r>
          </a:p>
        </p:txBody>
      </p:sp>
      <p:sp>
        <p:nvSpPr>
          <p:cNvPr id="22" name="TextBox 21"/>
          <p:cNvSpPr txBox="1"/>
          <p:nvPr/>
        </p:nvSpPr>
        <p:spPr>
          <a:xfrm>
            <a:off x="9357055" y="4471416"/>
            <a:ext cx="2011680" cy="365760"/>
          </a:xfrm>
          <a:prstGeom prst="rect">
            <a:avLst/>
          </a:prstGeom>
          <a:noFill/>
        </p:spPr>
        <p:txBody>
          <a:bodyPr wrap="square" lIns="0" rIns="0" tIns="0" bIns="0">
            <a:spAutoFit/>
          </a:bodyPr>
          <a:lstStyle/>
          <a:p>
            <a:pPr algn="r">
              <a:lnSpc>
                <a:spcPct val="100000"/>
              </a:lnSpc>
              <a:defRPr sz="1300" b="1" i="0">
                <a:solidFill>
                  <a:srgbClr val="C0844A"/>
                </a:solidFill>
                <a:latin typeface="Segoe UI"/>
              </a:defRPr>
            </a:pPr>
            <a:r>
              <a:t>6 min</a:t>
            </a:r>
          </a:p>
        </p:txBody>
      </p:sp>
      <p:sp>
        <p:nvSpPr>
          <p:cNvPr id="23" name="Oval 22"/>
          <p:cNvSpPr/>
          <p:nvPr/>
        </p:nvSpPr>
        <p:spPr>
          <a:xfrm>
            <a:off x="822960" y="5330952"/>
            <a:ext cx="402336" cy="402336"/>
          </a:xfrm>
          <a:prstGeom prst="ellipse">
            <a:avLst/>
          </a:prstGeom>
          <a:solidFill>
            <a:srgbClr val="C084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5</a:t>
            </a:r>
          </a:p>
        </p:txBody>
      </p:sp>
      <p:sp>
        <p:nvSpPr>
          <p:cNvPr id="24" name="TextBox 23"/>
          <p:cNvSpPr txBox="1"/>
          <p:nvPr/>
        </p:nvSpPr>
        <p:spPr>
          <a:xfrm>
            <a:off x="1426464" y="5312664"/>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Persist the raw window</a:t>
            </a:r>
          </a:p>
        </p:txBody>
      </p:sp>
      <p:sp>
        <p:nvSpPr>
          <p:cNvPr id="25" name="TextBox 24"/>
          <p:cNvSpPr txBox="1"/>
          <p:nvPr/>
        </p:nvSpPr>
        <p:spPr>
          <a:xfrm>
            <a:off x="1426464" y="5623560"/>
            <a:ext cx="7863840" cy="512063"/>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COGs to Files/bronze/scenes/, then the session cache so notebook 02 does not re-download.</a:t>
            </a:r>
          </a:p>
        </p:txBody>
      </p:sp>
      <p:sp>
        <p:nvSpPr>
          <p:cNvPr id="26" name="TextBox 25"/>
          <p:cNvSpPr txBox="1"/>
          <p:nvPr/>
        </p:nvSpPr>
        <p:spPr>
          <a:xfrm>
            <a:off x="9357055" y="5349240"/>
            <a:ext cx="2011680" cy="365760"/>
          </a:xfrm>
          <a:prstGeom prst="rect">
            <a:avLst/>
          </a:prstGeom>
          <a:noFill/>
        </p:spPr>
        <p:txBody>
          <a:bodyPr wrap="square" lIns="0" rIns="0" tIns="0" bIns="0">
            <a:spAutoFit/>
          </a:bodyPr>
          <a:lstStyle/>
          <a:p>
            <a:pPr algn="r">
              <a:lnSpc>
                <a:spcPct val="100000"/>
              </a:lnSpc>
              <a:defRPr sz="1300" b="1" i="0">
                <a:solidFill>
                  <a:srgbClr val="C0844A"/>
                </a:solidFill>
                <a:latin typeface="Segoe UI"/>
              </a:defRPr>
            </a:pPr>
            <a:r>
              <a:t>4 min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1F1B"/>
        </a:solidFill>
        <a:effectLst/>
      </p:bgPr>
    </p:bg>
    <p:spTree>
      <p:nvGrpSpPr>
        <p:cNvPr id="1" name=""/>
        <p:cNvGrpSpPr/>
        <p:nvPr/>
      </p:nvGrpSpPr>
      <p:grpSpPr/>
      <p:pic>
        <p:nvPicPr>
          <p:cNvPr id="2" name="Picture 1" descr="filter_b6c2c9.png"/>
          <p:cNvPicPr>
            <a:picLocks noChangeAspect="1"/>
          </p:cNvPicPr>
          <p:nvPr/>
        </p:nvPicPr>
        <p:blipFill>
          <a:blip r:embed="rId2"/>
          <a:stretch>
            <a:fillRect/>
          </a:stretch>
        </p:blipFill>
        <p:spPr>
          <a:xfrm>
            <a:off x="822960" y="2148840"/>
            <a:ext cx="777240" cy="777240"/>
          </a:xfrm>
          <a:prstGeom prst="rect">
            <a:avLst/>
          </a:prstGeom>
        </p:spPr>
      </p:pic>
      <p:sp>
        <p:nvSpPr>
          <p:cNvPr id="3" name="Rectangle 2"/>
          <p:cNvSpPr/>
          <p:nvPr/>
        </p:nvSpPr>
        <p:spPr>
          <a:xfrm>
            <a:off x="822960" y="3154680"/>
            <a:ext cx="1280160" cy="68580"/>
          </a:xfrm>
          <a:prstGeom prst="rect">
            <a:avLst/>
          </a:prstGeom>
          <a:solidFill>
            <a:srgbClr val="B6C2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2743200" cy="365760"/>
          </a:xfrm>
          <a:prstGeom prst="rect">
            <a:avLst/>
          </a:prstGeom>
          <a:noFill/>
        </p:spPr>
        <p:txBody>
          <a:bodyPr wrap="square" lIns="0" rIns="0" tIns="0" bIns="0">
            <a:spAutoFit/>
          </a:bodyPr>
          <a:lstStyle/>
          <a:p>
            <a:pPr algn="l">
              <a:lnSpc>
                <a:spcPct val="100000"/>
              </a:lnSpc>
              <a:defRPr sz="1100" b="1" i="0">
                <a:solidFill>
                  <a:srgbClr val="647C74"/>
                </a:solidFill>
                <a:latin typeface="Segoe UI"/>
              </a:defRPr>
            </a:pPr>
            <a:r>
              <a:t>BLOCK 2</a:t>
            </a:r>
          </a:p>
        </p:txBody>
      </p:sp>
      <p:sp>
        <p:nvSpPr>
          <p:cNvPr id="5" name="TextBox 4"/>
          <p:cNvSpPr txBox="1"/>
          <p:nvPr/>
        </p:nvSpPr>
        <p:spPr>
          <a:xfrm>
            <a:off x="822960" y="3401568"/>
            <a:ext cx="9601200" cy="914400"/>
          </a:xfrm>
          <a:prstGeom prst="rect">
            <a:avLst/>
          </a:prstGeom>
          <a:noFill/>
        </p:spPr>
        <p:txBody>
          <a:bodyPr wrap="square" lIns="0" rIns="0" tIns="0" bIns="0">
            <a:spAutoFit/>
          </a:bodyPr>
          <a:lstStyle/>
          <a:p>
            <a:pPr algn="l">
              <a:lnSpc>
                <a:spcPct val="100000"/>
              </a:lnSpc>
              <a:defRPr sz="3400" b="1" i="0">
                <a:solidFill>
                  <a:srgbClr val="F1F5F3"/>
                </a:solidFill>
                <a:latin typeface="Segoe UI"/>
              </a:defRPr>
            </a:pPr>
            <a:r>
              <a:t>Analyse it</a:t>
            </a:r>
          </a:p>
        </p:txBody>
      </p:sp>
      <p:sp>
        <p:nvSpPr>
          <p:cNvPr id="6" name="TextBox 5"/>
          <p:cNvSpPr txBox="1"/>
          <p:nvPr/>
        </p:nvSpPr>
        <p:spPr>
          <a:xfrm>
            <a:off x="822960" y="4434840"/>
            <a:ext cx="9601200" cy="822960"/>
          </a:xfrm>
          <a:prstGeom prst="rect">
            <a:avLst/>
          </a:prstGeom>
          <a:noFill/>
        </p:spPr>
        <p:txBody>
          <a:bodyPr wrap="square" lIns="0" rIns="0" tIns="0" bIns="0">
            <a:spAutoFit/>
          </a:bodyPr>
          <a:lstStyle/>
          <a:p>
            <a:pPr algn="l">
              <a:lnSpc>
                <a:spcPct val="125000"/>
              </a:lnSpc>
              <a:defRPr sz="1500" b="0" i="0">
                <a:solidFill>
                  <a:srgbClr val="9CAFA8"/>
                </a:solidFill>
                <a:latin typeface="Segoe UI"/>
              </a:defRPr>
            </a:pPr>
            <a:r>
              <a:t>Cloud masking, spectral indices, reprojection, and Copilot writing most of the code</a:t>
            </a:r>
          </a:p>
        </p:txBody>
      </p:sp>
      <p:sp>
        <p:nvSpPr>
          <p:cNvPr id="7" name="TextBox 6"/>
          <p:cNvSpPr txBox="1"/>
          <p:nvPr/>
        </p:nvSpPr>
        <p:spPr>
          <a:xfrm>
            <a:off x="8625535" y="1691640"/>
            <a:ext cx="2743200" cy="365760"/>
          </a:xfrm>
          <a:prstGeom prst="rect">
            <a:avLst/>
          </a:prstGeom>
          <a:noFill/>
        </p:spPr>
        <p:txBody>
          <a:bodyPr wrap="square" lIns="0" rIns="0" tIns="0" bIns="0">
            <a:spAutoFit/>
          </a:bodyPr>
          <a:lstStyle/>
          <a:p>
            <a:pPr algn="r">
              <a:lnSpc>
                <a:spcPct val="100000"/>
              </a:lnSpc>
              <a:defRPr sz="1200" b="1" i="0">
                <a:solidFill>
                  <a:srgbClr val="B6C2C9"/>
                </a:solidFill>
                <a:latin typeface="Segoe UI"/>
              </a:defRPr>
            </a:pPr>
            <a:r>
              <a:t>50 min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B6C2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2</a:t>
            </a:r>
          </a:p>
        </p:txBody>
      </p:sp>
      <p:pic>
        <p:nvPicPr>
          <p:cNvPr id="4" name="Picture 3" descr="filter_b6c2c9.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13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The SCL classes, and which ones to drop</a:t>
            </a:r>
          </a:p>
        </p:txBody>
      </p:sp>
      <p:sp>
        <p:nvSpPr>
          <p:cNvPr id="7" name="TextBox 6"/>
          <p:cNvSpPr txBox="1"/>
          <p:nvPr/>
        </p:nvSpPr>
        <p:spPr>
          <a:xfrm>
            <a:off x="822960" y="1828800"/>
            <a:ext cx="701708" cy="310896"/>
          </a:xfrm>
          <a:prstGeom prst="rect">
            <a:avLst/>
          </a:prstGeom>
          <a:noFill/>
        </p:spPr>
        <p:txBody>
          <a:bodyPr wrap="square" lIns="0" rIns="0" tIns="0" bIns="0">
            <a:spAutoFit/>
          </a:bodyPr>
          <a:lstStyle/>
          <a:p>
            <a:pPr algn="l">
              <a:lnSpc>
                <a:spcPct val="100000"/>
              </a:lnSpc>
              <a:defRPr sz="1050" b="1" i="0">
                <a:solidFill>
                  <a:srgbClr val="B6C2C9"/>
                </a:solidFill>
                <a:latin typeface="Segoe UI"/>
              </a:defRPr>
            </a:pPr>
            <a:r>
              <a:t>VALUE</a:t>
            </a:r>
          </a:p>
        </p:txBody>
      </p:sp>
      <p:sp>
        <p:nvSpPr>
          <p:cNvPr id="8" name="TextBox 7"/>
          <p:cNvSpPr txBox="1"/>
          <p:nvPr/>
        </p:nvSpPr>
        <p:spPr>
          <a:xfrm>
            <a:off x="1661828" y="1828800"/>
            <a:ext cx="2978637" cy="310896"/>
          </a:xfrm>
          <a:prstGeom prst="rect">
            <a:avLst/>
          </a:prstGeom>
          <a:noFill/>
        </p:spPr>
        <p:txBody>
          <a:bodyPr wrap="square" lIns="0" rIns="0" tIns="0" bIns="0">
            <a:spAutoFit/>
          </a:bodyPr>
          <a:lstStyle/>
          <a:p>
            <a:pPr algn="l">
              <a:lnSpc>
                <a:spcPct val="100000"/>
              </a:lnSpc>
              <a:defRPr sz="1050" b="1" i="0">
                <a:solidFill>
                  <a:srgbClr val="B6C2C9"/>
                </a:solidFill>
                <a:latin typeface="Segoe UI"/>
              </a:defRPr>
            </a:pPr>
            <a:r>
              <a:t>CLASS</a:t>
            </a:r>
          </a:p>
        </p:txBody>
      </p:sp>
      <p:sp>
        <p:nvSpPr>
          <p:cNvPr id="9" name="TextBox 8"/>
          <p:cNvSpPr txBox="1"/>
          <p:nvPr/>
        </p:nvSpPr>
        <p:spPr>
          <a:xfrm>
            <a:off x="4777625" y="1828800"/>
            <a:ext cx="941385" cy="310896"/>
          </a:xfrm>
          <a:prstGeom prst="rect">
            <a:avLst/>
          </a:prstGeom>
          <a:noFill/>
        </p:spPr>
        <p:txBody>
          <a:bodyPr wrap="square" lIns="0" rIns="0" tIns="0" bIns="0">
            <a:spAutoFit/>
          </a:bodyPr>
          <a:lstStyle/>
          <a:p>
            <a:pPr algn="l">
              <a:lnSpc>
                <a:spcPct val="100000"/>
              </a:lnSpc>
              <a:defRPr sz="1050" b="1" i="0">
                <a:solidFill>
                  <a:srgbClr val="B6C2C9"/>
                </a:solidFill>
                <a:latin typeface="Segoe UI"/>
              </a:defRPr>
            </a:pPr>
            <a:r>
              <a:t>KEEP?</a:t>
            </a:r>
          </a:p>
        </p:txBody>
      </p:sp>
      <p:sp>
        <p:nvSpPr>
          <p:cNvPr id="10" name="TextBox 9"/>
          <p:cNvSpPr txBox="1"/>
          <p:nvPr/>
        </p:nvSpPr>
        <p:spPr>
          <a:xfrm>
            <a:off x="5856170" y="1828800"/>
            <a:ext cx="5375404" cy="310896"/>
          </a:xfrm>
          <a:prstGeom prst="rect">
            <a:avLst/>
          </a:prstGeom>
          <a:noFill/>
        </p:spPr>
        <p:txBody>
          <a:bodyPr wrap="square" lIns="0" rIns="0" tIns="0" bIns="0">
            <a:spAutoFit/>
          </a:bodyPr>
          <a:lstStyle/>
          <a:p>
            <a:pPr algn="l">
              <a:lnSpc>
                <a:spcPct val="100000"/>
              </a:lnSpc>
              <a:defRPr sz="1050" b="1" i="0">
                <a:solidFill>
                  <a:srgbClr val="B6C2C9"/>
                </a:solidFill>
                <a:latin typeface="Segoe UI"/>
              </a:defRPr>
            </a:pPr>
            <a:r>
              <a:t>WHY</a:t>
            </a:r>
          </a:p>
        </p:txBody>
      </p:sp>
      <p:sp>
        <p:nvSpPr>
          <p:cNvPr id="11" name="Rectangle 10"/>
          <p:cNvSpPr/>
          <p:nvPr/>
        </p:nvSpPr>
        <p:spPr>
          <a:xfrm>
            <a:off x="822960" y="2157984"/>
            <a:ext cx="10545775" cy="18288"/>
          </a:xfrm>
          <a:prstGeom prst="rect">
            <a:avLst/>
          </a:prstGeom>
          <a:solidFill>
            <a:srgbClr val="1F3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3232" y="2167128"/>
            <a:ext cx="10765231" cy="509016"/>
          </a:xfrm>
          <a:prstGeom prst="rect">
            <a:avLst/>
          </a:prstGeom>
          <a:solidFill>
            <a:srgbClr val="1526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258568"/>
            <a:ext cx="701708" cy="454152"/>
          </a:xfrm>
          <a:prstGeom prst="rect">
            <a:avLst/>
          </a:prstGeom>
          <a:noFill/>
        </p:spPr>
        <p:txBody>
          <a:bodyPr wrap="square" lIns="0" rIns="0" tIns="0" bIns="0">
            <a:spAutoFit/>
          </a:bodyPr>
          <a:lstStyle/>
          <a:p>
            <a:pPr algn="l">
              <a:lnSpc>
                <a:spcPct val="100000"/>
              </a:lnSpc>
              <a:defRPr sz="1250" b="1" i="0">
                <a:solidFill>
                  <a:srgbClr val="F1F5F3"/>
                </a:solidFill>
                <a:latin typeface="Segoe UI"/>
              </a:defRPr>
            </a:pPr>
            <a:r>
              <a:t>3</a:t>
            </a:r>
          </a:p>
        </p:txBody>
      </p:sp>
      <p:sp>
        <p:nvSpPr>
          <p:cNvPr id="14" name="TextBox 13"/>
          <p:cNvSpPr txBox="1"/>
          <p:nvPr/>
        </p:nvSpPr>
        <p:spPr>
          <a:xfrm>
            <a:off x="1661828" y="2258568"/>
            <a:ext cx="2978637" cy="454152"/>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Cloud shadow</a:t>
            </a:r>
          </a:p>
        </p:txBody>
      </p:sp>
      <p:sp>
        <p:nvSpPr>
          <p:cNvPr id="15" name="TextBox 14"/>
          <p:cNvSpPr txBox="1"/>
          <p:nvPr/>
        </p:nvSpPr>
        <p:spPr>
          <a:xfrm>
            <a:off x="4777625" y="2258568"/>
            <a:ext cx="941385" cy="454152"/>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Drop</a:t>
            </a:r>
          </a:p>
        </p:txBody>
      </p:sp>
      <p:sp>
        <p:nvSpPr>
          <p:cNvPr id="16" name="TextBox 15"/>
          <p:cNvSpPr txBox="1"/>
          <p:nvPr/>
        </p:nvSpPr>
        <p:spPr>
          <a:xfrm>
            <a:off x="5856170" y="2258568"/>
            <a:ext cx="5375404" cy="454152"/>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Depresses every band. Reads as dense wet canopy</a:t>
            </a:r>
          </a:p>
        </p:txBody>
      </p:sp>
      <p:sp>
        <p:nvSpPr>
          <p:cNvPr id="17" name="TextBox 16"/>
          <p:cNvSpPr txBox="1"/>
          <p:nvPr/>
        </p:nvSpPr>
        <p:spPr>
          <a:xfrm>
            <a:off x="822960" y="2804160"/>
            <a:ext cx="701708" cy="454152"/>
          </a:xfrm>
          <a:prstGeom prst="rect">
            <a:avLst/>
          </a:prstGeom>
          <a:noFill/>
        </p:spPr>
        <p:txBody>
          <a:bodyPr wrap="square" lIns="0" rIns="0" tIns="0" bIns="0">
            <a:spAutoFit/>
          </a:bodyPr>
          <a:lstStyle/>
          <a:p>
            <a:pPr algn="l">
              <a:lnSpc>
                <a:spcPct val="100000"/>
              </a:lnSpc>
              <a:defRPr sz="1250" b="1" i="0">
                <a:solidFill>
                  <a:srgbClr val="F1F5F3"/>
                </a:solidFill>
                <a:latin typeface="Segoe UI"/>
              </a:defRPr>
            </a:pPr>
            <a:r>
              <a:t>8</a:t>
            </a:r>
          </a:p>
        </p:txBody>
      </p:sp>
      <p:sp>
        <p:nvSpPr>
          <p:cNvPr id="18" name="TextBox 17"/>
          <p:cNvSpPr txBox="1"/>
          <p:nvPr/>
        </p:nvSpPr>
        <p:spPr>
          <a:xfrm>
            <a:off x="1661828" y="2804160"/>
            <a:ext cx="2978637" cy="454152"/>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Cloud medium probability</a:t>
            </a:r>
          </a:p>
        </p:txBody>
      </p:sp>
      <p:sp>
        <p:nvSpPr>
          <p:cNvPr id="19" name="TextBox 18"/>
          <p:cNvSpPr txBox="1"/>
          <p:nvPr/>
        </p:nvSpPr>
        <p:spPr>
          <a:xfrm>
            <a:off x="4777625" y="2804160"/>
            <a:ext cx="941385" cy="454152"/>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Drop</a:t>
            </a:r>
          </a:p>
        </p:txBody>
      </p:sp>
      <p:sp>
        <p:nvSpPr>
          <p:cNvPr id="20" name="TextBox 19"/>
          <p:cNvSpPr txBox="1"/>
          <p:nvPr/>
        </p:nvSpPr>
        <p:spPr>
          <a:xfrm>
            <a:off x="5856170" y="2804160"/>
            <a:ext cx="5375404" cy="454152"/>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Partial obscuration, unpredictable direction</a:t>
            </a:r>
          </a:p>
        </p:txBody>
      </p:sp>
      <p:sp>
        <p:nvSpPr>
          <p:cNvPr id="21" name="Rectangle 20"/>
          <p:cNvSpPr/>
          <p:nvPr/>
        </p:nvSpPr>
        <p:spPr>
          <a:xfrm>
            <a:off x="713232" y="3258312"/>
            <a:ext cx="10765231" cy="509016"/>
          </a:xfrm>
          <a:prstGeom prst="rect">
            <a:avLst/>
          </a:prstGeom>
          <a:solidFill>
            <a:srgbClr val="1526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349752"/>
            <a:ext cx="701708" cy="454152"/>
          </a:xfrm>
          <a:prstGeom prst="rect">
            <a:avLst/>
          </a:prstGeom>
          <a:noFill/>
        </p:spPr>
        <p:txBody>
          <a:bodyPr wrap="square" lIns="0" rIns="0" tIns="0" bIns="0">
            <a:spAutoFit/>
          </a:bodyPr>
          <a:lstStyle/>
          <a:p>
            <a:pPr algn="l">
              <a:lnSpc>
                <a:spcPct val="100000"/>
              </a:lnSpc>
              <a:defRPr sz="1250" b="1" i="0">
                <a:solidFill>
                  <a:srgbClr val="F1F5F3"/>
                </a:solidFill>
                <a:latin typeface="Segoe UI"/>
              </a:defRPr>
            </a:pPr>
            <a:r>
              <a:t>9</a:t>
            </a:r>
          </a:p>
        </p:txBody>
      </p:sp>
      <p:sp>
        <p:nvSpPr>
          <p:cNvPr id="23" name="TextBox 22"/>
          <p:cNvSpPr txBox="1"/>
          <p:nvPr/>
        </p:nvSpPr>
        <p:spPr>
          <a:xfrm>
            <a:off x="1661828" y="3349752"/>
            <a:ext cx="2978637" cy="454152"/>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Cloud high probability</a:t>
            </a:r>
          </a:p>
        </p:txBody>
      </p:sp>
      <p:sp>
        <p:nvSpPr>
          <p:cNvPr id="24" name="TextBox 23"/>
          <p:cNvSpPr txBox="1"/>
          <p:nvPr/>
        </p:nvSpPr>
        <p:spPr>
          <a:xfrm>
            <a:off x="4777625" y="3349752"/>
            <a:ext cx="941385" cy="454152"/>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Drop</a:t>
            </a:r>
          </a:p>
        </p:txBody>
      </p:sp>
      <p:sp>
        <p:nvSpPr>
          <p:cNvPr id="25" name="TextBox 24"/>
          <p:cNvSpPr txBox="1"/>
          <p:nvPr/>
        </p:nvSpPr>
        <p:spPr>
          <a:xfrm>
            <a:off x="5856170" y="3349752"/>
            <a:ext cx="5375404" cy="454152"/>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Opaque. Nothing below it is measurable</a:t>
            </a:r>
          </a:p>
        </p:txBody>
      </p:sp>
      <p:sp>
        <p:nvSpPr>
          <p:cNvPr id="26" name="TextBox 25"/>
          <p:cNvSpPr txBox="1"/>
          <p:nvPr/>
        </p:nvSpPr>
        <p:spPr>
          <a:xfrm>
            <a:off x="822960" y="3895344"/>
            <a:ext cx="701708" cy="454152"/>
          </a:xfrm>
          <a:prstGeom prst="rect">
            <a:avLst/>
          </a:prstGeom>
          <a:noFill/>
        </p:spPr>
        <p:txBody>
          <a:bodyPr wrap="square" lIns="0" rIns="0" tIns="0" bIns="0">
            <a:spAutoFit/>
          </a:bodyPr>
          <a:lstStyle/>
          <a:p>
            <a:pPr algn="l">
              <a:lnSpc>
                <a:spcPct val="100000"/>
              </a:lnSpc>
              <a:defRPr sz="1250" b="1" i="0">
                <a:solidFill>
                  <a:srgbClr val="F1F5F3"/>
                </a:solidFill>
                <a:latin typeface="Segoe UI"/>
              </a:defRPr>
            </a:pPr>
            <a:r>
              <a:t>10</a:t>
            </a:r>
          </a:p>
        </p:txBody>
      </p:sp>
      <p:sp>
        <p:nvSpPr>
          <p:cNvPr id="27" name="TextBox 26"/>
          <p:cNvSpPr txBox="1"/>
          <p:nvPr/>
        </p:nvSpPr>
        <p:spPr>
          <a:xfrm>
            <a:off x="1661828" y="3895344"/>
            <a:ext cx="2978637" cy="454152"/>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Thin cirrus</a:t>
            </a:r>
          </a:p>
        </p:txBody>
      </p:sp>
      <p:sp>
        <p:nvSpPr>
          <p:cNvPr id="28" name="TextBox 27"/>
          <p:cNvSpPr txBox="1"/>
          <p:nvPr/>
        </p:nvSpPr>
        <p:spPr>
          <a:xfrm>
            <a:off x="4777625" y="3895344"/>
            <a:ext cx="941385" cy="454152"/>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Drop</a:t>
            </a:r>
          </a:p>
        </p:txBody>
      </p:sp>
      <p:sp>
        <p:nvSpPr>
          <p:cNvPr id="29" name="TextBox 28"/>
          <p:cNvSpPr txBox="1"/>
          <p:nvPr/>
        </p:nvSpPr>
        <p:spPr>
          <a:xfrm>
            <a:off x="5856170" y="3895344"/>
            <a:ext cx="5375404" cy="454152"/>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The dangerous one. Looks clear, depresses NDMI</a:t>
            </a:r>
          </a:p>
        </p:txBody>
      </p:sp>
      <p:sp>
        <p:nvSpPr>
          <p:cNvPr id="30" name="Rectangle 29"/>
          <p:cNvSpPr/>
          <p:nvPr/>
        </p:nvSpPr>
        <p:spPr>
          <a:xfrm>
            <a:off x="713232" y="4349496"/>
            <a:ext cx="10765231" cy="509016"/>
          </a:xfrm>
          <a:prstGeom prst="rect">
            <a:avLst/>
          </a:prstGeom>
          <a:solidFill>
            <a:srgbClr val="1526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4440936"/>
            <a:ext cx="701708" cy="454152"/>
          </a:xfrm>
          <a:prstGeom prst="rect">
            <a:avLst/>
          </a:prstGeom>
          <a:noFill/>
        </p:spPr>
        <p:txBody>
          <a:bodyPr wrap="square" lIns="0" rIns="0" tIns="0" bIns="0">
            <a:spAutoFit/>
          </a:bodyPr>
          <a:lstStyle/>
          <a:p>
            <a:pPr algn="l">
              <a:lnSpc>
                <a:spcPct val="100000"/>
              </a:lnSpc>
              <a:defRPr sz="1250" b="1" i="0">
                <a:solidFill>
                  <a:srgbClr val="F1F5F3"/>
                </a:solidFill>
                <a:latin typeface="Segoe UI"/>
              </a:defRPr>
            </a:pPr>
            <a:r>
              <a:t>11</a:t>
            </a:r>
          </a:p>
        </p:txBody>
      </p:sp>
      <p:sp>
        <p:nvSpPr>
          <p:cNvPr id="32" name="TextBox 31"/>
          <p:cNvSpPr txBox="1"/>
          <p:nvPr/>
        </p:nvSpPr>
        <p:spPr>
          <a:xfrm>
            <a:off x="1661828" y="4440936"/>
            <a:ext cx="2978637" cy="454152"/>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Snow or ice</a:t>
            </a:r>
          </a:p>
        </p:txBody>
      </p:sp>
      <p:sp>
        <p:nvSpPr>
          <p:cNvPr id="33" name="TextBox 32"/>
          <p:cNvSpPr txBox="1"/>
          <p:nvPr/>
        </p:nvSpPr>
        <p:spPr>
          <a:xfrm>
            <a:off x="4777625" y="4440936"/>
            <a:ext cx="941385" cy="454152"/>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Drop</a:t>
            </a:r>
          </a:p>
        </p:txBody>
      </p:sp>
      <p:sp>
        <p:nvSpPr>
          <p:cNvPr id="34" name="TextBox 33"/>
          <p:cNvSpPr txBox="1"/>
          <p:nvPr/>
        </p:nvSpPr>
        <p:spPr>
          <a:xfrm>
            <a:off x="5856170" y="4440936"/>
            <a:ext cx="5375404" cy="454152"/>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High reflectance across the board, inverts indices</a:t>
            </a:r>
          </a:p>
        </p:txBody>
      </p:sp>
      <p:sp>
        <p:nvSpPr>
          <p:cNvPr id="35" name="TextBox 34"/>
          <p:cNvSpPr txBox="1"/>
          <p:nvPr/>
        </p:nvSpPr>
        <p:spPr>
          <a:xfrm>
            <a:off x="822960" y="4986528"/>
            <a:ext cx="701708" cy="454152"/>
          </a:xfrm>
          <a:prstGeom prst="rect">
            <a:avLst/>
          </a:prstGeom>
          <a:noFill/>
        </p:spPr>
        <p:txBody>
          <a:bodyPr wrap="square" lIns="0" rIns="0" tIns="0" bIns="0">
            <a:spAutoFit/>
          </a:bodyPr>
          <a:lstStyle/>
          <a:p>
            <a:pPr algn="l">
              <a:lnSpc>
                <a:spcPct val="100000"/>
              </a:lnSpc>
              <a:defRPr sz="1250" b="1" i="0">
                <a:solidFill>
                  <a:srgbClr val="F1F5F3"/>
                </a:solidFill>
                <a:latin typeface="Segoe UI"/>
              </a:defRPr>
            </a:pPr>
            <a:r>
              <a:t>4, 5</a:t>
            </a:r>
          </a:p>
        </p:txBody>
      </p:sp>
      <p:sp>
        <p:nvSpPr>
          <p:cNvPr id="36" name="TextBox 35"/>
          <p:cNvSpPr txBox="1"/>
          <p:nvPr/>
        </p:nvSpPr>
        <p:spPr>
          <a:xfrm>
            <a:off x="1661828" y="4986528"/>
            <a:ext cx="2978637" cy="454152"/>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Vegetation, bare soil</a:t>
            </a:r>
          </a:p>
        </p:txBody>
      </p:sp>
      <p:sp>
        <p:nvSpPr>
          <p:cNvPr id="37" name="TextBox 36"/>
          <p:cNvSpPr txBox="1"/>
          <p:nvPr/>
        </p:nvSpPr>
        <p:spPr>
          <a:xfrm>
            <a:off x="4777625" y="4986528"/>
            <a:ext cx="941385" cy="454152"/>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Keep</a:t>
            </a:r>
          </a:p>
        </p:txBody>
      </p:sp>
      <p:sp>
        <p:nvSpPr>
          <p:cNvPr id="38" name="TextBox 37"/>
          <p:cNvSpPr txBox="1"/>
          <p:nvPr/>
        </p:nvSpPr>
        <p:spPr>
          <a:xfrm>
            <a:off x="5856170" y="4986528"/>
            <a:ext cx="5375404" cy="454152"/>
          </a:xfrm>
          <a:prstGeom prst="rect">
            <a:avLst/>
          </a:prstGeom>
          <a:noFill/>
        </p:spPr>
        <p:txBody>
          <a:bodyPr wrap="square" lIns="0" rIns="0" tIns="0" bIns="0">
            <a:spAutoFit/>
          </a:bodyPr>
          <a:lstStyle/>
          <a:p>
            <a:pPr algn="l">
              <a:lnSpc>
                <a:spcPct val="100000"/>
              </a:lnSpc>
              <a:defRPr sz="1250" b="0" i="0">
                <a:solidFill>
                  <a:srgbClr val="9CAFA8"/>
                </a:solidFill>
                <a:latin typeface="Segoe UI"/>
              </a:defRPr>
            </a:pPr>
            <a:r>
              <a:t>This is the signal you came for</a:t>
            </a:r>
          </a:p>
        </p:txBody>
      </p:sp>
      <p:sp>
        <p:nvSpPr>
          <p:cNvPr id="39" name="TextBox 38"/>
          <p:cNvSpPr txBox="1"/>
          <p:nvPr/>
        </p:nvSpPr>
        <p:spPr>
          <a:xfrm>
            <a:off x="822960" y="5897880"/>
            <a:ext cx="10332720" cy="457200"/>
          </a:xfrm>
          <a:prstGeom prst="rect">
            <a:avLst/>
          </a:prstGeom>
          <a:noFill/>
        </p:spPr>
        <p:txBody>
          <a:bodyPr wrap="square" lIns="0" rIns="0" tIns="0" bIns="0">
            <a:spAutoFit/>
          </a:bodyPr>
          <a:lstStyle/>
          <a:p>
            <a:pPr algn="l">
              <a:lnSpc>
                <a:spcPct val="100000"/>
              </a:lnSpc>
              <a:defRPr sz="1300" b="0" i="0">
                <a:solidFill>
                  <a:srgbClr val="B6C2C9"/>
                </a:solidFill>
                <a:latin typeface="Segoe UI"/>
              </a:defRPr>
            </a:pPr>
            <a:r>
              <a:t>Thin cirrus is the one to dwell on: it survives a visual check and reads downstream as drought stress.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B6C2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2</a:t>
            </a:r>
          </a:p>
        </p:txBody>
      </p:sp>
      <p:pic>
        <p:nvPicPr>
          <p:cNvPr id="4" name="Picture 3" descr="chart_b6c2c9.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14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Three indices, three questions</a:t>
            </a:r>
          </a:p>
        </p:txBody>
      </p:sp>
      <p:sp>
        <p:nvSpPr>
          <p:cNvPr id="7" name="TextBox 6"/>
          <p:cNvSpPr txBox="1"/>
          <p:nvPr/>
        </p:nvSpPr>
        <p:spPr>
          <a:xfrm>
            <a:off x="822960" y="1481328"/>
            <a:ext cx="10332720" cy="365760"/>
          </a:xfrm>
          <a:prstGeom prst="rect">
            <a:avLst/>
          </a:prstGeom>
          <a:noFill/>
        </p:spPr>
        <p:txBody>
          <a:bodyPr wrap="square" lIns="0" rIns="0" tIns="0" bIns="0">
            <a:spAutoFit/>
          </a:bodyPr>
          <a:lstStyle/>
          <a:p>
            <a:pPr algn="l">
              <a:lnSpc>
                <a:spcPct val="100000"/>
              </a:lnSpc>
              <a:defRPr sz="1350" b="0" i="0">
                <a:solidFill>
                  <a:srgbClr val="9CAFA8"/>
                </a:solidFill>
                <a:latin typeface="Segoe UI"/>
              </a:defRPr>
            </a:pPr>
            <a:r>
              <a:t>All three are normalised ratios, which is why they survive illumination differences between dates.</a:t>
            </a:r>
          </a:p>
        </p:txBody>
      </p:sp>
      <p:sp>
        <p:nvSpPr>
          <p:cNvPr id="8" name="Rounded Rectangle 7"/>
          <p:cNvSpPr/>
          <p:nvPr/>
        </p:nvSpPr>
        <p:spPr>
          <a:xfrm>
            <a:off x="822960" y="2057400"/>
            <a:ext cx="3344570"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ree_b6c2c9.png"/>
          <p:cNvPicPr>
            <a:picLocks noChangeAspect="1"/>
          </p:cNvPicPr>
          <p:nvPr/>
        </p:nvPicPr>
        <p:blipFill>
          <a:blip r:embed="rId3"/>
          <a:stretch>
            <a:fillRect/>
          </a:stretch>
        </p:blipFill>
        <p:spPr>
          <a:xfrm>
            <a:off x="1097280" y="2313432"/>
            <a:ext cx="384048" cy="384048"/>
          </a:xfrm>
          <a:prstGeom prst="rect">
            <a:avLst/>
          </a:prstGeom>
        </p:spPr>
      </p:pic>
      <p:sp>
        <p:nvSpPr>
          <p:cNvPr id="10" name="TextBox 9"/>
          <p:cNvSpPr txBox="1"/>
          <p:nvPr/>
        </p:nvSpPr>
        <p:spPr>
          <a:xfrm>
            <a:off x="1097280" y="2834640"/>
            <a:ext cx="2795930" cy="365760"/>
          </a:xfrm>
          <a:prstGeom prst="rect">
            <a:avLst/>
          </a:prstGeom>
          <a:noFill/>
        </p:spPr>
        <p:txBody>
          <a:bodyPr wrap="square" lIns="0" rIns="0" tIns="0" bIns="0">
            <a:spAutoFit/>
          </a:bodyPr>
          <a:lstStyle/>
          <a:p>
            <a:pPr algn="l">
              <a:lnSpc>
                <a:spcPct val="100000"/>
              </a:lnSpc>
              <a:defRPr sz="1500" b="1" i="0">
                <a:solidFill>
                  <a:srgbClr val="B6C2C9"/>
                </a:solidFill>
                <a:latin typeface="Segoe UI"/>
              </a:defRPr>
            </a:pPr>
            <a:r>
              <a:t>NDVI  ·  greenness</a:t>
            </a:r>
          </a:p>
        </p:txBody>
      </p:sp>
      <p:sp>
        <p:nvSpPr>
          <p:cNvPr id="11" name="TextBox 10"/>
          <p:cNvSpPr txBox="1"/>
          <p:nvPr/>
        </p:nvSpPr>
        <p:spPr>
          <a:xfrm>
            <a:off x="1097280" y="3218688"/>
            <a:ext cx="2795930" cy="685799"/>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(B08 - B04) / (B08 + B04). Vigour and canopy density. Saturates over dense conifer, so it separates forest from not-forest better than it separates forest types.</a:t>
            </a:r>
          </a:p>
        </p:txBody>
      </p:sp>
      <p:sp>
        <p:nvSpPr>
          <p:cNvPr id="12" name="Rounded Rectangle 11"/>
          <p:cNvSpPr/>
          <p:nvPr/>
        </p:nvSpPr>
        <p:spPr>
          <a:xfrm>
            <a:off x="4423562" y="2057400"/>
            <a:ext cx="3344570"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loud_b6c2c9.png"/>
          <p:cNvPicPr>
            <a:picLocks noChangeAspect="1"/>
          </p:cNvPicPr>
          <p:nvPr/>
        </p:nvPicPr>
        <p:blipFill>
          <a:blip r:embed="rId4"/>
          <a:stretch>
            <a:fillRect/>
          </a:stretch>
        </p:blipFill>
        <p:spPr>
          <a:xfrm>
            <a:off x="4697882" y="2313432"/>
            <a:ext cx="384048" cy="384048"/>
          </a:xfrm>
          <a:prstGeom prst="rect">
            <a:avLst/>
          </a:prstGeom>
        </p:spPr>
      </p:pic>
      <p:sp>
        <p:nvSpPr>
          <p:cNvPr id="14" name="TextBox 13"/>
          <p:cNvSpPr txBox="1"/>
          <p:nvPr/>
        </p:nvSpPr>
        <p:spPr>
          <a:xfrm>
            <a:off x="4697882" y="2834640"/>
            <a:ext cx="2795930" cy="365760"/>
          </a:xfrm>
          <a:prstGeom prst="rect">
            <a:avLst/>
          </a:prstGeom>
          <a:noFill/>
        </p:spPr>
        <p:txBody>
          <a:bodyPr wrap="square" lIns="0" rIns="0" tIns="0" bIns="0">
            <a:spAutoFit/>
          </a:bodyPr>
          <a:lstStyle/>
          <a:p>
            <a:pPr algn="l">
              <a:lnSpc>
                <a:spcPct val="100000"/>
              </a:lnSpc>
              <a:defRPr sz="1500" b="1" i="0">
                <a:solidFill>
                  <a:srgbClr val="B6C2C9"/>
                </a:solidFill>
                <a:latin typeface="Segoe UI"/>
              </a:defRPr>
            </a:pPr>
            <a:r>
              <a:t>NDMI  ·  moisture</a:t>
            </a:r>
          </a:p>
        </p:txBody>
      </p:sp>
      <p:sp>
        <p:nvSpPr>
          <p:cNvPr id="15" name="TextBox 14"/>
          <p:cNvSpPr txBox="1"/>
          <p:nvPr/>
        </p:nvSpPr>
        <p:spPr>
          <a:xfrm>
            <a:off x="4697882" y="3218688"/>
            <a:ext cx="2795930" cy="685799"/>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(B08 - B11) / (B08 + B11). Canopy water content. The drought stress signal, and the one thin cirrus quietly corrupts.</a:t>
            </a:r>
          </a:p>
        </p:txBody>
      </p:sp>
      <p:sp>
        <p:nvSpPr>
          <p:cNvPr id="16" name="Rounded Rectangle 15"/>
          <p:cNvSpPr/>
          <p:nvPr/>
        </p:nvSpPr>
        <p:spPr>
          <a:xfrm>
            <a:off x="8024164" y="2057400"/>
            <a:ext cx="3344570"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warning_b6c2c9.png"/>
          <p:cNvPicPr>
            <a:picLocks noChangeAspect="1"/>
          </p:cNvPicPr>
          <p:nvPr/>
        </p:nvPicPr>
        <p:blipFill>
          <a:blip r:embed="rId5"/>
          <a:stretch>
            <a:fillRect/>
          </a:stretch>
        </p:blipFill>
        <p:spPr>
          <a:xfrm>
            <a:off x="8298484" y="2313432"/>
            <a:ext cx="384048" cy="384048"/>
          </a:xfrm>
          <a:prstGeom prst="rect">
            <a:avLst/>
          </a:prstGeom>
        </p:spPr>
      </p:pic>
      <p:sp>
        <p:nvSpPr>
          <p:cNvPr id="18" name="TextBox 17"/>
          <p:cNvSpPr txBox="1"/>
          <p:nvPr/>
        </p:nvSpPr>
        <p:spPr>
          <a:xfrm>
            <a:off x="8298484" y="2834640"/>
            <a:ext cx="2795930" cy="365760"/>
          </a:xfrm>
          <a:prstGeom prst="rect">
            <a:avLst/>
          </a:prstGeom>
          <a:noFill/>
        </p:spPr>
        <p:txBody>
          <a:bodyPr wrap="square" lIns="0" rIns="0" tIns="0" bIns="0">
            <a:spAutoFit/>
          </a:bodyPr>
          <a:lstStyle/>
          <a:p>
            <a:pPr algn="l">
              <a:lnSpc>
                <a:spcPct val="100000"/>
              </a:lnSpc>
              <a:defRPr sz="1500" b="1" i="0">
                <a:solidFill>
                  <a:srgbClr val="B6C2C9"/>
                </a:solidFill>
                <a:latin typeface="Segoe UI"/>
              </a:defRPr>
            </a:pPr>
            <a:r>
              <a:t>NBR  ·  disturbance</a:t>
            </a:r>
          </a:p>
        </p:txBody>
      </p:sp>
      <p:sp>
        <p:nvSpPr>
          <p:cNvPr id="19" name="TextBox 18"/>
          <p:cNvSpPr txBox="1"/>
          <p:nvPr/>
        </p:nvSpPr>
        <p:spPr>
          <a:xfrm>
            <a:off x="8298484" y="3218688"/>
            <a:ext cx="2795930" cy="685799"/>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(B08 - B12) / (B08 + B12). Drops sharply after harvest or fire. Differenced between two dates it is the change detector.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B6C2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2</a:t>
            </a:r>
          </a:p>
        </p:txBody>
      </p:sp>
      <p:pic>
        <p:nvPicPr>
          <p:cNvPr id="4" name="Picture 3" descr="globe_b6c2c9.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15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Reprojection: once, in silver, and only once</a:t>
            </a:r>
          </a:p>
        </p:txBody>
      </p:sp>
      <p:sp>
        <p:nvSpPr>
          <p:cNvPr id="7" name="TextBox 6"/>
          <p:cNvSpPr txBox="1"/>
          <p:nvPr/>
        </p:nvSpPr>
        <p:spPr>
          <a:xfrm>
            <a:off x="822960" y="1783080"/>
            <a:ext cx="10332720" cy="3840480"/>
          </a:xfrm>
          <a:prstGeom prst="rect">
            <a:avLst/>
          </a:prstGeom>
          <a:noFill/>
        </p:spPr>
        <p:txBody>
          <a:bodyPr wrap="square" lIns="0" rIns="0">
            <a:spAutoFit/>
          </a:bodyPr>
          <a:lstStyle/>
          <a:p>
            <a:pPr>
              <a:lnSpc>
                <a:spcPct val="115000"/>
              </a:lnSpc>
              <a:spcBef>
                <a:spcPts val="0"/>
              </a:spcBef>
            </a:pPr>
            <a:r>
              <a:rPr sz="1500" b="1">
                <a:solidFill>
                  <a:srgbClr val="B6C2C9"/>
                </a:solidFill>
                <a:latin typeface="Segoe UI"/>
              </a:rPr>
              <a:t>▸  </a:t>
            </a:r>
            <a:r>
              <a:rPr sz="1500">
                <a:solidFill>
                  <a:srgbClr val="F1F5F3"/>
                </a:solidFill>
                <a:latin typeface="Segoe UI"/>
              </a:rPr>
              <a:t>Sentinel-2 arrives in UTM, and central New Brunswick straddles zone 19 and zone 20</a:t>
            </a:r>
          </a:p>
          <a:p>
            <a:pPr>
              <a:lnSpc>
                <a:spcPct val="115000"/>
              </a:lnSpc>
              <a:spcBef>
                <a:spcPts val="1600"/>
              </a:spcBef>
            </a:pPr>
            <a:r>
              <a:rPr sz="1500" b="1">
                <a:solidFill>
                  <a:srgbClr val="B6C2C9"/>
                </a:solidFill>
                <a:latin typeface="Segoe UI"/>
              </a:rPr>
              <a:t>▸  </a:t>
            </a:r>
            <a:r>
              <a:rPr sz="1500">
                <a:solidFill>
                  <a:srgbClr val="F1F5F3"/>
                </a:solidFill>
                <a:latin typeface="Segoe UI"/>
              </a:rPr>
              <a:t>A block spanning two zones gives you two different native CRSs in one search result</a:t>
            </a:r>
          </a:p>
          <a:p>
            <a:pPr>
              <a:lnSpc>
                <a:spcPct val="115000"/>
              </a:lnSpc>
              <a:spcBef>
                <a:spcPts val="1600"/>
              </a:spcBef>
            </a:pPr>
            <a:r>
              <a:rPr sz="1500" b="1">
                <a:solidFill>
                  <a:srgbClr val="B6C2C9"/>
                </a:solidFill>
                <a:latin typeface="Segoe UI"/>
              </a:rPr>
              <a:t>▸  </a:t>
            </a:r>
            <a:r>
              <a:rPr sz="1500">
                <a:solidFill>
                  <a:srgbClr val="F1F5F3"/>
                </a:solidFill>
                <a:latin typeface="Segoe UI"/>
              </a:rPr>
              <a:t>Everything downstream reprojects to EPSG:2953, NAD83(CSRS) New Brunswick Stereographic, in metres</a:t>
            </a:r>
          </a:p>
          <a:p>
            <a:pPr>
              <a:lnSpc>
                <a:spcPct val="115000"/>
              </a:lnSpc>
              <a:spcBef>
                <a:spcPts val="1600"/>
              </a:spcBef>
            </a:pPr>
            <a:r>
              <a:rPr sz="1500" b="1">
                <a:solidFill>
                  <a:srgbClr val="B6C2C9"/>
                </a:solidFill>
                <a:latin typeface="Segoe UI"/>
              </a:rPr>
              <a:t>▸  </a:t>
            </a:r>
            <a:r>
              <a:rPr sz="1500">
                <a:solidFill>
                  <a:srgbClr val="F1F5F3"/>
                </a:solidFill>
                <a:latin typeface="Segoe UI"/>
              </a:rPr>
              <a:t>Metres matter: area in degrees is meaningless, and a hectare figure computed in EPSG:4326 is wrong by a factor that varies with latitude</a:t>
            </a:r>
          </a:p>
          <a:p>
            <a:pPr>
              <a:lnSpc>
                <a:spcPct val="115000"/>
              </a:lnSpc>
              <a:spcBef>
                <a:spcPts val="1600"/>
              </a:spcBef>
            </a:pPr>
            <a:r>
              <a:rPr sz="1500" b="1">
                <a:solidFill>
                  <a:srgbClr val="B6C2C9"/>
                </a:solidFill>
                <a:latin typeface="Segoe UI"/>
              </a:rPr>
              <a:t>▸  </a:t>
            </a:r>
            <a:r>
              <a:rPr sz="1500">
                <a:solidFill>
                  <a:srgbClr val="F1F5F3"/>
                </a:solidFill>
                <a:latin typeface="Segoe UI"/>
              </a:rPr>
              <a:t>Reproject the raster once in silver rather than reprojecting geometry per query, because per-query reprojection is both slower and inconsistently applied</a:t>
            </a:r>
          </a:p>
        </p:txBody>
      </p:sp>
      <p:sp>
        <p:nvSpPr>
          <p:cNvPr id="8" name="Rounded Rectangle 7"/>
          <p:cNvSpPr/>
          <p:nvPr/>
        </p:nvSpPr>
        <p:spPr>
          <a:xfrm>
            <a:off x="822960" y="5440680"/>
            <a:ext cx="10543032" cy="77724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5641848"/>
            <a:ext cx="9966960" cy="548640"/>
          </a:xfrm>
          <a:prstGeom prst="rect">
            <a:avLst/>
          </a:prstGeom>
          <a:noFill/>
        </p:spPr>
        <p:txBody>
          <a:bodyPr wrap="square" lIns="0" rIns="0" tIns="0" bIns="0">
            <a:spAutoFit/>
          </a:bodyPr>
          <a:lstStyle/>
          <a:p>
            <a:pPr algn="l">
              <a:lnSpc>
                <a:spcPct val="120000"/>
              </a:lnSpc>
              <a:defRPr sz="1350" b="0" i="0">
                <a:solidFill>
                  <a:srgbClr val="B6C2C9"/>
                </a:solidFill>
                <a:latin typeface="Segoe UI"/>
              </a:defRPr>
            </a:pPr>
            <a:r>
              <a:t>Notebook 01 prints the native EPSG of every scene. If more than one appears, say so out loud.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B6C2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2</a:t>
            </a:r>
          </a:p>
        </p:txBody>
      </p:sp>
      <p:pic>
        <p:nvPicPr>
          <p:cNvPr id="4" name="Picture 3" descr="pipeline_b6c2c9.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16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From pixels to rows, which is where it becomes joinable</a:t>
            </a:r>
          </a:p>
        </p:txBody>
      </p:sp>
      <p:sp>
        <p:nvSpPr>
          <p:cNvPr id="7" name="Rounded Rectangle 6"/>
          <p:cNvSpPr/>
          <p:nvPr/>
        </p:nvSpPr>
        <p:spPr>
          <a:xfrm>
            <a:off x="822960" y="2148840"/>
            <a:ext cx="2348407" cy="2286000"/>
          </a:xfrm>
          <a:prstGeom prst="roundRect">
            <a:avLst>
              <a:gd name="adj" fmla="val 6000"/>
            </a:avLst>
          </a:prstGeom>
          <a:solidFill>
            <a:srgbClr val="152621"/>
          </a:solidFill>
          <a:ln w="19050">
            <a:solidFill>
              <a:srgbClr val="B6C2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atellite_b6c2c9.png"/>
          <p:cNvPicPr>
            <a:picLocks noChangeAspect="1"/>
          </p:cNvPicPr>
          <p:nvPr/>
        </p:nvPicPr>
        <p:blipFill>
          <a:blip r:embed="rId3"/>
          <a:stretch>
            <a:fillRect/>
          </a:stretch>
        </p:blipFill>
        <p:spPr>
          <a:xfrm>
            <a:off x="1078992" y="2404872"/>
            <a:ext cx="402336" cy="402336"/>
          </a:xfrm>
          <a:prstGeom prst="rect">
            <a:avLst/>
          </a:prstGeom>
        </p:spPr>
      </p:pic>
      <p:sp>
        <p:nvSpPr>
          <p:cNvPr id="9" name="TextBox 8"/>
          <p:cNvSpPr txBox="1"/>
          <p:nvPr/>
        </p:nvSpPr>
        <p:spPr>
          <a:xfrm>
            <a:off x="1078992" y="2953512"/>
            <a:ext cx="1836343" cy="365760"/>
          </a:xfrm>
          <a:prstGeom prst="rect">
            <a:avLst/>
          </a:prstGeom>
          <a:noFill/>
        </p:spPr>
        <p:txBody>
          <a:bodyPr wrap="square" lIns="0" rIns="0" tIns="0" bIns="0">
            <a:spAutoFit/>
          </a:bodyPr>
          <a:lstStyle/>
          <a:p>
            <a:pPr algn="l">
              <a:lnSpc>
                <a:spcPct val="100000"/>
              </a:lnSpc>
              <a:defRPr sz="1500" b="1" i="0">
                <a:solidFill>
                  <a:srgbClr val="B6C2C9"/>
                </a:solidFill>
                <a:latin typeface="Segoe UI"/>
              </a:defRPr>
            </a:pPr>
            <a:r>
              <a:t>Raster stack</a:t>
            </a:r>
          </a:p>
        </p:txBody>
      </p:sp>
      <p:sp>
        <p:nvSpPr>
          <p:cNvPr id="10" name="TextBox 9"/>
          <p:cNvSpPr txBox="1"/>
          <p:nvPr/>
        </p:nvSpPr>
        <p:spPr>
          <a:xfrm>
            <a:off x="1078992" y="3355848"/>
            <a:ext cx="1836343" cy="914400"/>
          </a:xfrm>
          <a:prstGeom prst="rect">
            <a:avLst/>
          </a:prstGeom>
          <a:noFill/>
        </p:spPr>
        <p:txBody>
          <a:bodyPr wrap="square" lIns="0" rIns="0" tIns="0" bIns="0">
            <a:spAutoFit/>
          </a:bodyPr>
          <a:lstStyle/>
          <a:p>
            <a:pPr algn="l">
              <a:lnSpc>
                <a:spcPct val="120000"/>
              </a:lnSpc>
              <a:defRPr sz="1150" b="0" i="0">
                <a:solidFill>
                  <a:srgbClr val="9CAFA8"/>
                </a:solidFill>
                <a:latin typeface="Segoe UI"/>
              </a:defRPr>
            </a:pPr>
            <a:r>
              <a:t>Bands and indices on a 20 m grid, one layer per date.</a:t>
            </a:r>
          </a:p>
        </p:txBody>
      </p:sp>
      <p:sp>
        <p:nvSpPr>
          <p:cNvPr id="11" name="Right Arrow 10"/>
          <p:cNvSpPr/>
          <p:nvPr/>
        </p:nvSpPr>
        <p:spPr>
          <a:xfrm>
            <a:off x="3226231" y="3191256"/>
            <a:ext cx="274320" cy="201168"/>
          </a:xfrm>
          <a:prstGeom prst="rightArrow">
            <a:avLst/>
          </a:prstGeom>
          <a:solidFill>
            <a:srgbClr val="1F3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55415" y="2148840"/>
            <a:ext cx="2348407" cy="2286000"/>
          </a:xfrm>
          <a:prstGeom prst="roundRect">
            <a:avLst>
              <a:gd name="adj" fmla="val 6000"/>
            </a:avLst>
          </a:prstGeom>
          <a:solidFill>
            <a:srgbClr val="152621"/>
          </a:solidFill>
          <a:ln w="19050">
            <a:solidFill>
              <a:srgbClr val="389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map_389ff7.png"/>
          <p:cNvPicPr>
            <a:picLocks noChangeAspect="1"/>
          </p:cNvPicPr>
          <p:nvPr/>
        </p:nvPicPr>
        <p:blipFill>
          <a:blip r:embed="rId4"/>
          <a:stretch>
            <a:fillRect/>
          </a:stretch>
        </p:blipFill>
        <p:spPr>
          <a:xfrm>
            <a:off x="3811447" y="2404872"/>
            <a:ext cx="402336" cy="402336"/>
          </a:xfrm>
          <a:prstGeom prst="rect">
            <a:avLst/>
          </a:prstGeom>
        </p:spPr>
      </p:pic>
      <p:sp>
        <p:nvSpPr>
          <p:cNvPr id="14" name="TextBox 13"/>
          <p:cNvSpPr txBox="1"/>
          <p:nvPr/>
        </p:nvSpPr>
        <p:spPr>
          <a:xfrm>
            <a:off x="3811447" y="2953512"/>
            <a:ext cx="1836343" cy="365760"/>
          </a:xfrm>
          <a:prstGeom prst="rect">
            <a:avLst/>
          </a:prstGeom>
          <a:noFill/>
        </p:spPr>
        <p:txBody>
          <a:bodyPr wrap="square" lIns="0" rIns="0" tIns="0" bIns="0">
            <a:spAutoFit/>
          </a:bodyPr>
          <a:lstStyle/>
          <a:p>
            <a:pPr algn="l">
              <a:lnSpc>
                <a:spcPct val="100000"/>
              </a:lnSpc>
              <a:defRPr sz="1500" b="1" i="0">
                <a:solidFill>
                  <a:srgbClr val="389FF7"/>
                </a:solidFill>
                <a:latin typeface="Segoe UI"/>
              </a:defRPr>
            </a:pPr>
            <a:r>
              <a:t>Stand polygons</a:t>
            </a:r>
          </a:p>
        </p:txBody>
      </p:sp>
      <p:sp>
        <p:nvSpPr>
          <p:cNvPr id="15" name="TextBox 14"/>
          <p:cNvSpPr txBox="1"/>
          <p:nvPr/>
        </p:nvSpPr>
        <p:spPr>
          <a:xfrm>
            <a:off x="3811447" y="3355848"/>
            <a:ext cx="1836343" cy="914400"/>
          </a:xfrm>
          <a:prstGeom prst="rect">
            <a:avLst/>
          </a:prstGeom>
          <a:noFill/>
        </p:spPr>
        <p:txBody>
          <a:bodyPr wrap="square" lIns="0" rIns="0" tIns="0" bIns="0">
            <a:spAutoFit/>
          </a:bodyPr>
          <a:lstStyle/>
          <a:p>
            <a:pPr algn="l">
              <a:lnSpc>
                <a:spcPct val="120000"/>
              </a:lnSpc>
              <a:defRPr sz="1150" b="0" i="0">
                <a:solidFill>
                  <a:srgbClr val="9CAFA8"/>
                </a:solidFill>
                <a:latin typeface="Segoe UI"/>
              </a:defRPr>
            </a:pPr>
            <a:r>
              <a:t>The register, reprojected to the same CRS. Geometry must match or the join is silent nonsense.</a:t>
            </a:r>
          </a:p>
        </p:txBody>
      </p:sp>
      <p:sp>
        <p:nvSpPr>
          <p:cNvPr id="16" name="Right Arrow 15"/>
          <p:cNvSpPr/>
          <p:nvPr/>
        </p:nvSpPr>
        <p:spPr>
          <a:xfrm>
            <a:off x="5958687" y="3191256"/>
            <a:ext cx="274320" cy="201168"/>
          </a:xfrm>
          <a:prstGeom prst="rightArrow">
            <a:avLst/>
          </a:prstGeom>
          <a:solidFill>
            <a:srgbClr val="1F3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87871" y="2148840"/>
            <a:ext cx="2348407" cy="2286000"/>
          </a:xfrm>
          <a:prstGeom prst="roundRect">
            <a:avLst>
              <a:gd name="adj" fmla="val 6000"/>
            </a:avLst>
          </a:prstGeom>
          <a:solidFill>
            <a:srgbClr val="152621"/>
          </a:solidFill>
          <a:ln w="19050">
            <a:solidFill>
              <a:srgbClr val="3FC1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ilter_3fc17e.png"/>
          <p:cNvPicPr>
            <a:picLocks noChangeAspect="1"/>
          </p:cNvPicPr>
          <p:nvPr/>
        </p:nvPicPr>
        <p:blipFill>
          <a:blip r:embed="rId5"/>
          <a:stretch>
            <a:fillRect/>
          </a:stretch>
        </p:blipFill>
        <p:spPr>
          <a:xfrm>
            <a:off x="6543903" y="2404872"/>
            <a:ext cx="402336" cy="402336"/>
          </a:xfrm>
          <a:prstGeom prst="rect">
            <a:avLst/>
          </a:prstGeom>
        </p:spPr>
      </p:pic>
      <p:sp>
        <p:nvSpPr>
          <p:cNvPr id="19" name="TextBox 18"/>
          <p:cNvSpPr txBox="1"/>
          <p:nvPr/>
        </p:nvSpPr>
        <p:spPr>
          <a:xfrm>
            <a:off x="6543903" y="2953512"/>
            <a:ext cx="1836343" cy="365760"/>
          </a:xfrm>
          <a:prstGeom prst="rect">
            <a:avLst/>
          </a:prstGeom>
          <a:noFill/>
        </p:spPr>
        <p:txBody>
          <a:bodyPr wrap="square" lIns="0" rIns="0" tIns="0" bIns="0">
            <a:spAutoFit/>
          </a:bodyPr>
          <a:lstStyle/>
          <a:p>
            <a:pPr algn="l">
              <a:lnSpc>
                <a:spcPct val="100000"/>
              </a:lnSpc>
              <a:defRPr sz="1500" b="1" i="0">
                <a:solidFill>
                  <a:srgbClr val="3FC17E"/>
                </a:solidFill>
                <a:latin typeface="Segoe UI"/>
              </a:defRPr>
            </a:pPr>
            <a:r>
              <a:t>Zonal statistics</a:t>
            </a:r>
          </a:p>
        </p:txBody>
      </p:sp>
      <p:sp>
        <p:nvSpPr>
          <p:cNvPr id="20" name="TextBox 19"/>
          <p:cNvSpPr txBox="1"/>
          <p:nvPr/>
        </p:nvSpPr>
        <p:spPr>
          <a:xfrm>
            <a:off x="6543903" y="3355848"/>
            <a:ext cx="1836343" cy="914400"/>
          </a:xfrm>
          <a:prstGeom prst="rect">
            <a:avLst/>
          </a:prstGeom>
          <a:noFill/>
        </p:spPr>
        <p:txBody>
          <a:bodyPr wrap="square" lIns="0" rIns="0" tIns="0" bIns="0">
            <a:spAutoFit/>
          </a:bodyPr>
          <a:lstStyle/>
          <a:p>
            <a:pPr algn="l">
              <a:lnSpc>
                <a:spcPct val="120000"/>
              </a:lnSpc>
              <a:defRPr sz="1150" b="0" i="0">
                <a:solidFill>
                  <a:srgbClr val="9CAFA8"/>
                </a:solidFill>
                <a:latin typeface="Segoe UI"/>
              </a:defRPr>
            </a:pPr>
            <a:r>
              <a:t>Per stand, per date: median, mean and a valid pixel count.</a:t>
            </a:r>
          </a:p>
        </p:txBody>
      </p:sp>
      <p:sp>
        <p:nvSpPr>
          <p:cNvPr id="21" name="Right Arrow 20"/>
          <p:cNvSpPr/>
          <p:nvPr/>
        </p:nvSpPr>
        <p:spPr>
          <a:xfrm>
            <a:off x="8691143" y="3191256"/>
            <a:ext cx="274320" cy="201168"/>
          </a:xfrm>
          <a:prstGeom prst="rightArrow">
            <a:avLst/>
          </a:prstGeom>
          <a:solidFill>
            <a:srgbClr val="1F3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020327" y="2148840"/>
            <a:ext cx="2348407" cy="2286000"/>
          </a:xfrm>
          <a:prstGeom prst="roundRect">
            <a:avLst>
              <a:gd name="adj" fmla="val 6000"/>
            </a:avLst>
          </a:prstGeom>
          <a:solidFill>
            <a:srgbClr val="152621"/>
          </a:solidFill>
          <a:ln w="19050">
            <a:solidFill>
              <a:srgbClr val="E3B3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table_e3b341.png"/>
          <p:cNvPicPr>
            <a:picLocks noChangeAspect="1"/>
          </p:cNvPicPr>
          <p:nvPr/>
        </p:nvPicPr>
        <p:blipFill>
          <a:blip r:embed="rId6"/>
          <a:stretch>
            <a:fillRect/>
          </a:stretch>
        </p:blipFill>
        <p:spPr>
          <a:xfrm>
            <a:off x="9276359" y="2404872"/>
            <a:ext cx="402336" cy="402336"/>
          </a:xfrm>
          <a:prstGeom prst="rect">
            <a:avLst/>
          </a:prstGeom>
        </p:spPr>
      </p:pic>
      <p:sp>
        <p:nvSpPr>
          <p:cNvPr id="24" name="TextBox 23"/>
          <p:cNvSpPr txBox="1"/>
          <p:nvPr/>
        </p:nvSpPr>
        <p:spPr>
          <a:xfrm>
            <a:off x="9276359" y="2953512"/>
            <a:ext cx="1836343" cy="365760"/>
          </a:xfrm>
          <a:prstGeom prst="rect">
            <a:avLst/>
          </a:prstGeom>
          <a:noFill/>
        </p:spPr>
        <p:txBody>
          <a:bodyPr wrap="square" lIns="0" rIns="0" tIns="0" bIns="0">
            <a:spAutoFit/>
          </a:bodyPr>
          <a:lstStyle/>
          <a:p>
            <a:pPr algn="l">
              <a:lnSpc>
                <a:spcPct val="100000"/>
              </a:lnSpc>
              <a:defRPr sz="1500" b="1" i="0">
                <a:solidFill>
                  <a:srgbClr val="E3B341"/>
                </a:solidFill>
                <a:latin typeface="Segoe UI"/>
              </a:defRPr>
            </a:pPr>
            <a:r>
              <a:t>One row per stand per date</a:t>
            </a:r>
          </a:p>
        </p:txBody>
      </p:sp>
      <p:sp>
        <p:nvSpPr>
          <p:cNvPr id="25" name="TextBox 24"/>
          <p:cNvSpPr txBox="1"/>
          <p:nvPr/>
        </p:nvSpPr>
        <p:spPr>
          <a:xfrm>
            <a:off x="9276359" y="3355848"/>
            <a:ext cx="1836343" cy="914400"/>
          </a:xfrm>
          <a:prstGeom prst="rect">
            <a:avLst/>
          </a:prstGeom>
          <a:noFill/>
        </p:spPr>
        <p:txBody>
          <a:bodyPr wrap="square" lIns="0" rIns="0" tIns="0" bIns="0">
            <a:spAutoFit/>
          </a:bodyPr>
          <a:lstStyle/>
          <a:p>
            <a:pPr algn="l">
              <a:lnSpc>
                <a:spcPct val="120000"/>
              </a:lnSpc>
              <a:defRPr sz="1150" b="0" i="0">
                <a:solidFill>
                  <a:srgbClr val="9CAFA8"/>
                </a:solidFill>
                <a:latin typeface="Segoe UI"/>
              </a:defRPr>
            </a:pPr>
            <a:r>
              <a:t>Now it joins to inventory, to operations, to anything Woodlands holds.</a:t>
            </a:r>
          </a:p>
        </p:txBody>
      </p:sp>
      <p:sp>
        <p:nvSpPr>
          <p:cNvPr id="26" name="Rounded Rectangle 25"/>
          <p:cNvSpPr/>
          <p:nvPr/>
        </p:nvSpPr>
        <p:spPr>
          <a:xfrm>
            <a:off x="822960" y="5486400"/>
            <a:ext cx="10543032" cy="749808"/>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43000" y="5678424"/>
            <a:ext cx="9966960" cy="502920"/>
          </a:xfrm>
          <a:prstGeom prst="rect">
            <a:avLst/>
          </a:prstGeom>
          <a:noFill/>
        </p:spPr>
        <p:txBody>
          <a:bodyPr wrap="square" lIns="0" rIns="0" tIns="0" bIns="0">
            <a:spAutoFit/>
          </a:bodyPr>
          <a:lstStyle/>
          <a:p>
            <a:pPr algn="l">
              <a:lnSpc>
                <a:spcPct val="100000"/>
              </a:lnSpc>
              <a:defRPr sz="1350" b="0" i="0">
                <a:solidFill>
                  <a:srgbClr val="B6C2C9"/>
                </a:solidFill>
                <a:latin typeface="Segoe UI"/>
              </a:defRPr>
            </a:pPr>
            <a:r>
              <a:t>Keep the valid pixel count. A stand median from four unmasked pixels is not the same fact as one from four hundred.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389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2</a:t>
            </a:r>
          </a:p>
        </p:txBody>
      </p:sp>
      <p:pic>
        <p:nvPicPr>
          <p:cNvPr id="4" name="Picture 3" descr="copilot_389ff7.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17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Prompt Copilot with intent and constraints, not syntax</a:t>
            </a:r>
          </a:p>
        </p:txBody>
      </p:sp>
      <p:sp>
        <p:nvSpPr>
          <p:cNvPr id="7" name="Rounded Rectangle 6"/>
          <p:cNvSpPr/>
          <p:nvPr/>
        </p:nvSpPr>
        <p:spPr>
          <a:xfrm>
            <a:off x="822960" y="1783080"/>
            <a:ext cx="10543032" cy="3470148"/>
          </a:xfrm>
          <a:prstGeom prst="roundRect">
            <a:avLst>
              <a:gd name="adj" fmla="val 6000"/>
            </a:avLst>
          </a:prstGeom>
          <a:solidFill>
            <a:srgbClr val="0A1210"/>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1975104"/>
            <a:ext cx="9966960" cy="3086100"/>
          </a:xfrm>
          <a:prstGeom prst="rect">
            <a:avLst/>
          </a:prstGeom>
          <a:noFill/>
        </p:spPr>
        <p:txBody>
          <a:bodyPr wrap="square" lIns="0" rIns="0" tIns="0" bIns="0">
            <a:spAutoFit/>
          </a:bodyPr>
          <a:lstStyle/>
          <a:p>
            <a:pPr algn="l">
              <a:lnSpc>
                <a:spcPct val="135000"/>
              </a:lnSpc>
              <a:defRPr sz="1250" b="0" i="0">
                <a:solidFill>
                  <a:srgbClr val="F1F5F3"/>
                </a:solidFill>
                <a:latin typeface="Consolas"/>
              </a:defRPr>
            </a:pPr>
            <a:r>
              <a:t># Weak prompt: you get plausible code and inherit every assumption silently.</a:t>
            </a:r>
          </a:p>
          <a:p>
            <a:pPr algn="l">
              <a:lnSpc>
                <a:spcPct val="135000"/>
              </a:lnSpc>
              <a:defRPr sz="1250" b="0" i="0">
                <a:solidFill>
                  <a:srgbClr val="F1F5F3"/>
                </a:solidFill>
                <a:latin typeface="Consolas"/>
              </a:defRPr>
            </a:pPr>
            <a:r>
              <a:t>"write code to calculate NDVI"</a:t>
            </a:r>
          </a:p>
          <a:p>
            <a:pPr algn="l">
              <a:lnSpc>
                <a:spcPct val="135000"/>
              </a:lnSpc>
              <a:defRPr sz="1250" b="0" i="0">
                <a:solidFill>
                  <a:srgbClr val="F1F5F3"/>
                </a:solidFill>
                <a:latin typeface="Consolas"/>
              </a:defRPr>
            </a:pPr>
          </a:p>
          <a:p>
            <a:pPr algn="l">
              <a:lnSpc>
                <a:spcPct val="135000"/>
              </a:lnSpc>
              <a:defRPr sz="1250" b="0" i="0">
                <a:solidFill>
                  <a:srgbClr val="F1F5F3"/>
                </a:solidFill>
                <a:latin typeface="Consolas"/>
              </a:defRPr>
            </a:pPr>
            <a:r>
              <a:t># Strong prompt: states the input, the constraint, and what must not be assumed.</a:t>
            </a:r>
          </a:p>
          <a:p>
            <a:pPr algn="l">
              <a:lnSpc>
                <a:spcPct val="135000"/>
              </a:lnSpc>
              <a:defRPr sz="1250" b="0" i="0">
                <a:solidFill>
                  <a:srgbClr val="F1F5F3"/>
                </a:solidFill>
                <a:latin typeface="Consolas"/>
              </a:defRPr>
            </a:pPr>
            <a:r>
              <a:t>"""</a:t>
            </a:r>
          </a:p>
          <a:p>
            <a:pPr algn="l">
              <a:lnSpc>
                <a:spcPct val="135000"/>
              </a:lnSpc>
              <a:defRPr sz="1250" b="0" i="0">
                <a:solidFill>
                  <a:srgbClr val="F1F5F3"/>
                </a:solidFill>
                <a:latin typeface="Consolas"/>
              </a:defRPr>
            </a:pPr>
            <a:r>
              <a:t>Given an xarray Dataset with Sentinel-2 L2A bands B04, B08, B11, B12</a:t>
            </a:r>
          </a:p>
          <a:p>
            <a:pPr algn="l">
              <a:lnSpc>
                <a:spcPct val="135000"/>
              </a:lnSpc>
              <a:defRPr sz="1250" b="0" i="0">
                <a:solidFill>
                  <a:srgbClr val="F1F5F3"/>
                </a:solidFill>
                <a:latin typeface="Consolas"/>
              </a:defRPr>
            </a:pPr>
            <a:r>
              <a:t>and the SCL band:</a:t>
            </a:r>
          </a:p>
          <a:p>
            <a:pPr algn="l">
              <a:lnSpc>
                <a:spcPct val="135000"/>
              </a:lnSpc>
              <a:defRPr sz="1250" b="0" i="0">
                <a:solidFill>
                  <a:srgbClr val="F1F5F3"/>
                </a:solidFill>
                <a:latin typeface="Consolas"/>
              </a:defRPr>
            </a:pPr>
            <a:r>
              <a:t>  - mask cloud, shadow, snow and thin cirrus using SCL</a:t>
            </a:r>
          </a:p>
          <a:p>
            <a:pPr algn="l">
              <a:lnSpc>
                <a:spcPct val="135000"/>
              </a:lnSpc>
              <a:defRPr sz="1250" b="0" i="0">
                <a:solidFill>
                  <a:srgbClr val="F1F5F3"/>
                </a:solidFill>
                <a:latin typeface="Consolas"/>
              </a:defRPr>
            </a:pPr>
            <a:r>
              <a:t>  - return NDVI, NDMI and NBR as a single Dataset</a:t>
            </a:r>
          </a:p>
          <a:p>
            <a:pPr algn="l">
              <a:lnSpc>
                <a:spcPct val="135000"/>
              </a:lnSpc>
              <a:defRPr sz="1250" b="0" i="0">
                <a:solidFill>
                  <a:srgbClr val="F1F5F3"/>
                </a:solidFill>
                <a:latin typeface="Consolas"/>
              </a:defRPr>
            </a:pPr>
            <a:r>
              <a:t>  - the input is NOT reprojected and NOT scaled</a:t>
            </a:r>
          </a:p>
          <a:p>
            <a:pPr algn="l">
              <a:lnSpc>
                <a:spcPct val="135000"/>
              </a:lnSpc>
              <a:defRPr sz="1250" b="0" i="0">
                <a:solidFill>
                  <a:srgbClr val="F1F5F3"/>
                </a:solidFill>
                <a:latin typeface="Consolas"/>
              </a:defRPr>
            </a:pPr>
            <a:r>
              <a:t>  - masked pixels must become NaN, not zero</a:t>
            </a:r>
          </a:p>
          <a:p>
            <a:pPr algn="l">
              <a:lnSpc>
                <a:spcPct val="135000"/>
              </a:lnSpc>
              <a:defRPr sz="1250" b="0" i="0">
                <a:solidFill>
                  <a:srgbClr val="F1F5F3"/>
                </a:solidFill>
                <a:latin typeface="Consolas"/>
              </a:defRPr>
            </a:pPr>
            <a:r>
              <a:t>"""</a:t>
            </a:r>
          </a:p>
        </p:txBody>
      </p:sp>
      <p:sp>
        <p:nvSpPr>
          <p:cNvPr id="9" name="TextBox 8"/>
          <p:cNvSpPr txBox="1"/>
          <p:nvPr/>
        </p:nvSpPr>
        <p:spPr>
          <a:xfrm>
            <a:off x="822960" y="5509260"/>
            <a:ext cx="10332720" cy="822960"/>
          </a:xfrm>
          <a:prstGeom prst="rect">
            <a:avLst/>
          </a:prstGeom>
          <a:noFill/>
        </p:spPr>
        <p:txBody>
          <a:bodyPr wrap="square" lIns="0" rIns="0" tIns="0" bIns="0">
            <a:spAutoFit/>
          </a:bodyPr>
          <a:lstStyle/>
          <a:p>
            <a:pPr algn="l">
              <a:lnSpc>
                <a:spcPct val="125000"/>
              </a:lnSpc>
              <a:defRPr sz="1350" b="0" i="0">
                <a:solidFill>
                  <a:srgbClr val="9CAFA8"/>
                </a:solidFill>
                <a:latin typeface="Segoe UI"/>
              </a:defRPr>
            </a:pPr>
            <a:r>
              <a:t>Then read what comes back and ask one question: what did it assume that I did not tell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2</a:t>
            </a:r>
          </a:p>
        </p:txBody>
      </p:sp>
      <p:pic>
        <p:nvPicPr>
          <p:cNvPr id="4" name="Picture 3" descr="brain_f59e0b.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18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Three assumptions to catch in this exercise</a:t>
            </a:r>
          </a:p>
        </p:txBody>
      </p:sp>
      <p:sp>
        <p:nvSpPr>
          <p:cNvPr id="7" name="TextBox 6"/>
          <p:cNvSpPr txBox="1"/>
          <p:nvPr/>
        </p:nvSpPr>
        <p:spPr>
          <a:xfrm>
            <a:off x="822960" y="1481328"/>
            <a:ext cx="10332720" cy="365760"/>
          </a:xfrm>
          <a:prstGeom prst="rect">
            <a:avLst/>
          </a:prstGeom>
          <a:noFill/>
        </p:spPr>
        <p:txBody>
          <a:bodyPr wrap="square" lIns="0" rIns="0" tIns="0" bIns="0">
            <a:spAutoFit/>
          </a:bodyPr>
          <a:lstStyle/>
          <a:p>
            <a:pPr algn="l">
              <a:lnSpc>
                <a:spcPct val="100000"/>
              </a:lnSpc>
              <a:defRPr sz="1350" b="0" i="0">
                <a:solidFill>
                  <a:srgbClr val="9CAFA8"/>
                </a:solidFill>
                <a:latin typeface="Segoe UI"/>
              </a:defRPr>
            </a:pPr>
            <a:r>
              <a:t>All three produce output that runs, looks reasonable, and is wrong in a direction you would not question.</a:t>
            </a:r>
          </a:p>
        </p:txBody>
      </p:sp>
      <p:sp>
        <p:nvSpPr>
          <p:cNvPr id="8" name="Rounded Rectangle 7"/>
          <p:cNvSpPr/>
          <p:nvPr/>
        </p:nvSpPr>
        <p:spPr>
          <a:xfrm>
            <a:off x="822960" y="2057400"/>
            <a:ext cx="3344570"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warning_f59e0b.png"/>
          <p:cNvPicPr>
            <a:picLocks noChangeAspect="1"/>
          </p:cNvPicPr>
          <p:nvPr/>
        </p:nvPicPr>
        <p:blipFill>
          <a:blip r:embed="rId3"/>
          <a:stretch>
            <a:fillRect/>
          </a:stretch>
        </p:blipFill>
        <p:spPr>
          <a:xfrm>
            <a:off x="1097280" y="2313432"/>
            <a:ext cx="384048" cy="384048"/>
          </a:xfrm>
          <a:prstGeom prst="rect">
            <a:avLst/>
          </a:prstGeom>
        </p:spPr>
      </p:pic>
      <p:sp>
        <p:nvSpPr>
          <p:cNvPr id="10" name="TextBox 9"/>
          <p:cNvSpPr txBox="1"/>
          <p:nvPr/>
        </p:nvSpPr>
        <p:spPr>
          <a:xfrm>
            <a:off x="1097280" y="2834640"/>
            <a:ext cx="2795930" cy="365760"/>
          </a:xfrm>
          <a:prstGeom prst="rect">
            <a:avLst/>
          </a:prstGeom>
          <a:noFill/>
        </p:spPr>
        <p:txBody>
          <a:bodyPr wrap="square" lIns="0" rIns="0" tIns="0" bIns="0">
            <a:spAutoFit/>
          </a:bodyPr>
          <a:lstStyle/>
          <a:p>
            <a:pPr algn="l">
              <a:lnSpc>
                <a:spcPct val="100000"/>
              </a:lnSpc>
              <a:defRPr sz="1500" b="1" i="0">
                <a:solidFill>
                  <a:srgbClr val="F59E0B"/>
                </a:solidFill>
                <a:latin typeface="Segoe UI"/>
              </a:defRPr>
            </a:pPr>
            <a:r>
              <a:t>The scale factor</a:t>
            </a:r>
          </a:p>
        </p:txBody>
      </p:sp>
      <p:sp>
        <p:nvSpPr>
          <p:cNvPr id="11" name="TextBox 10"/>
          <p:cNvSpPr txBox="1"/>
          <p:nvPr/>
        </p:nvSpPr>
        <p:spPr>
          <a:xfrm>
            <a:off x="1097280" y="3218688"/>
            <a:ext cx="2795930" cy="685799"/>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L2A reflectance is stored as integers and needs dividing by 10000. Copilot often omits it. NDVI still looks right because the ratio cancels, so the bug hides, and then NDMI thresholds are silently in the wrong place.</a:t>
            </a:r>
          </a:p>
        </p:txBody>
      </p:sp>
      <p:sp>
        <p:nvSpPr>
          <p:cNvPr id="12" name="Rounded Rectangle 11"/>
          <p:cNvSpPr/>
          <p:nvPr/>
        </p:nvSpPr>
        <p:spPr>
          <a:xfrm>
            <a:off x="4423562" y="2057400"/>
            <a:ext cx="3344570"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warning_f59e0b.png"/>
          <p:cNvPicPr>
            <a:picLocks noChangeAspect="1"/>
          </p:cNvPicPr>
          <p:nvPr/>
        </p:nvPicPr>
        <p:blipFill>
          <a:blip r:embed="rId3"/>
          <a:stretch>
            <a:fillRect/>
          </a:stretch>
        </p:blipFill>
        <p:spPr>
          <a:xfrm>
            <a:off x="4697882" y="2313432"/>
            <a:ext cx="384048" cy="384048"/>
          </a:xfrm>
          <a:prstGeom prst="rect">
            <a:avLst/>
          </a:prstGeom>
        </p:spPr>
      </p:pic>
      <p:sp>
        <p:nvSpPr>
          <p:cNvPr id="14" name="TextBox 13"/>
          <p:cNvSpPr txBox="1"/>
          <p:nvPr/>
        </p:nvSpPr>
        <p:spPr>
          <a:xfrm>
            <a:off x="4697882" y="2834640"/>
            <a:ext cx="2795930" cy="365760"/>
          </a:xfrm>
          <a:prstGeom prst="rect">
            <a:avLst/>
          </a:prstGeom>
          <a:noFill/>
        </p:spPr>
        <p:txBody>
          <a:bodyPr wrap="square" lIns="0" rIns="0" tIns="0" bIns="0">
            <a:spAutoFit/>
          </a:bodyPr>
          <a:lstStyle/>
          <a:p>
            <a:pPr algn="l">
              <a:lnSpc>
                <a:spcPct val="100000"/>
              </a:lnSpc>
              <a:defRPr sz="1500" b="1" i="0">
                <a:solidFill>
                  <a:srgbClr val="F59E0B"/>
                </a:solidFill>
                <a:latin typeface="Segoe UI"/>
              </a:defRPr>
            </a:pPr>
            <a:r>
              <a:t>Nodata handling</a:t>
            </a:r>
          </a:p>
        </p:txBody>
      </p:sp>
      <p:sp>
        <p:nvSpPr>
          <p:cNvPr id="15" name="TextBox 14"/>
          <p:cNvSpPr txBox="1"/>
          <p:nvPr/>
        </p:nvSpPr>
        <p:spPr>
          <a:xfrm>
            <a:off x="4697882" y="3218688"/>
            <a:ext cx="2795930" cy="685799"/>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Zero is a real reflectance value in deep shadow. Treating zero as nodata deletes valid dark pixels, which biases every stand median upward on the shaded side of a slope.</a:t>
            </a:r>
          </a:p>
        </p:txBody>
      </p:sp>
      <p:sp>
        <p:nvSpPr>
          <p:cNvPr id="16" name="Rounded Rectangle 15"/>
          <p:cNvSpPr/>
          <p:nvPr/>
        </p:nvSpPr>
        <p:spPr>
          <a:xfrm>
            <a:off x="8024164" y="2057400"/>
            <a:ext cx="3344570"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warning_f59e0b.png"/>
          <p:cNvPicPr>
            <a:picLocks noChangeAspect="1"/>
          </p:cNvPicPr>
          <p:nvPr/>
        </p:nvPicPr>
        <p:blipFill>
          <a:blip r:embed="rId3"/>
          <a:stretch>
            <a:fillRect/>
          </a:stretch>
        </p:blipFill>
        <p:spPr>
          <a:xfrm>
            <a:off x="8298484" y="2313432"/>
            <a:ext cx="384048" cy="384048"/>
          </a:xfrm>
          <a:prstGeom prst="rect">
            <a:avLst/>
          </a:prstGeom>
        </p:spPr>
      </p:pic>
      <p:sp>
        <p:nvSpPr>
          <p:cNvPr id="18" name="TextBox 17"/>
          <p:cNvSpPr txBox="1"/>
          <p:nvPr/>
        </p:nvSpPr>
        <p:spPr>
          <a:xfrm>
            <a:off x="8298484" y="2834640"/>
            <a:ext cx="2795930" cy="365760"/>
          </a:xfrm>
          <a:prstGeom prst="rect">
            <a:avLst/>
          </a:prstGeom>
          <a:noFill/>
        </p:spPr>
        <p:txBody>
          <a:bodyPr wrap="square" lIns="0" rIns="0" tIns="0" bIns="0">
            <a:spAutoFit/>
          </a:bodyPr>
          <a:lstStyle/>
          <a:p>
            <a:pPr algn="l">
              <a:lnSpc>
                <a:spcPct val="100000"/>
              </a:lnSpc>
              <a:defRPr sz="1500" b="1" i="0">
                <a:solidFill>
                  <a:srgbClr val="F59E0B"/>
                </a:solidFill>
                <a:latin typeface="Segoe UI"/>
              </a:defRPr>
            </a:pPr>
            <a:r>
              <a:t>The SCL class list</a:t>
            </a:r>
          </a:p>
        </p:txBody>
      </p:sp>
      <p:sp>
        <p:nvSpPr>
          <p:cNvPr id="19" name="TextBox 18"/>
          <p:cNvSpPr txBox="1"/>
          <p:nvPr/>
        </p:nvSpPr>
        <p:spPr>
          <a:xfrm>
            <a:off x="8298484" y="3218688"/>
            <a:ext cx="2795930" cy="685799"/>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Getting the class numbers slightly wrong leaves thin cirrus in the data. Cirrus depresses NDMI, which reads downstream as drought stress in stands that are fine.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B6C2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1:12  ·  38 MIN</a:t>
            </a:r>
          </a:p>
        </p:txBody>
      </p:sp>
      <p:pic>
        <p:nvPicPr>
          <p:cNvPr id="4" name="Picture 3" descr="notebook_b6c2c9.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19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Hands-on 2: mask, index, and aggregate to stands</a:t>
            </a:r>
          </a:p>
        </p:txBody>
      </p:sp>
      <p:sp>
        <p:nvSpPr>
          <p:cNvPr id="7" name="Oval 6"/>
          <p:cNvSpPr/>
          <p:nvPr/>
        </p:nvSpPr>
        <p:spPr>
          <a:xfrm>
            <a:off x="822960" y="1819656"/>
            <a:ext cx="402336" cy="402336"/>
          </a:xfrm>
          <a:prstGeom prst="ellipse">
            <a:avLst/>
          </a:prstGeom>
          <a:solidFill>
            <a:srgbClr val="B6C2C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1</a:t>
            </a:r>
          </a:p>
        </p:txBody>
      </p:sp>
      <p:sp>
        <p:nvSpPr>
          <p:cNvPr id="8" name="TextBox 7"/>
          <p:cNvSpPr txBox="1"/>
          <p:nvPr/>
        </p:nvSpPr>
        <p:spPr>
          <a:xfrm>
            <a:off x="1426464" y="1801368"/>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Reproject to EPSG:2953</a:t>
            </a:r>
          </a:p>
        </p:txBody>
      </p:sp>
      <p:sp>
        <p:nvSpPr>
          <p:cNvPr id="9" name="TextBox 8"/>
          <p:cNvSpPr txBox="1"/>
          <p:nvPr/>
        </p:nvSpPr>
        <p:spPr>
          <a:xfrm>
            <a:off x="1426464" y="2112264"/>
            <a:ext cx="7863840" cy="512063"/>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Raster and register both. Confirm both report the same EPSG before joining.</a:t>
            </a:r>
          </a:p>
        </p:txBody>
      </p:sp>
      <p:sp>
        <p:nvSpPr>
          <p:cNvPr id="10" name="TextBox 9"/>
          <p:cNvSpPr txBox="1"/>
          <p:nvPr/>
        </p:nvSpPr>
        <p:spPr>
          <a:xfrm>
            <a:off x="9357055" y="1837943"/>
            <a:ext cx="2011680" cy="365760"/>
          </a:xfrm>
          <a:prstGeom prst="rect">
            <a:avLst/>
          </a:prstGeom>
          <a:noFill/>
        </p:spPr>
        <p:txBody>
          <a:bodyPr wrap="square" lIns="0" rIns="0" tIns="0" bIns="0">
            <a:spAutoFit/>
          </a:bodyPr>
          <a:lstStyle/>
          <a:p>
            <a:pPr algn="r">
              <a:lnSpc>
                <a:spcPct val="100000"/>
              </a:lnSpc>
              <a:defRPr sz="1300" b="1" i="0">
                <a:solidFill>
                  <a:srgbClr val="B6C2C9"/>
                </a:solidFill>
                <a:latin typeface="Segoe UI"/>
              </a:defRPr>
            </a:pPr>
            <a:r>
              <a:t>7 min</a:t>
            </a:r>
          </a:p>
        </p:txBody>
      </p:sp>
      <p:sp>
        <p:nvSpPr>
          <p:cNvPr id="11" name="Oval 10"/>
          <p:cNvSpPr/>
          <p:nvPr/>
        </p:nvSpPr>
        <p:spPr>
          <a:xfrm>
            <a:off x="822960" y="2697480"/>
            <a:ext cx="402336" cy="402336"/>
          </a:xfrm>
          <a:prstGeom prst="ellipse">
            <a:avLst/>
          </a:prstGeom>
          <a:solidFill>
            <a:srgbClr val="B6C2C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2</a:t>
            </a:r>
          </a:p>
        </p:txBody>
      </p:sp>
      <p:sp>
        <p:nvSpPr>
          <p:cNvPr id="12" name="TextBox 11"/>
          <p:cNvSpPr txBox="1"/>
          <p:nvPr/>
        </p:nvSpPr>
        <p:spPr>
          <a:xfrm>
            <a:off x="1426464" y="2679192"/>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Mask from SCL</a:t>
            </a:r>
          </a:p>
        </p:txBody>
      </p:sp>
      <p:sp>
        <p:nvSpPr>
          <p:cNvPr id="13" name="TextBox 12"/>
          <p:cNvSpPr txBox="1"/>
          <p:nvPr/>
        </p:nvSpPr>
        <p:spPr>
          <a:xfrm>
            <a:off x="1426464" y="2990088"/>
            <a:ext cx="7863840" cy="512063"/>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Drop 3, 8, 9, 10, 11. Masked becomes NaN. Verify the masked fraction is plausible.</a:t>
            </a:r>
          </a:p>
        </p:txBody>
      </p:sp>
      <p:sp>
        <p:nvSpPr>
          <p:cNvPr id="14" name="TextBox 13"/>
          <p:cNvSpPr txBox="1"/>
          <p:nvPr/>
        </p:nvSpPr>
        <p:spPr>
          <a:xfrm>
            <a:off x="9357055" y="2715768"/>
            <a:ext cx="2011680" cy="365760"/>
          </a:xfrm>
          <a:prstGeom prst="rect">
            <a:avLst/>
          </a:prstGeom>
          <a:noFill/>
        </p:spPr>
        <p:txBody>
          <a:bodyPr wrap="square" lIns="0" rIns="0" tIns="0" bIns="0">
            <a:spAutoFit/>
          </a:bodyPr>
          <a:lstStyle/>
          <a:p>
            <a:pPr algn="r">
              <a:lnSpc>
                <a:spcPct val="100000"/>
              </a:lnSpc>
              <a:defRPr sz="1300" b="1" i="0">
                <a:solidFill>
                  <a:srgbClr val="B6C2C9"/>
                </a:solidFill>
                <a:latin typeface="Segoe UI"/>
              </a:defRPr>
            </a:pPr>
            <a:r>
              <a:t>8 min</a:t>
            </a:r>
          </a:p>
        </p:txBody>
      </p:sp>
      <p:sp>
        <p:nvSpPr>
          <p:cNvPr id="15" name="Oval 14"/>
          <p:cNvSpPr/>
          <p:nvPr/>
        </p:nvSpPr>
        <p:spPr>
          <a:xfrm>
            <a:off x="822960" y="3575304"/>
            <a:ext cx="402336" cy="402336"/>
          </a:xfrm>
          <a:prstGeom prst="ellipse">
            <a:avLst/>
          </a:prstGeom>
          <a:solidFill>
            <a:srgbClr val="B6C2C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3</a:t>
            </a:r>
          </a:p>
        </p:txBody>
      </p:sp>
      <p:sp>
        <p:nvSpPr>
          <p:cNvPr id="16" name="TextBox 15"/>
          <p:cNvSpPr txBox="1"/>
          <p:nvPr/>
        </p:nvSpPr>
        <p:spPr>
          <a:xfrm>
            <a:off x="1426464" y="3557016"/>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Compute the three indices</a:t>
            </a:r>
          </a:p>
        </p:txBody>
      </p:sp>
      <p:sp>
        <p:nvSpPr>
          <p:cNvPr id="17" name="TextBox 16"/>
          <p:cNvSpPr txBox="1"/>
          <p:nvPr/>
        </p:nvSpPr>
        <p:spPr>
          <a:xfrm>
            <a:off x="1426464" y="3867912"/>
            <a:ext cx="7863840" cy="512063"/>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Apply the scale factor first. Sanity check that every index sits between -1 and 1.</a:t>
            </a:r>
          </a:p>
        </p:txBody>
      </p:sp>
      <p:sp>
        <p:nvSpPr>
          <p:cNvPr id="18" name="TextBox 17"/>
          <p:cNvSpPr txBox="1"/>
          <p:nvPr/>
        </p:nvSpPr>
        <p:spPr>
          <a:xfrm>
            <a:off x="9357055" y="3593592"/>
            <a:ext cx="2011680" cy="365760"/>
          </a:xfrm>
          <a:prstGeom prst="rect">
            <a:avLst/>
          </a:prstGeom>
          <a:noFill/>
        </p:spPr>
        <p:txBody>
          <a:bodyPr wrap="square" lIns="0" rIns="0" tIns="0" bIns="0">
            <a:spAutoFit/>
          </a:bodyPr>
          <a:lstStyle/>
          <a:p>
            <a:pPr algn="r">
              <a:lnSpc>
                <a:spcPct val="100000"/>
              </a:lnSpc>
              <a:defRPr sz="1300" b="1" i="0">
                <a:solidFill>
                  <a:srgbClr val="B6C2C9"/>
                </a:solidFill>
                <a:latin typeface="Segoe UI"/>
              </a:defRPr>
            </a:pPr>
            <a:r>
              <a:t>8 min</a:t>
            </a:r>
          </a:p>
        </p:txBody>
      </p:sp>
      <p:sp>
        <p:nvSpPr>
          <p:cNvPr id="19" name="Oval 18"/>
          <p:cNvSpPr/>
          <p:nvPr/>
        </p:nvSpPr>
        <p:spPr>
          <a:xfrm>
            <a:off x="822960" y="4453128"/>
            <a:ext cx="402336" cy="402336"/>
          </a:xfrm>
          <a:prstGeom prst="ellipse">
            <a:avLst/>
          </a:prstGeom>
          <a:solidFill>
            <a:srgbClr val="B6C2C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4</a:t>
            </a:r>
          </a:p>
        </p:txBody>
      </p:sp>
      <p:sp>
        <p:nvSpPr>
          <p:cNvPr id="20" name="TextBox 19"/>
          <p:cNvSpPr txBox="1"/>
          <p:nvPr/>
        </p:nvSpPr>
        <p:spPr>
          <a:xfrm>
            <a:off x="1426464" y="4434840"/>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Zonal statistics per stand</a:t>
            </a:r>
          </a:p>
        </p:txBody>
      </p:sp>
      <p:sp>
        <p:nvSpPr>
          <p:cNvPr id="21" name="TextBox 20"/>
          <p:cNvSpPr txBox="1"/>
          <p:nvPr/>
        </p:nvSpPr>
        <p:spPr>
          <a:xfrm>
            <a:off x="1426464" y="4745736"/>
            <a:ext cx="7863840" cy="512063"/>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Median per stand per date, plus the valid pixel count.</a:t>
            </a:r>
          </a:p>
        </p:txBody>
      </p:sp>
      <p:sp>
        <p:nvSpPr>
          <p:cNvPr id="22" name="TextBox 21"/>
          <p:cNvSpPr txBox="1"/>
          <p:nvPr/>
        </p:nvSpPr>
        <p:spPr>
          <a:xfrm>
            <a:off x="9357055" y="4471416"/>
            <a:ext cx="2011680" cy="365760"/>
          </a:xfrm>
          <a:prstGeom prst="rect">
            <a:avLst/>
          </a:prstGeom>
          <a:noFill/>
        </p:spPr>
        <p:txBody>
          <a:bodyPr wrap="square" lIns="0" rIns="0" tIns="0" bIns="0">
            <a:spAutoFit/>
          </a:bodyPr>
          <a:lstStyle/>
          <a:p>
            <a:pPr algn="r">
              <a:lnSpc>
                <a:spcPct val="100000"/>
              </a:lnSpc>
              <a:defRPr sz="1300" b="1" i="0">
                <a:solidFill>
                  <a:srgbClr val="B6C2C9"/>
                </a:solidFill>
                <a:latin typeface="Segoe UI"/>
              </a:defRPr>
            </a:pPr>
            <a:r>
              <a:t>9 min</a:t>
            </a:r>
          </a:p>
        </p:txBody>
      </p:sp>
      <p:sp>
        <p:nvSpPr>
          <p:cNvPr id="23" name="Oval 22"/>
          <p:cNvSpPr/>
          <p:nvPr/>
        </p:nvSpPr>
        <p:spPr>
          <a:xfrm>
            <a:off x="822960" y="5330952"/>
            <a:ext cx="402336" cy="402336"/>
          </a:xfrm>
          <a:prstGeom prst="ellipse">
            <a:avLst/>
          </a:prstGeom>
          <a:solidFill>
            <a:srgbClr val="B6C2C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5</a:t>
            </a:r>
          </a:p>
        </p:txBody>
      </p:sp>
      <p:sp>
        <p:nvSpPr>
          <p:cNvPr id="24" name="TextBox 23"/>
          <p:cNvSpPr txBox="1"/>
          <p:nvPr/>
        </p:nvSpPr>
        <p:spPr>
          <a:xfrm>
            <a:off x="1426464" y="5312664"/>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Classify in gold</a:t>
            </a:r>
          </a:p>
        </p:txBody>
      </p:sp>
      <p:sp>
        <p:nvSpPr>
          <p:cNvPr id="25" name="TextBox 24"/>
          <p:cNvSpPr txBox="1"/>
          <p:nvPr/>
        </p:nvSpPr>
        <p:spPr>
          <a:xfrm>
            <a:off x="1426464" y="5623560"/>
            <a:ext cx="7863840" cy="512063"/>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Threshold on NDVI and NDMI into softwood, hardwood, mixedwood, with a confidence.</a:t>
            </a:r>
          </a:p>
        </p:txBody>
      </p:sp>
      <p:sp>
        <p:nvSpPr>
          <p:cNvPr id="26" name="TextBox 25"/>
          <p:cNvSpPr txBox="1"/>
          <p:nvPr/>
        </p:nvSpPr>
        <p:spPr>
          <a:xfrm>
            <a:off x="9357055" y="5349240"/>
            <a:ext cx="2011680" cy="365760"/>
          </a:xfrm>
          <a:prstGeom prst="rect">
            <a:avLst/>
          </a:prstGeom>
          <a:noFill/>
        </p:spPr>
        <p:txBody>
          <a:bodyPr wrap="square" lIns="0" rIns="0" tIns="0" bIns="0">
            <a:spAutoFit/>
          </a:bodyPr>
          <a:lstStyle/>
          <a:p>
            <a:pPr algn="r">
              <a:lnSpc>
                <a:spcPct val="100000"/>
              </a:lnSpc>
              <a:defRPr sz="1300" b="1" i="0">
                <a:solidFill>
                  <a:srgbClr val="B6C2C9"/>
                </a:solidFill>
                <a:latin typeface="Segoe UI"/>
              </a:defRPr>
            </a:pPr>
            <a:r>
              <a:t>6 min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1F1B"/>
        </a:solidFill>
        <a:effectLst/>
      </p:bgPr>
    </p:bg>
    <p:spTree>
      <p:nvGrpSpPr>
        <p:cNvPr id="1" name=""/>
        <p:cNvGrpSpPr/>
        <p:nvPr/>
      </p:nvGrpSpPr>
      <p:grpSpPr/>
      <p:pic>
        <p:nvPicPr>
          <p:cNvPr id="2" name="Picture 1" descr="brain_e3b341.png"/>
          <p:cNvPicPr>
            <a:picLocks noChangeAspect="1"/>
          </p:cNvPicPr>
          <p:nvPr/>
        </p:nvPicPr>
        <p:blipFill>
          <a:blip r:embed="rId2"/>
          <a:stretch>
            <a:fillRect/>
          </a:stretch>
        </p:blipFill>
        <p:spPr>
          <a:xfrm>
            <a:off x="822960" y="2148840"/>
            <a:ext cx="777240" cy="777240"/>
          </a:xfrm>
          <a:prstGeom prst="rect">
            <a:avLst/>
          </a:prstGeom>
        </p:spPr>
      </p:pic>
      <p:sp>
        <p:nvSpPr>
          <p:cNvPr id="3" name="Rectangle 2"/>
          <p:cNvSpPr/>
          <p:nvPr/>
        </p:nvSpPr>
        <p:spPr>
          <a:xfrm>
            <a:off x="822960" y="3154680"/>
            <a:ext cx="1280160" cy="68580"/>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2743200" cy="365760"/>
          </a:xfrm>
          <a:prstGeom prst="rect">
            <a:avLst/>
          </a:prstGeom>
          <a:noFill/>
        </p:spPr>
        <p:txBody>
          <a:bodyPr wrap="square" lIns="0" rIns="0" tIns="0" bIns="0">
            <a:spAutoFit/>
          </a:bodyPr>
          <a:lstStyle/>
          <a:p>
            <a:pPr algn="l">
              <a:lnSpc>
                <a:spcPct val="100000"/>
              </a:lnSpc>
              <a:defRPr sz="1100" b="1" i="0">
                <a:solidFill>
                  <a:srgbClr val="647C74"/>
                </a:solidFill>
                <a:latin typeface="Segoe UI"/>
              </a:defRPr>
            </a:pPr>
            <a:r>
              <a:t>BLOCK 3</a:t>
            </a:r>
          </a:p>
        </p:txBody>
      </p:sp>
      <p:sp>
        <p:nvSpPr>
          <p:cNvPr id="5" name="TextBox 4"/>
          <p:cNvSpPr txBox="1"/>
          <p:nvPr/>
        </p:nvSpPr>
        <p:spPr>
          <a:xfrm>
            <a:off x="822960" y="3401568"/>
            <a:ext cx="9601200" cy="914400"/>
          </a:xfrm>
          <a:prstGeom prst="rect">
            <a:avLst/>
          </a:prstGeom>
          <a:noFill/>
        </p:spPr>
        <p:txBody>
          <a:bodyPr wrap="square" lIns="0" rIns="0" tIns="0" bIns="0">
            <a:spAutoFit/>
          </a:bodyPr>
          <a:lstStyle/>
          <a:p>
            <a:pPr algn="l">
              <a:lnSpc>
                <a:spcPct val="100000"/>
              </a:lnSpc>
              <a:defRPr sz="3400" b="1" i="0">
                <a:solidFill>
                  <a:srgbClr val="F1F5F3"/>
                </a:solidFill>
                <a:latin typeface="Segoe UI"/>
              </a:defRPr>
            </a:pPr>
            <a:r>
              <a:t>Add AI where it earns its place</a:t>
            </a:r>
          </a:p>
        </p:txBody>
      </p:sp>
      <p:sp>
        <p:nvSpPr>
          <p:cNvPr id="6" name="TextBox 5"/>
          <p:cNvSpPr txBox="1"/>
          <p:nvPr/>
        </p:nvSpPr>
        <p:spPr>
          <a:xfrm>
            <a:off x="822960" y="4434840"/>
            <a:ext cx="9601200" cy="822960"/>
          </a:xfrm>
          <a:prstGeom prst="rect">
            <a:avLst/>
          </a:prstGeom>
          <a:noFill/>
        </p:spPr>
        <p:txBody>
          <a:bodyPr wrap="square" lIns="0" rIns="0" tIns="0" bIns="0">
            <a:spAutoFit/>
          </a:bodyPr>
          <a:lstStyle/>
          <a:p>
            <a:pPr algn="l">
              <a:lnSpc>
                <a:spcPct val="125000"/>
              </a:lnSpc>
              <a:defRPr sz="1500" b="0" i="0">
                <a:solidFill>
                  <a:srgbClr val="9CAFA8"/>
                </a:solidFill>
                <a:latin typeface="Segoe UI"/>
              </a:defRPr>
            </a:pPr>
            <a:r>
              <a:t>And spend real time on where it is quietly wrong</a:t>
            </a:r>
          </a:p>
        </p:txBody>
      </p:sp>
      <p:sp>
        <p:nvSpPr>
          <p:cNvPr id="7" name="TextBox 6"/>
          <p:cNvSpPr txBox="1"/>
          <p:nvPr/>
        </p:nvSpPr>
        <p:spPr>
          <a:xfrm>
            <a:off x="8625535" y="1691640"/>
            <a:ext cx="2743200" cy="365760"/>
          </a:xfrm>
          <a:prstGeom prst="rect">
            <a:avLst/>
          </a:prstGeom>
          <a:noFill/>
        </p:spPr>
        <p:txBody>
          <a:bodyPr wrap="square" lIns="0" rIns="0" tIns="0" bIns="0">
            <a:spAutoFit/>
          </a:bodyPr>
          <a:lstStyle/>
          <a:p>
            <a:pPr algn="r">
              <a:lnSpc>
                <a:spcPct val="100000"/>
              </a:lnSpc>
              <a:defRPr sz="1200" b="1" i="0">
                <a:solidFill>
                  <a:srgbClr val="E3B341"/>
                </a:solidFill>
                <a:latin typeface="Segoe UI"/>
              </a:defRPr>
            </a:pPr>
            <a:r>
              <a:t>45 min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3</a:t>
            </a:r>
          </a:p>
        </p:txBody>
      </p:sp>
      <p:pic>
        <p:nvPicPr>
          <p:cNvPr id="4" name="Picture 3" descr="brain_3fc17e.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20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Where a language model earns its place here</a:t>
            </a:r>
          </a:p>
        </p:txBody>
      </p:sp>
      <p:sp>
        <p:nvSpPr>
          <p:cNvPr id="7" name="Rounded Rectangle 6"/>
          <p:cNvSpPr/>
          <p:nvPr/>
        </p:nvSpPr>
        <p:spPr>
          <a:xfrm>
            <a:off x="822960" y="1783080"/>
            <a:ext cx="5090007" cy="324612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15568" y="2048256"/>
            <a:ext cx="640080" cy="45720"/>
          </a:xfrm>
          <a:prstGeom prst="rect">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2212848"/>
            <a:ext cx="4504791" cy="411480"/>
          </a:xfrm>
          <a:prstGeom prst="rect">
            <a:avLst/>
          </a:prstGeom>
          <a:noFill/>
        </p:spPr>
        <p:txBody>
          <a:bodyPr wrap="square" lIns="0" rIns="0" tIns="0" bIns="0">
            <a:spAutoFit/>
          </a:bodyPr>
          <a:lstStyle/>
          <a:p>
            <a:pPr algn="l">
              <a:lnSpc>
                <a:spcPct val="100000"/>
              </a:lnSpc>
              <a:defRPr sz="1700" b="1" i="0">
                <a:solidFill>
                  <a:srgbClr val="3FC17E"/>
                </a:solidFill>
                <a:latin typeface="Segoe UI"/>
              </a:defRPr>
            </a:pPr>
            <a:r>
              <a:t>Earns it</a:t>
            </a:r>
          </a:p>
        </p:txBody>
      </p:sp>
      <p:sp>
        <p:nvSpPr>
          <p:cNvPr id="10" name="TextBox 9"/>
          <p:cNvSpPr txBox="1"/>
          <p:nvPr/>
        </p:nvSpPr>
        <p:spPr>
          <a:xfrm>
            <a:off x="1115568" y="2788920"/>
            <a:ext cx="4504791" cy="2103120"/>
          </a:xfrm>
          <a:prstGeom prst="rect">
            <a:avLst/>
          </a:prstGeom>
          <a:noFill/>
        </p:spPr>
        <p:txBody>
          <a:bodyPr wrap="square" lIns="0" rIns="0">
            <a:spAutoFit/>
          </a:bodyPr>
          <a:lstStyle/>
          <a:p>
            <a:pPr>
              <a:lnSpc>
                <a:spcPct val="115000"/>
              </a:lnSpc>
              <a:spcBef>
                <a:spcPts val="0"/>
              </a:spcBef>
            </a:pPr>
            <a:r>
              <a:rPr sz="1350" b="1">
                <a:solidFill>
                  <a:srgbClr val="3FC17E"/>
                </a:solidFill>
                <a:latin typeface="Segoe UI"/>
              </a:rPr>
              <a:t>✓  </a:t>
            </a:r>
            <a:r>
              <a:rPr sz="1350">
                <a:solidFill>
                  <a:srgbClr val="F1F5F3"/>
                </a:solidFill>
                <a:latin typeface="Segoe UI"/>
              </a:rPr>
              <a:t>Turning twelve numeric columns into a two-sentence note a planner reads in a tooltip</a:t>
            </a:r>
          </a:p>
          <a:p>
            <a:pPr>
              <a:lnSpc>
                <a:spcPct val="115000"/>
              </a:lnSpc>
              <a:spcBef>
                <a:spcPts val="1300"/>
              </a:spcBef>
            </a:pPr>
            <a:r>
              <a:rPr sz="1350" b="1">
                <a:solidFill>
                  <a:srgbClr val="3FC17E"/>
                </a:solidFill>
                <a:latin typeface="Segoe UI"/>
              </a:rPr>
              <a:t>✓  </a:t>
            </a:r>
            <a:r>
              <a:rPr sz="1350">
                <a:solidFill>
                  <a:srgbClr val="F1F5F3"/>
                </a:solidFill>
                <a:latin typeface="Segoe UI"/>
              </a:rPr>
              <a:t>Reconciling free-text field notes against the classified result and flagging disagreements</a:t>
            </a:r>
          </a:p>
          <a:p>
            <a:pPr>
              <a:lnSpc>
                <a:spcPct val="115000"/>
              </a:lnSpc>
              <a:spcBef>
                <a:spcPts val="1300"/>
              </a:spcBef>
            </a:pPr>
            <a:r>
              <a:rPr sz="1350" b="1">
                <a:solidFill>
                  <a:srgbClr val="3FC17E"/>
                </a:solidFill>
                <a:latin typeface="Segoe UI"/>
              </a:rPr>
              <a:t>✓  </a:t>
            </a:r>
            <a:r>
              <a:rPr sz="1350">
                <a:solidFill>
                  <a:srgbClr val="F1F5F3"/>
                </a:solidFill>
                <a:latin typeface="Segoe UI"/>
              </a:rPr>
              <a:t>Drafting the change narrative between two dates for a what-changed panel</a:t>
            </a:r>
          </a:p>
          <a:p>
            <a:pPr>
              <a:lnSpc>
                <a:spcPct val="115000"/>
              </a:lnSpc>
              <a:spcBef>
                <a:spcPts val="1300"/>
              </a:spcBef>
            </a:pPr>
            <a:r>
              <a:rPr sz="1350" b="1">
                <a:solidFill>
                  <a:srgbClr val="3FC17E"/>
                </a:solidFill>
                <a:latin typeface="Segoe UI"/>
              </a:rPr>
              <a:t>✓  </a:t>
            </a:r>
            <a:r>
              <a:rPr sz="1350">
                <a:solidFill>
                  <a:srgbClr val="F1F5F3"/>
                </a:solidFill>
                <a:latin typeface="Segoe UI"/>
              </a:rPr>
              <a:t>Summarising a hundred stand notes into the five themes worth a site visit</a:t>
            </a:r>
          </a:p>
        </p:txBody>
      </p:sp>
      <p:sp>
        <p:nvSpPr>
          <p:cNvPr id="11" name="Rounded Rectangle 10"/>
          <p:cNvSpPr/>
          <p:nvPr/>
        </p:nvSpPr>
        <p:spPr>
          <a:xfrm>
            <a:off x="6278727" y="1783080"/>
            <a:ext cx="5090007" cy="324612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71335" y="2048256"/>
            <a:ext cx="640080" cy="4572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71335" y="2212848"/>
            <a:ext cx="4504791" cy="411480"/>
          </a:xfrm>
          <a:prstGeom prst="rect">
            <a:avLst/>
          </a:prstGeom>
          <a:noFill/>
        </p:spPr>
        <p:txBody>
          <a:bodyPr wrap="square" lIns="0" rIns="0" tIns="0" bIns="0">
            <a:spAutoFit/>
          </a:bodyPr>
          <a:lstStyle/>
          <a:p>
            <a:pPr algn="l">
              <a:lnSpc>
                <a:spcPct val="100000"/>
              </a:lnSpc>
              <a:defRPr sz="1700" b="1" i="0">
                <a:solidFill>
                  <a:srgbClr val="EF4444"/>
                </a:solidFill>
                <a:latin typeface="Segoe UI"/>
              </a:defRPr>
            </a:pPr>
            <a:r>
              <a:t>Does not</a:t>
            </a:r>
          </a:p>
        </p:txBody>
      </p:sp>
      <p:sp>
        <p:nvSpPr>
          <p:cNvPr id="14" name="TextBox 13"/>
          <p:cNvSpPr txBox="1"/>
          <p:nvPr/>
        </p:nvSpPr>
        <p:spPr>
          <a:xfrm>
            <a:off x="6571335" y="2788920"/>
            <a:ext cx="4504791" cy="2103120"/>
          </a:xfrm>
          <a:prstGeom prst="rect">
            <a:avLst/>
          </a:prstGeom>
          <a:noFill/>
        </p:spPr>
        <p:txBody>
          <a:bodyPr wrap="square" lIns="0" rIns="0">
            <a:spAutoFit/>
          </a:bodyPr>
          <a:lstStyle/>
          <a:p>
            <a:pPr>
              <a:lnSpc>
                <a:spcPct val="115000"/>
              </a:lnSpc>
              <a:spcBef>
                <a:spcPts val="0"/>
              </a:spcBef>
            </a:pPr>
            <a:r>
              <a:rPr sz="1350" b="1">
                <a:solidFill>
                  <a:srgbClr val="EF4444"/>
                </a:solidFill>
                <a:latin typeface="Segoe UI"/>
              </a:rPr>
              <a:t>✗  </a:t>
            </a:r>
            <a:r>
              <a:rPr sz="1350">
                <a:solidFill>
                  <a:srgbClr val="F1F5F3"/>
                </a:solidFill>
                <a:latin typeface="Segoe UI"/>
              </a:rPr>
              <a:t>Deciding the class. A threshold is auditable, reproducible and free</a:t>
            </a:r>
          </a:p>
          <a:p>
            <a:pPr>
              <a:lnSpc>
                <a:spcPct val="115000"/>
              </a:lnSpc>
              <a:spcBef>
                <a:spcPts val="1300"/>
              </a:spcBef>
            </a:pPr>
            <a:r>
              <a:rPr sz="1350" b="1">
                <a:solidFill>
                  <a:srgbClr val="EF4444"/>
                </a:solidFill>
                <a:latin typeface="Segoe UI"/>
              </a:rPr>
              <a:t>✗  </a:t>
            </a:r>
            <a:r>
              <a:rPr sz="1350">
                <a:solidFill>
                  <a:srgbClr val="F1F5F3"/>
                </a:solidFill>
                <a:latin typeface="Segoe UI"/>
              </a:rPr>
              <a:t>Computing anything. Ask a model for a mean and you get a plausible mean</a:t>
            </a:r>
          </a:p>
          <a:p>
            <a:pPr>
              <a:lnSpc>
                <a:spcPct val="115000"/>
              </a:lnSpc>
              <a:spcBef>
                <a:spcPts val="1300"/>
              </a:spcBef>
            </a:pPr>
            <a:r>
              <a:rPr sz="1350" b="1">
                <a:solidFill>
                  <a:srgbClr val="EF4444"/>
                </a:solidFill>
                <a:latin typeface="Segoe UI"/>
              </a:rPr>
              <a:t>✗  </a:t>
            </a:r>
            <a:r>
              <a:rPr sz="1350">
                <a:solidFill>
                  <a:srgbClr val="F1F5F3"/>
                </a:solidFill>
                <a:latin typeface="Segoe UI"/>
              </a:rPr>
              <a:t>Anything a forester must defend in a regulatory conversation</a:t>
            </a:r>
          </a:p>
          <a:p>
            <a:pPr>
              <a:lnSpc>
                <a:spcPct val="115000"/>
              </a:lnSpc>
              <a:spcBef>
                <a:spcPts val="1300"/>
              </a:spcBef>
            </a:pPr>
            <a:r>
              <a:rPr sz="1350" b="1">
                <a:solidFill>
                  <a:srgbClr val="EF4444"/>
                </a:solidFill>
                <a:latin typeface="Segoe UI"/>
              </a:rPr>
              <a:t>✗  </a:t>
            </a:r>
            <a:r>
              <a:rPr sz="1350">
                <a:solidFill>
                  <a:srgbClr val="F1F5F3"/>
                </a:solidFill>
                <a:latin typeface="Segoe UI"/>
              </a:rPr>
              <a:t>Filling a gap in the data, which it will do willingly and invisibly</a:t>
            </a:r>
          </a:p>
        </p:txBody>
      </p:sp>
      <p:sp>
        <p:nvSpPr>
          <p:cNvPr id="15" name="Rounded Rectangle 14"/>
          <p:cNvSpPr/>
          <p:nvPr/>
        </p:nvSpPr>
        <p:spPr>
          <a:xfrm>
            <a:off x="822960" y="5623560"/>
            <a:ext cx="10543032" cy="713232"/>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5815584"/>
            <a:ext cx="9966960" cy="457200"/>
          </a:xfrm>
          <a:prstGeom prst="rect">
            <a:avLst/>
          </a:prstGeom>
          <a:noFill/>
        </p:spPr>
        <p:txBody>
          <a:bodyPr wrap="square" lIns="0" rIns="0" tIns="0" bIns="0">
            <a:spAutoFit/>
          </a:bodyPr>
          <a:lstStyle/>
          <a:p>
            <a:pPr algn="l">
              <a:lnSpc>
                <a:spcPct val="100000"/>
              </a:lnSpc>
              <a:defRPr sz="1350" b="0" i="0">
                <a:solidFill>
                  <a:srgbClr val="F59E0B"/>
                </a:solidFill>
                <a:latin typeface="Segoe UI"/>
              </a:defRPr>
            </a:pPr>
            <a:r>
              <a:t>The dividing line: language in, language out is fine. Numbers in, numbers out is not.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3</a:t>
            </a:r>
          </a:p>
        </p:txBody>
      </p:sp>
      <p:pic>
        <p:nvPicPr>
          <p:cNvPr id="4" name="Picture 3" descr="warning_ef4444.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21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Where AI is quietly wrong: three live demonstrations</a:t>
            </a:r>
          </a:p>
        </p:txBody>
      </p:sp>
      <p:sp>
        <p:nvSpPr>
          <p:cNvPr id="7" name="TextBox 6"/>
          <p:cNvSpPr txBox="1"/>
          <p:nvPr/>
        </p:nvSpPr>
        <p:spPr>
          <a:xfrm>
            <a:off x="822960" y="1481328"/>
            <a:ext cx="10332720" cy="365760"/>
          </a:xfrm>
          <a:prstGeom prst="rect">
            <a:avLst/>
          </a:prstGeom>
          <a:noFill/>
        </p:spPr>
        <p:txBody>
          <a:bodyPr wrap="square" lIns="0" rIns="0" tIns="0" bIns="0">
            <a:spAutoFit/>
          </a:bodyPr>
          <a:lstStyle/>
          <a:p>
            <a:pPr algn="l">
              <a:lnSpc>
                <a:spcPct val="100000"/>
              </a:lnSpc>
              <a:defRPr sz="1350" b="0" i="0">
                <a:solidFill>
                  <a:srgbClr val="9CAFA8"/>
                </a:solidFill>
                <a:latin typeface="Segoe UI"/>
              </a:defRPr>
            </a:pPr>
            <a:r>
              <a:t>Run all three live. They work every time, and watching it happen lands harder than being told.</a:t>
            </a:r>
          </a:p>
        </p:txBody>
      </p:sp>
      <p:sp>
        <p:nvSpPr>
          <p:cNvPr id="8" name="Rounded Rectangle 7"/>
          <p:cNvSpPr/>
          <p:nvPr/>
        </p:nvSpPr>
        <p:spPr>
          <a:xfrm>
            <a:off x="822960" y="2057400"/>
            <a:ext cx="3344570"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warning_ef4444.png"/>
          <p:cNvPicPr>
            <a:picLocks noChangeAspect="1"/>
          </p:cNvPicPr>
          <p:nvPr/>
        </p:nvPicPr>
        <p:blipFill>
          <a:blip r:embed="rId2"/>
          <a:stretch>
            <a:fillRect/>
          </a:stretch>
        </p:blipFill>
        <p:spPr>
          <a:xfrm>
            <a:off x="1097280" y="2313432"/>
            <a:ext cx="384048" cy="384048"/>
          </a:xfrm>
          <a:prstGeom prst="rect">
            <a:avLst/>
          </a:prstGeom>
        </p:spPr>
      </p:pic>
      <p:sp>
        <p:nvSpPr>
          <p:cNvPr id="10" name="TextBox 9"/>
          <p:cNvSpPr txBox="1"/>
          <p:nvPr/>
        </p:nvSpPr>
        <p:spPr>
          <a:xfrm>
            <a:off x="1097280" y="2834640"/>
            <a:ext cx="2795930" cy="365760"/>
          </a:xfrm>
          <a:prstGeom prst="rect">
            <a:avLst/>
          </a:prstGeom>
          <a:noFill/>
        </p:spPr>
        <p:txBody>
          <a:bodyPr wrap="square" lIns="0" rIns="0" tIns="0" bIns="0">
            <a:spAutoFit/>
          </a:bodyPr>
          <a:lstStyle/>
          <a:p>
            <a:pPr algn="l">
              <a:lnSpc>
                <a:spcPct val="100000"/>
              </a:lnSpc>
              <a:defRPr sz="1500" b="1" i="0">
                <a:solidFill>
                  <a:srgbClr val="EF4444"/>
                </a:solidFill>
                <a:latin typeface="Segoe UI"/>
              </a:defRPr>
            </a:pPr>
            <a:r>
              <a:t>It restates numbers you never gave it</a:t>
            </a:r>
          </a:p>
        </p:txBody>
      </p:sp>
      <p:sp>
        <p:nvSpPr>
          <p:cNvPr id="11" name="TextBox 10"/>
          <p:cNvSpPr txBox="1"/>
          <p:nvPr/>
        </p:nvSpPr>
        <p:spPr>
          <a:xfrm>
            <a:off x="1097280" y="3218688"/>
            <a:ext cx="2795930" cy="685799"/>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Ask for a stand summary including area. It will produce an area, confidently, either invented or rounded in a way that changes the meaning. Nothing flags it.</a:t>
            </a:r>
          </a:p>
        </p:txBody>
      </p:sp>
      <p:sp>
        <p:nvSpPr>
          <p:cNvPr id="12" name="Rounded Rectangle 11"/>
          <p:cNvSpPr/>
          <p:nvPr/>
        </p:nvSpPr>
        <p:spPr>
          <a:xfrm>
            <a:off x="4423562" y="2057400"/>
            <a:ext cx="3344570"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warning_ef4444.png"/>
          <p:cNvPicPr>
            <a:picLocks noChangeAspect="1"/>
          </p:cNvPicPr>
          <p:nvPr/>
        </p:nvPicPr>
        <p:blipFill>
          <a:blip r:embed="rId2"/>
          <a:stretch>
            <a:fillRect/>
          </a:stretch>
        </p:blipFill>
        <p:spPr>
          <a:xfrm>
            <a:off x="4697882" y="2313432"/>
            <a:ext cx="384048" cy="384048"/>
          </a:xfrm>
          <a:prstGeom prst="rect">
            <a:avLst/>
          </a:prstGeom>
        </p:spPr>
      </p:pic>
      <p:sp>
        <p:nvSpPr>
          <p:cNvPr id="14" name="TextBox 13"/>
          <p:cNvSpPr txBox="1"/>
          <p:nvPr/>
        </p:nvSpPr>
        <p:spPr>
          <a:xfrm>
            <a:off x="4697882" y="2834640"/>
            <a:ext cx="2795930" cy="365760"/>
          </a:xfrm>
          <a:prstGeom prst="rect">
            <a:avLst/>
          </a:prstGeom>
          <a:noFill/>
        </p:spPr>
        <p:txBody>
          <a:bodyPr wrap="square" lIns="0" rIns="0" tIns="0" bIns="0">
            <a:spAutoFit/>
          </a:bodyPr>
          <a:lstStyle/>
          <a:p>
            <a:pPr algn="l">
              <a:lnSpc>
                <a:spcPct val="100000"/>
              </a:lnSpc>
              <a:defRPr sz="1500" b="1" i="0">
                <a:solidFill>
                  <a:srgbClr val="EF4444"/>
                </a:solidFill>
                <a:latin typeface="Segoe UI"/>
              </a:defRPr>
            </a:pPr>
            <a:r>
              <a:t>It is not reproducible</a:t>
            </a:r>
          </a:p>
        </p:txBody>
      </p:sp>
      <p:sp>
        <p:nvSpPr>
          <p:cNvPr id="15" name="TextBox 14"/>
          <p:cNvSpPr txBox="1"/>
          <p:nvPr/>
        </p:nvSpPr>
        <p:spPr>
          <a:xfrm>
            <a:off x="4697882" y="3218688"/>
            <a:ext cx="2795930" cy="685799"/>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Ask it to classify from index values with no threshold definition. Run it twice. The answers differ and neither is wrong in a way you can point at.</a:t>
            </a:r>
          </a:p>
        </p:txBody>
      </p:sp>
      <p:sp>
        <p:nvSpPr>
          <p:cNvPr id="16" name="Rounded Rectangle 15"/>
          <p:cNvSpPr/>
          <p:nvPr/>
        </p:nvSpPr>
        <p:spPr>
          <a:xfrm>
            <a:off x="8024164" y="2057400"/>
            <a:ext cx="3344570"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warning_ef4444.png"/>
          <p:cNvPicPr>
            <a:picLocks noChangeAspect="1"/>
          </p:cNvPicPr>
          <p:nvPr/>
        </p:nvPicPr>
        <p:blipFill>
          <a:blip r:embed="rId2"/>
          <a:stretch>
            <a:fillRect/>
          </a:stretch>
        </p:blipFill>
        <p:spPr>
          <a:xfrm>
            <a:off x="8298484" y="2313432"/>
            <a:ext cx="384048" cy="384048"/>
          </a:xfrm>
          <a:prstGeom prst="rect">
            <a:avLst/>
          </a:prstGeom>
        </p:spPr>
      </p:pic>
      <p:sp>
        <p:nvSpPr>
          <p:cNvPr id="18" name="TextBox 17"/>
          <p:cNvSpPr txBox="1"/>
          <p:nvPr/>
        </p:nvSpPr>
        <p:spPr>
          <a:xfrm>
            <a:off x="8298484" y="2834640"/>
            <a:ext cx="2795930" cy="365760"/>
          </a:xfrm>
          <a:prstGeom prst="rect">
            <a:avLst/>
          </a:prstGeom>
          <a:noFill/>
        </p:spPr>
        <p:txBody>
          <a:bodyPr wrap="square" lIns="0" rIns="0" tIns="0" bIns="0">
            <a:spAutoFit/>
          </a:bodyPr>
          <a:lstStyle/>
          <a:p>
            <a:pPr algn="l">
              <a:lnSpc>
                <a:spcPct val="100000"/>
              </a:lnSpc>
              <a:defRPr sz="1500" b="1" i="0">
                <a:solidFill>
                  <a:srgbClr val="EF4444"/>
                </a:solidFill>
                <a:latin typeface="Segoe UI"/>
              </a:defRPr>
            </a:pPr>
            <a:r>
              <a:t>It fills gaps with opinion</a:t>
            </a:r>
          </a:p>
        </p:txBody>
      </p:sp>
      <p:sp>
        <p:nvSpPr>
          <p:cNvPr id="19" name="TextBox 18"/>
          <p:cNvSpPr txBox="1"/>
          <p:nvPr/>
        </p:nvSpPr>
        <p:spPr>
          <a:xfrm>
            <a:off x="8298484" y="3218688"/>
            <a:ext cx="2795930" cy="685799"/>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Give it a stand with a missing NDMI. It will interpolate a judgement rather than say the data is absent, which is the one thing you actually needed to know.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3</a:t>
            </a:r>
          </a:p>
        </p:txBody>
      </p:sp>
      <p:pic>
        <p:nvPicPr>
          <p:cNvPr id="4" name="Picture 3" descr="shield_e3b341.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22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The mitigation pattern, which is the actual deliverable</a:t>
            </a:r>
          </a:p>
        </p:txBody>
      </p:sp>
      <p:sp>
        <p:nvSpPr>
          <p:cNvPr id="7" name="Rounded Rectangle 6"/>
          <p:cNvSpPr/>
          <p:nvPr/>
        </p:nvSpPr>
        <p:spPr>
          <a:xfrm>
            <a:off x="822960" y="2148840"/>
            <a:ext cx="2348407" cy="2286000"/>
          </a:xfrm>
          <a:prstGeom prst="roundRect">
            <a:avLst>
              <a:gd name="adj" fmla="val 6000"/>
            </a:avLst>
          </a:prstGeom>
          <a:solidFill>
            <a:srgbClr val="152621"/>
          </a:solidFill>
          <a:ln w="19050">
            <a:solidFill>
              <a:srgbClr val="E3B3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ate_e3b341.png"/>
          <p:cNvPicPr>
            <a:picLocks noChangeAspect="1"/>
          </p:cNvPicPr>
          <p:nvPr/>
        </p:nvPicPr>
        <p:blipFill>
          <a:blip r:embed="rId3"/>
          <a:stretch>
            <a:fillRect/>
          </a:stretch>
        </p:blipFill>
        <p:spPr>
          <a:xfrm>
            <a:off x="1078992" y="2404872"/>
            <a:ext cx="402336" cy="402336"/>
          </a:xfrm>
          <a:prstGeom prst="rect">
            <a:avLst/>
          </a:prstGeom>
        </p:spPr>
      </p:pic>
      <p:sp>
        <p:nvSpPr>
          <p:cNvPr id="9" name="TextBox 8"/>
          <p:cNvSpPr txBox="1"/>
          <p:nvPr/>
        </p:nvSpPr>
        <p:spPr>
          <a:xfrm>
            <a:off x="1078992" y="2953512"/>
            <a:ext cx="1836343" cy="365760"/>
          </a:xfrm>
          <a:prstGeom prst="rect">
            <a:avLst/>
          </a:prstGeom>
          <a:noFill/>
        </p:spPr>
        <p:txBody>
          <a:bodyPr wrap="square" lIns="0" rIns="0" tIns="0" bIns="0">
            <a:spAutoFit/>
          </a:bodyPr>
          <a:lstStyle/>
          <a:p>
            <a:pPr algn="l">
              <a:lnSpc>
                <a:spcPct val="100000"/>
              </a:lnSpc>
              <a:defRPr sz="1500" b="1" i="0">
                <a:solidFill>
                  <a:srgbClr val="E3B341"/>
                </a:solidFill>
                <a:latin typeface="Segoe UI"/>
              </a:defRPr>
            </a:pPr>
            <a:r>
              <a:t>Constrain</a:t>
            </a:r>
          </a:p>
        </p:txBody>
      </p:sp>
      <p:sp>
        <p:nvSpPr>
          <p:cNvPr id="10" name="TextBox 9"/>
          <p:cNvSpPr txBox="1"/>
          <p:nvPr/>
        </p:nvSpPr>
        <p:spPr>
          <a:xfrm>
            <a:off x="1078992" y="3355848"/>
            <a:ext cx="1836343" cy="914400"/>
          </a:xfrm>
          <a:prstGeom prst="rect">
            <a:avLst/>
          </a:prstGeom>
          <a:noFill/>
        </p:spPr>
        <p:txBody>
          <a:bodyPr wrap="square" lIns="0" rIns="0" tIns="0" bIns="0">
            <a:spAutoFit/>
          </a:bodyPr>
          <a:lstStyle/>
          <a:p>
            <a:pPr algn="l">
              <a:lnSpc>
                <a:spcPct val="120000"/>
              </a:lnSpc>
              <a:defRPr sz="1150" b="0" i="0">
                <a:solidFill>
                  <a:srgbClr val="9CAFA8"/>
                </a:solidFill>
                <a:latin typeface="Segoe UI"/>
              </a:defRPr>
            </a:pPr>
            <a:r>
              <a:t>JSON schema on the response. The model chooses words, never fields.</a:t>
            </a:r>
          </a:p>
        </p:txBody>
      </p:sp>
      <p:sp>
        <p:nvSpPr>
          <p:cNvPr id="11" name="Right Arrow 10"/>
          <p:cNvSpPr/>
          <p:nvPr/>
        </p:nvSpPr>
        <p:spPr>
          <a:xfrm>
            <a:off x="3226231" y="3191256"/>
            <a:ext cx="274320" cy="201168"/>
          </a:xfrm>
          <a:prstGeom prst="rightArrow">
            <a:avLst/>
          </a:prstGeom>
          <a:solidFill>
            <a:srgbClr val="1F3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55415" y="2148840"/>
            <a:ext cx="2348407" cy="2286000"/>
          </a:xfrm>
          <a:prstGeom prst="roundRect">
            <a:avLst>
              <a:gd name="adj" fmla="val 6000"/>
            </a:avLst>
          </a:prstGeom>
          <a:solidFill>
            <a:srgbClr val="152621"/>
          </a:solidFill>
          <a:ln w="19050">
            <a:solidFill>
              <a:srgbClr val="3FC1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hield_3fc17e.png"/>
          <p:cNvPicPr>
            <a:picLocks noChangeAspect="1"/>
          </p:cNvPicPr>
          <p:nvPr/>
        </p:nvPicPr>
        <p:blipFill>
          <a:blip r:embed="rId4"/>
          <a:stretch>
            <a:fillRect/>
          </a:stretch>
        </p:blipFill>
        <p:spPr>
          <a:xfrm>
            <a:off x="3811447" y="2404872"/>
            <a:ext cx="402336" cy="402336"/>
          </a:xfrm>
          <a:prstGeom prst="rect">
            <a:avLst/>
          </a:prstGeom>
        </p:spPr>
      </p:pic>
      <p:sp>
        <p:nvSpPr>
          <p:cNvPr id="14" name="TextBox 13"/>
          <p:cNvSpPr txBox="1"/>
          <p:nvPr/>
        </p:nvSpPr>
        <p:spPr>
          <a:xfrm>
            <a:off x="3811447" y="2953512"/>
            <a:ext cx="1836343" cy="365760"/>
          </a:xfrm>
          <a:prstGeom prst="rect">
            <a:avLst/>
          </a:prstGeom>
          <a:noFill/>
        </p:spPr>
        <p:txBody>
          <a:bodyPr wrap="square" lIns="0" rIns="0" tIns="0" bIns="0">
            <a:spAutoFit/>
          </a:bodyPr>
          <a:lstStyle/>
          <a:p>
            <a:pPr algn="l">
              <a:lnSpc>
                <a:spcPct val="100000"/>
              </a:lnSpc>
              <a:defRPr sz="1500" b="1" i="0">
                <a:solidFill>
                  <a:srgbClr val="3FC17E"/>
                </a:solidFill>
                <a:latin typeface="Segoe UI"/>
              </a:defRPr>
            </a:pPr>
            <a:r>
              <a:t>Pre-compute</a:t>
            </a:r>
          </a:p>
        </p:txBody>
      </p:sp>
      <p:sp>
        <p:nvSpPr>
          <p:cNvPr id="15" name="TextBox 14"/>
          <p:cNvSpPr txBox="1"/>
          <p:nvPr/>
        </p:nvSpPr>
        <p:spPr>
          <a:xfrm>
            <a:off x="3811447" y="3355848"/>
            <a:ext cx="1836343" cy="914400"/>
          </a:xfrm>
          <a:prstGeom prst="rect">
            <a:avLst/>
          </a:prstGeom>
          <a:noFill/>
        </p:spPr>
        <p:txBody>
          <a:bodyPr wrap="square" lIns="0" rIns="0" tIns="0" bIns="0">
            <a:spAutoFit/>
          </a:bodyPr>
          <a:lstStyle/>
          <a:p>
            <a:pPr algn="l">
              <a:lnSpc>
                <a:spcPct val="120000"/>
              </a:lnSpc>
              <a:defRPr sz="1150" b="0" i="0">
                <a:solidFill>
                  <a:srgbClr val="9CAFA8"/>
                </a:solidFill>
                <a:latin typeface="Segoe UI"/>
              </a:defRPr>
            </a:pPr>
            <a:r>
              <a:t>Every number is calculated in Spark and passed in. The prompt forbids new numbers.</a:t>
            </a:r>
          </a:p>
        </p:txBody>
      </p:sp>
      <p:sp>
        <p:nvSpPr>
          <p:cNvPr id="16" name="Right Arrow 15"/>
          <p:cNvSpPr/>
          <p:nvPr/>
        </p:nvSpPr>
        <p:spPr>
          <a:xfrm>
            <a:off x="5958687" y="3191256"/>
            <a:ext cx="274320" cy="201168"/>
          </a:xfrm>
          <a:prstGeom prst="rightArrow">
            <a:avLst/>
          </a:prstGeom>
          <a:solidFill>
            <a:srgbClr val="1F3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87871" y="2148840"/>
            <a:ext cx="2348407" cy="2286000"/>
          </a:xfrm>
          <a:prstGeom prst="roundRect">
            <a:avLst>
              <a:gd name="adj" fmla="val 6000"/>
            </a:avLst>
          </a:prstGeom>
          <a:solidFill>
            <a:srgbClr val="152621"/>
          </a:solidFill>
          <a:ln w="19050">
            <a:solidFill>
              <a:srgbClr val="389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heck_389ff7.png"/>
          <p:cNvPicPr>
            <a:picLocks noChangeAspect="1"/>
          </p:cNvPicPr>
          <p:nvPr/>
        </p:nvPicPr>
        <p:blipFill>
          <a:blip r:embed="rId5"/>
          <a:stretch>
            <a:fillRect/>
          </a:stretch>
        </p:blipFill>
        <p:spPr>
          <a:xfrm>
            <a:off x="6543903" y="2404872"/>
            <a:ext cx="402336" cy="402336"/>
          </a:xfrm>
          <a:prstGeom prst="rect">
            <a:avLst/>
          </a:prstGeom>
        </p:spPr>
      </p:pic>
      <p:sp>
        <p:nvSpPr>
          <p:cNvPr id="19" name="TextBox 18"/>
          <p:cNvSpPr txBox="1"/>
          <p:nvPr/>
        </p:nvSpPr>
        <p:spPr>
          <a:xfrm>
            <a:off x="6543903" y="2953512"/>
            <a:ext cx="1836343" cy="365760"/>
          </a:xfrm>
          <a:prstGeom prst="rect">
            <a:avLst/>
          </a:prstGeom>
          <a:noFill/>
        </p:spPr>
        <p:txBody>
          <a:bodyPr wrap="square" lIns="0" rIns="0" tIns="0" bIns="0">
            <a:spAutoFit/>
          </a:bodyPr>
          <a:lstStyle/>
          <a:p>
            <a:pPr algn="l">
              <a:lnSpc>
                <a:spcPct val="100000"/>
              </a:lnSpc>
              <a:defRPr sz="1500" b="1" i="0">
                <a:solidFill>
                  <a:srgbClr val="389FF7"/>
                </a:solidFill>
                <a:latin typeface="Segoe UI"/>
              </a:defRPr>
            </a:pPr>
            <a:r>
              <a:t>Validate</a:t>
            </a:r>
          </a:p>
        </p:txBody>
      </p:sp>
      <p:sp>
        <p:nvSpPr>
          <p:cNvPr id="20" name="TextBox 19"/>
          <p:cNvSpPr txBox="1"/>
          <p:nvPr/>
        </p:nvSpPr>
        <p:spPr>
          <a:xfrm>
            <a:off x="6543903" y="3355848"/>
            <a:ext cx="1836343" cy="914400"/>
          </a:xfrm>
          <a:prstGeom prst="rect">
            <a:avLst/>
          </a:prstGeom>
          <a:noFill/>
        </p:spPr>
        <p:txBody>
          <a:bodyPr wrap="square" lIns="0" rIns="0" tIns="0" bIns="0">
            <a:spAutoFit/>
          </a:bodyPr>
          <a:lstStyle/>
          <a:p>
            <a:pPr algn="l">
              <a:lnSpc>
                <a:spcPct val="120000"/>
              </a:lnSpc>
              <a:defRPr sz="1150" b="0" i="0">
                <a:solidFill>
                  <a:srgbClr val="9CAFA8"/>
                </a:solidFill>
                <a:latin typeface="Segoe UI"/>
              </a:defRPr>
            </a:pPr>
            <a:r>
              <a:t>Parse the response and check each number against the source row it came from.</a:t>
            </a:r>
          </a:p>
        </p:txBody>
      </p:sp>
      <p:sp>
        <p:nvSpPr>
          <p:cNvPr id="21" name="Right Arrow 20"/>
          <p:cNvSpPr/>
          <p:nvPr/>
        </p:nvSpPr>
        <p:spPr>
          <a:xfrm>
            <a:off x="8691143" y="3191256"/>
            <a:ext cx="274320" cy="201168"/>
          </a:xfrm>
          <a:prstGeom prst="rightArrow">
            <a:avLst/>
          </a:prstGeom>
          <a:solidFill>
            <a:srgbClr val="1F3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020327" y="2148840"/>
            <a:ext cx="2348407" cy="2286000"/>
          </a:xfrm>
          <a:prstGeom prst="roundRect">
            <a:avLst>
              <a:gd name="adj" fmla="val 6000"/>
            </a:avLst>
          </a:prstGeom>
          <a:solidFill>
            <a:srgbClr val="152621"/>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lag_f59e0b.png"/>
          <p:cNvPicPr>
            <a:picLocks noChangeAspect="1"/>
          </p:cNvPicPr>
          <p:nvPr/>
        </p:nvPicPr>
        <p:blipFill>
          <a:blip r:embed="rId6"/>
          <a:stretch>
            <a:fillRect/>
          </a:stretch>
        </p:blipFill>
        <p:spPr>
          <a:xfrm>
            <a:off x="9276359" y="2404872"/>
            <a:ext cx="402336" cy="402336"/>
          </a:xfrm>
          <a:prstGeom prst="rect">
            <a:avLst/>
          </a:prstGeom>
        </p:spPr>
      </p:pic>
      <p:sp>
        <p:nvSpPr>
          <p:cNvPr id="24" name="TextBox 23"/>
          <p:cNvSpPr txBox="1"/>
          <p:nvPr/>
        </p:nvSpPr>
        <p:spPr>
          <a:xfrm>
            <a:off x="9276359" y="2953512"/>
            <a:ext cx="1836343" cy="365760"/>
          </a:xfrm>
          <a:prstGeom prst="rect">
            <a:avLst/>
          </a:prstGeom>
          <a:noFill/>
        </p:spPr>
        <p:txBody>
          <a:bodyPr wrap="square" lIns="0" rIns="0" tIns="0" bIns="0">
            <a:spAutoFit/>
          </a:bodyPr>
          <a:lstStyle/>
          <a:p>
            <a:pPr algn="l">
              <a:lnSpc>
                <a:spcPct val="100000"/>
              </a:lnSpc>
              <a:defRPr sz="1500" b="1" i="0">
                <a:solidFill>
                  <a:srgbClr val="F59E0B"/>
                </a:solidFill>
                <a:latin typeface="Segoe UI"/>
              </a:defRPr>
            </a:pPr>
            <a:r>
              <a:t>Record</a:t>
            </a:r>
          </a:p>
        </p:txBody>
      </p:sp>
      <p:sp>
        <p:nvSpPr>
          <p:cNvPr id="25" name="TextBox 24"/>
          <p:cNvSpPr txBox="1"/>
          <p:nvPr/>
        </p:nvSpPr>
        <p:spPr>
          <a:xfrm>
            <a:off x="9276359" y="3355848"/>
            <a:ext cx="1836343" cy="914400"/>
          </a:xfrm>
          <a:prstGeom prst="rect">
            <a:avLst/>
          </a:prstGeom>
          <a:noFill/>
        </p:spPr>
        <p:txBody>
          <a:bodyPr wrap="square" lIns="0" rIns="0" tIns="0" bIns="0">
            <a:spAutoFit/>
          </a:bodyPr>
          <a:lstStyle/>
          <a:p>
            <a:pPr algn="l">
              <a:lnSpc>
                <a:spcPct val="120000"/>
              </a:lnSpc>
              <a:defRPr sz="1150" b="0" i="0">
                <a:solidFill>
                  <a:srgbClr val="9CAFA8"/>
                </a:solidFill>
                <a:latin typeface="Segoe UI"/>
              </a:defRPr>
            </a:pPr>
            <a:r>
              <a:t>Write the narrative and a validation_status. Failures are suppressed, never dropped silently.</a:t>
            </a:r>
          </a:p>
        </p:txBody>
      </p:sp>
      <p:sp>
        <p:nvSpPr>
          <p:cNvPr id="26" name="Rounded Rectangle 25"/>
          <p:cNvSpPr/>
          <p:nvPr/>
        </p:nvSpPr>
        <p:spPr>
          <a:xfrm>
            <a:off x="822960" y="5486400"/>
            <a:ext cx="10543032" cy="749808"/>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43000" y="5678424"/>
            <a:ext cx="9966960" cy="502920"/>
          </a:xfrm>
          <a:prstGeom prst="rect">
            <a:avLst/>
          </a:prstGeom>
          <a:noFill/>
        </p:spPr>
        <p:txBody>
          <a:bodyPr wrap="square" lIns="0" rIns="0" tIns="0" bIns="0">
            <a:spAutoFit/>
          </a:bodyPr>
          <a:lstStyle/>
          <a:p>
            <a:pPr algn="l">
              <a:lnSpc>
                <a:spcPct val="100000"/>
              </a:lnSpc>
              <a:defRPr sz="1350" b="0" i="0">
                <a:solidFill>
                  <a:srgbClr val="E3B341"/>
                </a:solidFill>
                <a:latin typeface="Segoe UI"/>
              </a:defRPr>
            </a:pPr>
            <a:r>
              <a:t>A row that fails validation still appears, with the narrative withheld. Silence about a failure is worse than the failure.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3</a:t>
            </a:r>
          </a:p>
        </p:txBody>
      </p:sp>
      <p:pic>
        <p:nvPicPr>
          <p:cNvPr id="4" name="Picture 3" descr="code_e3b341.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23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Schema-constrained output and the numeric guard</a:t>
            </a:r>
          </a:p>
        </p:txBody>
      </p:sp>
      <p:sp>
        <p:nvSpPr>
          <p:cNvPr id="7" name="Rounded Rectangle 6"/>
          <p:cNvSpPr/>
          <p:nvPr/>
        </p:nvSpPr>
        <p:spPr>
          <a:xfrm>
            <a:off x="822960" y="1783080"/>
            <a:ext cx="10543032" cy="3778758"/>
          </a:xfrm>
          <a:prstGeom prst="roundRect">
            <a:avLst>
              <a:gd name="adj" fmla="val 6000"/>
            </a:avLst>
          </a:prstGeom>
          <a:solidFill>
            <a:srgbClr val="0A1210"/>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1975104"/>
            <a:ext cx="9966960" cy="3394710"/>
          </a:xfrm>
          <a:prstGeom prst="rect">
            <a:avLst/>
          </a:prstGeom>
          <a:noFill/>
        </p:spPr>
        <p:txBody>
          <a:bodyPr wrap="square" lIns="0" rIns="0" tIns="0" bIns="0">
            <a:spAutoFit/>
          </a:bodyPr>
          <a:lstStyle/>
          <a:p>
            <a:pPr algn="l">
              <a:lnSpc>
                <a:spcPct val="135000"/>
              </a:lnSpc>
              <a:defRPr sz="1100" b="0" i="0">
                <a:solidFill>
                  <a:srgbClr val="F1F5F3"/>
                </a:solidFill>
                <a:latin typeface="Consolas"/>
              </a:defRPr>
            </a:pPr>
            <a:r>
              <a:t>schema = {</a:t>
            </a:r>
          </a:p>
          <a:p>
            <a:pPr algn="l">
              <a:lnSpc>
                <a:spcPct val="135000"/>
              </a:lnSpc>
              <a:defRPr sz="1100" b="0" i="0">
                <a:solidFill>
                  <a:srgbClr val="F1F5F3"/>
                </a:solidFill>
                <a:latin typeface="Consolas"/>
              </a:defRPr>
            </a:pPr>
            <a:r>
              <a:t>    "type": "object",</a:t>
            </a:r>
          </a:p>
          <a:p>
            <a:pPr algn="l">
              <a:lnSpc>
                <a:spcPct val="135000"/>
              </a:lnSpc>
              <a:defRPr sz="1100" b="0" i="0">
                <a:solidFill>
                  <a:srgbClr val="F1F5F3"/>
                </a:solidFill>
                <a:latin typeface="Consolas"/>
              </a:defRPr>
            </a:pPr>
            <a:r>
              <a:t>    "properties": {</a:t>
            </a:r>
          </a:p>
          <a:p>
            <a:pPr algn="l">
              <a:lnSpc>
                <a:spcPct val="135000"/>
              </a:lnSpc>
              <a:defRPr sz="1100" b="0" i="0">
                <a:solidFill>
                  <a:srgbClr val="F1F5F3"/>
                </a:solidFill>
                <a:latin typeface="Consolas"/>
              </a:defRPr>
            </a:pPr>
            <a:r>
              <a:t>        "summary":   {"type": "string", "maxLength": 320},</a:t>
            </a:r>
          </a:p>
          <a:p>
            <a:pPr algn="l">
              <a:lnSpc>
                <a:spcPct val="135000"/>
              </a:lnSpc>
              <a:defRPr sz="1100" b="0" i="0">
                <a:solidFill>
                  <a:srgbClr val="F1F5F3"/>
                </a:solidFill>
                <a:latin typeface="Consolas"/>
              </a:defRPr>
            </a:pPr>
            <a:r>
              <a:t>        "concern":   {"type": "string", "enum": ["none", "moisture", "disturbance"]},</a:t>
            </a:r>
          </a:p>
          <a:p>
            <a:pPr algn="l">
              <a:lnSpc>
                <a:spcPct val="135000"/>
              </a:lnSpc>
              <a:defRPr sz="1100" b="0" i="0">
                <a:solidFill>
                  <a:srgbClr val="F1F5F3"/>
                </a:solidFill>
                <a:latin typeface="Consolas"/>
              </a:defRPr>
            </a:pPr>
            <a:r>
              <a:t>        "confidence": {"type": "string", "enum": ["low", "medium", "high"]},</a:t>
            </a:r>
          </a:p>
          <a:p>
            <a:pPr algn="l">
              <a:lnSpc>
                <a:spcPct val="135000"/>
              </a:lnSpc>
              <a:defRPr sz="1100" b="0" i="0">
                <a:solidFill>
                  <a:srgbClr val="F1F5F3"/>
                </a:solidFill>
                <a:latin typeface="Consolas"/>
              </a:defRPr>
            </a:pPr>
            <a:r>
              <a:t>    },</a:t>
            </a:r>
          </a:p>
          <a:p>
            <a:pPr algn="l">
              <a:lnSpc>
                <a:spcPct val="135000"/>
              </a:lnSpc>
              <a:defRPr sz="1100" b="0" i="0">
                <a:solidFill>
                  <a:srgbClr val="F1F5F3"/>
                </a:solidFill>
                <a:latin typeface="Consolas"/>
              </a:defRPr>
            </a:pPr>
            <a:r>
              <a:t>    "required": ["summary", "concern", "confidence"],</a:t>
            </a:r>
          </a:p>
          <a:p>
            <a:pPr algn="l">
              <a:lnSpc>
                <a:spcPct val="135000"/>
              </a:lnSpc>
              <a:defRPr sz="1100" b="0" i="0">
                <a:solidFill>
                  <a:srgbClr val="F1F5F3"/>
                </a:solidFill>
                <a:latin typeface="Consolas"/>
              </a:defRPr>
            </a:pPr>
            <a:r>
              <a:t>    "additionalProperties": False,</a:t>
            </a:r>
          </a:p>
          <a:p>
            <a:pPr algn="l">
              <a:lnSpc>
                <a:spcPct val="135000"/>
              </a:lnSpc>
              <a:defRPr sz="1100" b="0" i="0">
                <a:solidFill>
                  <a:srgbClr val="F1F5F3"/>
                </a:solidFill>
                <a:latin typeface="Consolas"/>
              </a:defRPr>
            </a:pPr>
            <a:r>
              <a:t>}</a:t>
            </a:r>
          </a:p>
          <a:p>
            <a:pPr algn="l">
              <a:lnSpc>
                <a:spcPct val="135000"/>
              </a:lnSpc>
              <a:defRPr sz="1100" b="0" i="0">
                <a:solidFill>
                  <a:srgbClr val="F1F5F3"/>
                </a:solidFill>
                <a:latin typeface="Consolas"/>
              </a:defRPr>
            </a:pPr>
          </a:p>
          <a:p>
            <a:pPr algn="l">
              <a:lnSpc>
                <a:spcPct val="135000"/>
              </a:lnSpc>
              <a:defRPr sz="1100" b="0" i="0">
                <a:solidFill>
                  <a:srgbClr val="F1F5F3"/>
                </a:solidFill>
                <a:latin typeface="Consolas"/>
              </a:defRPr>
            </a:pPr>
            <a:r>
              <a:t># The guard: every number in the narrative must already exist in the source row.</a:t>
            </a:r>
          </a:p>
          <a:p>
            <a:pPr algn="l">
              <a:lnSpc>
                <a:spcPct val="135000"/>
              </a:lnSpc>
              <a:defRPr sz="1100" b="0" i="0">
                <a:solidFill>
                  <a:srgbClr val="F1F5F3"/>
                </a:solidFill>
                <a:latin typeface="Consolas"/>
              </a:defRPr>
            </a:pPr>
            <a:r>
              <a:t>emitted = set(re.findall(r"\d+\.?\d*", response["summary"]))</a:t>
            </a:r>
          </a:p>
          <a:p>
            <a:pPr algn="l">
              <a:lnSpc>
                <a:spcPct val="135000"/>
              </a:lnSpc>
              <a:defRPr sz="1100" b="0" i="0">
                <a:solidFill>
                  <a:srgbClr val="F1F5F3"/>
                </a:solidFill>
                <a:latin typeface="Consolas"/>
              </a:defRPr>
            </a:pPr>
            <a:r>
              <a:t>allowed = {f"{row.area_ha:.1f}", f"{row.ndvi:.2f}", f"{row.ndmi:.2f}"}</a:t>
            </a:r>
          </a:p>
          <a:p>
            <a:pPr algn="l">
              <a:lnSpc>
                <a:spcPct val="135000"/>
              </a:lnSpc>
              <a:defRPr sz="1100" b="0" i="0">
                <a:solidFill>
                  <a:srgbClr val="F1F5F3"/>
                </a:solidFill>
                <a:latin typeface="Consolas"/>
              </a:defRPr>
            </a:pPr>
            <a:r>
              <a:t>status = "ok" if emitted &lt;= allowed else "unverified_number"</a:t>
            </a:r>
          </a:p>
        </p:txBody>
      </p:sp>
      <p:sp>
        <p:nvSpPr>
          <p:cNvPr id="9" name="TextBox 8"/>
          <p:cNvSpPr txBox="1"/>
          <p:nvPr/>
        </p:nvSpPr>
        <p:spPr>
          <a:xfrm>
            <a:off x="822960" y="5817870"/>
            <a:ext cx="10332720" cy="822960"/>
          </a:xfrm>
          <a:prstGeom prst="rect">
            <a:avLst/>
          </a:prstGeom>
          <a:noFill/>
        </p:spPr>
        <p:txBody>
          <a:bodyPr wrap="square" lIns="0" rIns="0" tIns="0" bIns="0">
            <a:spAutoFit/>
          </a:bodyPr>
          <a:lstStyle/>
          <a:p>
            <a:pPr algn="l">
              <a:lnSpc>
                <a:spcPct val="125000"/>
              </a:lnSpc>
              <a:defRPr sz="1350" b="0" i="0">
                <a:solidFill>
                  <a:srgbClr val="9CAFA8"/>
                </a:solidFill>
                <a:latin typeface="Segoe UI"/>
              </a:defRPr>
            </a:pPr>
            <a:r>
              <a:t>additionalProperties False stops invented fields. The regex guard stops invented numbers. Neither is clever, and that is the point.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2:20  ·  30 MIN</a:t>
            </a:r>
          </a:p>
        </p:txBody>
      </p:sp>
      <p:pic>
        <p:nvPicPr>
          <p:cNvPr id="4" name="Picture 3" descr="notebook_e3b341.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24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Hands-on 3: enrich, then break it on purpose</a:t>
            </a:r>
          </a:p>
        </p:txBody>
      </p:sp>
      <p:sp>
        <p:nvSpPr>
          <p:cNvPr id="7" name="Oval 6"/>
          <p:cNvSpPr/>
          <p:nvPr/>
        </p:nvSpPr>
        <p:spPr>
          <a:xfrm>
            <a:off x="822960" y="2148839"/>
            <a:ext cx="402336" cy="402336"/>
          </a:xfrm>
          <a:prstGeom prst="ellipse">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1</a:t>
            </a:r>
          </a:p>
        </p:txBody>
      </p:sp>
      <p:sp>
        <p:nvSpPr>
          <p:cNvPr id="8" name="TextBox 7"/>
          <p:cNvSpPr txBox="1"/>
          <p:nvPr/>
        </p:nvSpPr>
        <p:spPr>
          <a:xfrm>
            <a:off x="1426464" y="2130551"/>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Build the prompt from a source row</a:t>
            </a:r>
          </a:p>
        </p:txBody>
      </p:sp>
      <p:sp>
        <p:nvSpPr>
          <p:cNvPr id="9" name="TextBox 8"/>
          <p:cNvSpPr txBox="1"/>
          <p:nvPr/>
        </p:nvSpPr>
        <p:spPr>
          <a:xfrm>
            <a:off x="1426464" y="2441447"/>
            <a:ext cx="7863840" cy="566928"/>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Pass only pre-computed values. Forbid new numbers explicitly in the system prompt.</a:t>
            </a:r>
          </a:p>
        </p:txBody>
      </p:sp>
      <p:sp>
        <p:nvSpPr>
          <p:cNvPr id="10" name="TextBox 9"/>
          <p:cNvSpPr txBox="1"/>
          <p:nvPr/>
        </p:nvSpPr>
        <p:spPr>
          <a:xfrm>
            <a:off x="9357055" y="2167127"/>
            <a:ext cx="2011680" cy="365760"/>
          </a:xfrm>
          <a:prstGeom prst="rect">
            <a:avLst/>
          </a:prstGeom>
          <a:noFill/>
        </p:spPr>
        <p:txBody>
          <a:bodyPr wrap="square" lIns="0" rIns="0" tIns="0" bIns="0">
            <a:spAutoFit/>
          </a:bodyPr>
          <a:lstStyle/>
          <a:p>
            <a:pPr algn="r">
              <a:lnSpc>
                <a:spcPct val="100000"/>
              </a:lnSpc>
              <a:defRPr sz="1300" b="1" i="0">
                <a:solidFill>
                  <a:srgbClr val="E3B341"/>
                </a:solidFill>
                <a:latin typeface="Segoe UI"/>
              </a:defRPr>
            </a:pPr>
            <a:r>
              <a:t>8 min</a:t>
            </a:r>
          </a:p>
        </p:txBody>
      </p:sp>
      <p:sp>
        <p:nvSpPr>
          <p:cNvPr id="11" name="Oval 10"/>
          <p:cNvSpPr/>
          <p:nvPr/>
        </p:nvSpPr>
        <p:spPr>
          <a:xfrm>
            <a:off x="822960" y="3081527"/>
            <a:ext cx="402336" cy="402336"/>
          </a:xfrm>
          <a:prstGeom prst="ellipse">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2</a:t>
            </a:r>
          </a:p>
        </p:txBody>
      </p:sp>
      <p:sp>
        <p:nvSpPr>
          <p:cNvPr id="12" name="TextBox 11"/>
          <p:cNvSpPr txBox="1"/>
          <p:nvPr/>
        </p:nvSpPr>
        <p:spPr>
          <a:xfrm>
            <a:off x="1426464" y="3063239"/>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Constrain the response</a:t>
            </a:r>
          </a:p>
        </p:txBody>
      </p:sp>
      <p:sp>
        <p:nvSpPr>
          <p:cNvPr id="13" name="TextBox 12"/>
          <p:cNvSpPr txBox="1"/>
          <p:nvPr/>
        </p:nvSpPr>
        <p:spPr>
          <a:xfrm>
            <a:off x="1426464" y="3374135"/>
            <a:ext cx="7863840" cy="566928"/>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JSON schema, additionalProperties false, enums on anything categorical.</a:t>
            </a:r>
          </a:p>
        </p:txBody>
      </p:sp>
      <p:sp>
        <p:nvSpPr>
          <p:cNvPr id="14" name="TextBox 13"/>
          <p:cNvSpPr txBox="1"/>
          <p:nvPr/>
        </p:nvSpPr>
        <p:spPr>
          <a:xfrm>
            <a:off x="9357055" y="3099815"/>
            <a:ext cx="2011680" cy="365760"/>
          </a:xfrm>
          <a:prstGeom prst="rect">
            <a:avLst/>
          </a:prstGeom>
          <a:noFill/>
        </p:spPr>
        <p:txBody>
          <a:bodyPr wrap="square" lIns="0" rIns="0" tIns="0" bIns="0">
            <a:spAutoFit/>
          </a:bodyPr>
          <a:lstStyle/>
          <a:p>
            <a:pPr algn="r">
              <a:lnSpc>
                <a:spcPct val="100000"/>
              </a:lnSpc>
              <a:defRPr sz="1300" b="1" i="0">
                <a:solidFill>
                  <a:srgbClr val="E3B341"/>
                </a:solidFill>
                <a:latin typeface="Segoe UI"/>
              </a:defRPr>
            </a:pPr>
            <a:r>
              <a:t>7 min</a:t>
            </a:r>
          </a:p>
        </p:txBody>
      </p:sp>
      <p:sp>
        <p:nvSpPr>
          <p:cNvPr id="15" name="Oval 14"/>
          <p:cNvSpPr/>
          <p:nvPr/>
        </p:nvSpPr>
        <p:spPr>
          <a:xfrm>
            <a:off x="822960" y="4014215"/>
            <a:ext cx="402336" cy="402336"/>
          </a:xfrm>
          <a:prstGeom prst="ellipse">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3</a:t>
            </a:r>
          </a:p>
        </p:txBody>
      </p:sp>
      <p:sp>
        <p:nvSpPr>
          <p:cNvPr id="16" name="TextBox 15"/>
          <p:cNvSpPr txBox="1"/>
          <p:nvPr/>
        </p:nvSpPr>
        <p:spPr>
          <a:xfrm>
            <a:off x="1426464" y="3995927"/>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Implement the numeric guard</a:t>
            </a:r>
          </a:p>
        </p:txBody>
      </p:sp>
      <p:sp>
        <p:nvSpPr>
          <p:cNvPr id="17" name="TextBox 16"/>
          <p:cNvSpPr txBox="1"/>
          <p:nvPr/>
        </p:nvSpPr>
        <p:spPr>
          <a:xfrm>
            <a:off x="1426464" y="4306824"/>
            <a:ext cx="7863840" cy="566928"/>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Extract every number from the narrative, compare against the source row, set validation_status.</a:t>
            </a:r>
          </a:p>
        </p:txBody>
      </p:sp>
      <p:sp>
        <p:nvSpPr>
          <p:cNvPr id="18" name="TextBox 17"/>
          <p:cNvSpPr txBox="1"/>
          <p:nvPr/>
        </p:nvSpPr>
        <p:spPr>
          <a:xfrm>
            <a:off x="9357055" y="4032503"/>
            <a:ext cx="2011680" cy="365760"/>
          </a:xfrm>
          <a:prstGeom prst="rect">
            <a:avLst/>
          </a:prstGeom>
          <a:noFill/>
        </p:spPr>
        <p:txBody>
          <a:bodyPr wrap="square" lIns="0" rIns="0" tIns="0" bIns="0">
            <a:spAutoFit/>
          </a:bodyPr>
          <a:lstStyle/>
          <a:p>
            <a:pPr algn="r">
              <a:lnSpc>
                <a:spcPct val="100000"/>
              </a:lnSpc>
              <a:defRPr sz="1300" b="1" i="0">
                <a:solidFill>
                  <a:srgbClr val="E3B341"/>
                </a:solidFill>
                <a:latin typeface="Segoe UI"/>
              </a:defRPr>
            </a:pPr>
            <a:r>
              <a:t>8 min</a:t>
            </a:r>
          </a:p>
        </p:txBody>
      </p:sp>
      <p:sp>
        <p:nvSpPr>
          <p:cNvPr id="19" name="Oval 18"/>
          <p:cNvSpPr/>
          <p:nvPr/>
        </p:nvSpPr>
        <p:spPr>
          <a:xfrm>
            <a:off x="822960" y="4946903"/>
            <a:ext cx="402336" cy="402336"/>
          </a:xfrm>
          <a:prstGeom prst="ellipse">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4</a:t>
            </a:r>
          </a:p>
        </p:txBody>
      </p:sp>
      <p:sp>
        <p:nvSpPr>
          <p:cNvPr id="20" name="TextBox 19"/>
          <p:cNvSpPr txBox="1"/>
          <p:nvPr/>
        </p:nvSpPr>
        <p:spPr>
          <a:xfrm>
            <a:off x="1426464" y="4928615"/>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Break the guard deliberately</a:t>
            </a:r>
          </a:p>
        </p:txBody>
      </p:sp>
      <p:sp>
        <p:nvSpPr>
          <p:cNvPr id="21" name="TextBox 20"/>
          <p:cNvSpPr txBox="1"/>
          <p:nvPr/>
        </p:nvSpPr>
        <p:spPr>
          <a:xfrm>
            <a:off x="1426464" y="5239512"/>
            <a:ext cx="7863840" cy="566928"/>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Remove it, re-run, and find the rows that now carry a number nobody computed.</a:t>
            </a:r>
          </a:p>
        </p:txBody>
      </p:sp>
      <p:sp>
        <p:nvSpPr>
          <p:cNvPr id="22" name="TextBox 21"/>
          <p:cNvSpPr txBox="1"/>
          <p:nvPr/>
        </p:nvSpPr>
        <p:spPr>
          <a:xfrm>
            <a:off x="9357055" y="4965191"/>
            <a:ext cx="2011680" cy="365760"/>
          </a:xfrm>
          <a:prstGeom prst="rect">
            <a:avLst/>
          </a:prstGeom>
          <a:noFill/>
        </p:spPr>
        <p:txBody>
          <a:bodyPr wrap="square" lIns="0" rIns="0" tIns="0" bIns="0">
            <a:spAutoFit/>
          </a:bodyPr>
          <a:lstStyle/>
          <a:p>
            <a:pPr algn="r">
              <a:lnSpc>
                <a:spcPct val="100000"/>
              </a:lnSpc>
              <a:defRPr sz="1300" b="1" i="0">
                <a:solidFill>
                  <a:srgbClr val="E3B341"/>
                </a:solidFill>
                <a:latin typeface="Segoe UI"/>
              </a:defRPr>
            </a:pPr>
            <a:r>
              <a:t>7 min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1F1B"/>
        </a:solidFill>
        <a:effectLst/>
      </p:bgPr>
    </p:bg>
    <p:spTree>
      <p:nvGrpSpPr>
        <p:cNvPr id="1" name=""/>
        <p:cNvGrpSpPr/>
        <p:nvPr/>
      </p:nvGrpSpPr>
      <p:grpSpPr/>
      <p:pic>
        <p:nvPicPr>
          <p:cNvPr id="2" name="Picture 1" descr="chart_389ff7.png"/>
          <p:cNvPicPr>
            <a:picLocks noChangeAspect="1"/>
          </p:cNvPicPr>
          <p:nvPr/>
        </p:nvPicPr>
        <p:blipFill>
          <a:blip r:embed="rId2"/>
          <a:stretch>
            <a:fillRect/>
          </a:stretch>
        </p:blipFill>
        <p:spPr>
          <a:xfrm>
            <a:off x="822960" y="2148840"/>
            <a:ext cx="777240" cy="777240"/>
          </a:xfrm>
          <a:prstGeom prst="rect">
            <a:avLst/>
          </a:prstGeom>
        </p:spPr>
      </p:pic>
      <p:sp>
        <p:nvSpPr>
          <p:cNvPr id="3" name="Rectangle 2"/>
          <p:cNvSpPr/>
          <p:nvPr/>
        </p:nvSpPr>
        <p:spPr>
          <a:xfrm>
            <a:off x="822960" y="3154680"/>
            <a:ext cx="1280160" cy="68580"/>
          </a:xfrm>
          <a:prstGeom prst="rect">
            <a:avLst/>
          </a:prstGeom>
          <a:solidFill>
            <a:srgbClr val="389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2743200" cy="365760"/>
          </a:xfrm>
          <a:prstGeom prst="rect">
            <a:avLst/>
          </a:prstGeom>
          <a:noFill/>
        </p:spPr>
        <p:txBody>
          <a:bodyPr wrap="square" lIns="0" rIns="0" tIns="0" bIns="0">
            <a:spAutoFit/>
          </a:bodyPr>
          <a:lstStyle/>
          <a:p>
            <a:pPr algn="l">
              <a:lnSpc>
                <a:spcPct val="100000"/>
              </a:lnSpc>
              <a:defRPr sz="1100" b="1" i="0">
                <a:solidFill>
                  <a:srgbClr val="647C74"/>
                </a:solidFill>
                <a:latin typeface="Segoe UI"/>
              </a:defRPr>
            </a:pPr>
            <a:r>
              <a:t>BLOCK 4</a:t>
            </a:r>
          </a:p>
        </p:txBody>
      </p:sp>
      <p:sp>
        <p:nvSpPr>
          <p:cNvPr id="5" name="TextBox 4"/>
          <p:cNvSpPr txBox="1"/>
          <p:nvPr/>
        </p:nvSpPr>
        <p:spPr>
          <a:xfrm>
            <a:off x="822960" y="3401568"/>
            <a:ext cx="9601200" cy="914400"/>
          </a:xfrm>
          <a:prstGeom prst="rect">
            <a:avLst/>
          </a:prstGeom>
          <a:noFill/>
        </p:spPr>
        <p:txBody>
          <a:bodyPr wrap="square" lIns="0" rIns="0" tIns="0" bIns="0">
            <a:spAutoFit/>
          </a:bodyPr>
          <a:lstStyle/>
          <a:p>
            <a:pPr algn="l">
              <a:lnSpc>
                <a:spcPct val="100000"/>
              </a:lnSpc>
              <a:defRPr sz="3400" b="1" i="0">
                <a:solidFill>
                  <a:srgbClr val="F1F5F3"/>
                </a:solidFill>
                <a:latin typeface="Segoe UI"/>
              </a:defRPr>
            </a:pPr>
            <a:r>
              <a:t>Publish it</a:t>
            </a:r>
          </a:p>
        </p:txBody>
      </p:sp>
      <p:sp>
        <p:nvSpPr>
          <p:cNvPr id="6" name="TextBox 5"/>
          <p:cNvSpPr txBox="1"/>
          <p:nvPr/>
        </p:nvSpPr>
        <p:spPr>
          <a:xfrm>
            <a:off x="822960" y="4434840"/>
            <a:ext cx="9601200" cy="822960"/>
          </a:xfrm>
          <a:prstGeom prst="rect">
            <a:avLst/>
          </a:prstGeom>
          <a:noFill/>
        </p:spPr>
        <p:txBody>
          <a:bodyPr wrap="square" lIns="0" rIns="0" tIns="0" bIns="0">
            <a:spAutoFit/>
          </a:bodyPr>
          <a:lstStyle/>
          <a:p>
            <a:pPr algn="l">
              <a:lnSpc>
                <a:spcPct val="125000"/>
              </a:lnSpc>
              <a:defRPr sz="1500" b="0" i="0">
                <a:solidFill>
                  <a:srgbClr val="9CAFA8"/>
                </a:solidFill>
                <a:latin typeface="Segoe UI"/>
              </a:defRPr>
            </a:pPr>
            <a:r>
              <a:t>Star schema, Direct Lake, and a map a planner can actually filter</a:t>
            </a:r>
          </a:p>
        </p:txBody>
      </p:sp>
      <p:sp>
        <p:nvSpPr>
          <p:cNvPr id="7" name="TextBox 6"/>
          <p:cNvSpPr txBox="1"/>
          <p:nvPr/>
        </p:nvSpPr>
        <p:spPr>
          <a:xfrm>
            <a:off x="8625535" y="1691640"/>
            <a:ext cx="2743200" cy="365760"/>
          </a:xfrm>
          <a:prstGeom prst="rect">
            <a:avLst/>
          </a:prstGeom>
          <a:noFill/>
        </p:spPr>
        <p:txBody>
          <a:bodyPr wrap="square" lIns="0" rIns="0" tIns="0" bIns="0">
            <a:spAutoFit/>
          </a:bodyPr>
          <a:lstStyle/>
          <a:p>
            <a:pPr algn="r">
              <a:lnSpc>
                <a:spcPct val="100000"/>
              </a:lnSpc>
              <a:defRPr sz="1200" b="1" i="0">
                <a:solidFill>
                  <a:srgbClr val="389FF7"/>
                </a:solidFill>
                <a:latin typeface="Segoe UI"/>
              </a:defRPr>
            </a:pPr>
            <a:r>
              <a:t>45 min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4</a:t>
            </a:r>
          </a:p>
        </p:txBody>
      </p:sp>
      <p:pic>
        <p:nvPicPr>
          <p:cNvPr id="4" name="Picture 3" descr="delta_3fc17e.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25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Direct Lake, against the two options it replaces</a:t>
            </a:r>
          </a:p>
        </p:txBody>
      </p:sp>
      <p:sp>
        <p:nvSpPr>
          <p:cNvPr id="7" name="Rounded Rectangle 6"/>
          <p:cNvSpPr/>
          <p:nvPr/>
        </p:nvSpPr>
        <p:spPr>
          <a:xfrm>
            <a:off x="822960" y="1783080"/>
            <a:ext cx="5090007" cy="324612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15568" y="2048256"/>
            <a:ext cx="640080" cy="45720"/>
          </a:xfrm>
          <a:prstGeom prst="rect">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2212848"/>
            <a:ext cx="4504791" cy="411480"/>
          </a:xfrm>
          <a:prstGeom prst="rect">
            <a:avLst/>
          </a:prstGeom>
          <a:noFill/>
        </p:spPr>
        <p:txBody>
          <a:bodyPr wrap="square" lIns="0" rIns="0" tIns="0" bIns="0">
            <a:spAutoFit/>
          </a:bodyPr>
          <a:lstStyle/>
          <a:p>
            <a:pPr algn="l">
              <a:lnSpc>
                <a:spcPct val="100000"/>
              </a:lnSpc>
              <a:defRPr sz="1700" b="1" i="0">
                <a:solidFill>
                  <a:srgbClr val="3FC17E"/>
                </a:solidFill>
                <a:latin typeface="Segoe UI"/>
              </a:defRPr>
            </a:pPr>
            <a:r>
              <a:t>Direct Lake</a:t>
            </a:r>
          </a:p>
        </p:txBody>
      </p:sp>
      <p:sp>
        <p:nvSpPr>
          <p:cNvPr id="10" name="TextBox 9"/>
          <p:cNvSpPr txBox="1"/>
          <p:nvPr/>
        </p:nvSpPr>
        <p:spPr>
          <a:xfrm>
            <a:off x="1115568" y="2788920"/>
            <a:ext cx="4504791" cy="2103120"/>
          </a:xfrm>
          <a:prstGeom prst="rect">
            <a:avLst/>
          </a:prstGeom>
          <a:noFill/>
        </p:spPr>
        <p:txBody>
          <a:bodyPr wrap="square" lIns="0" rIns="0">
            <a:spAutoFit/>
          </a:bodyPr>
          <a:lstStyle/>
          <a:p>
            <a:pPr>
              <a:lnSpc>
                <a:spcPct val="115000"/>
              </a:lnSpc>
              <a:spcBef>
                <a:spcPts val="0"/>
              </a:spcBef>
            </a:pPr>
            <a:r>
              <a:rPr sz="1350" b="1">
                <a:solidFill>
                  <a:srgbClr val="3FC17E"/>
                </a:solidFill>
                <a:latin typeface="Segoe UI"/>
              </a:rPr>
              <a:t>✓  </a:t>
            </a:r>
            <a:r>
              <a:rPr sz="1350">
                <a:solidFill>
                  <a:srgbClr val="F1F5F3"/>
                </a:solidFill>
                <a:latin typeface="Segoe UI"/>
              </a:rPr>
              <a:t>The semantic model reads the Delta parquet files directly</a:t>
            </a:r>
          </a:p>
          <a:p>
            <a:pPr>
              <a:lnSpc>
                <a:spcPct val="115000"/>
              </a:lnSpc>
              <a:spcBef>
                <a:spcPts val="1300"/>
              </a:spcBef>
            </a:pPr>
            <a:r>
              <a:rPr sz="1350" b="1">
                <a:solidFill>
                  <a:srgbClr val="3FC17E"/>
                </a:solidFill>
                <a:latin typeface="Segoe UI"/>
              </a:rPr>
              <a:t>✓  </a:t>
            </a:r>
            <a:r>
              <a:rPr sz="1350">
                <a:solidFill>
                  <a:srgbClr val="F1F5F3"/>
                </a:solidFill>
                <a:latin typeface="Segoe UI"/>
              </a:rPr>
              <a:t>No import, so no refresh window and no duplicated copy</a:t>
            </a:r>
          </a:p>
          <a:p>
            <a:pPr>
              <a:lnSpc>
                <a:spcPct val="115000"/>
              </a:lnSpc>
              <a:spcBef>
                <a:spcPts val="1300"/>
              </a:spcBef>
            </a:pPr>
            <a:r>
              <a:rPr sz="1350" b="1">
                <a:solidFill>
                  <a:srgbClr val="3FC17E"/>
                </a:solidFill>
                <a:latin typeface="Segoe UI"/>
              </a:rPr>
              <a:t>✓  </a:t>
            </a:r>
            <a:r>
              <a:rPr sz="1350">
                <a:solidFill>
                  <a:srgbClr val="F1F5F3"/>
                </a:solidFill>
                <a:latin typeface="Segoe UI"/>
              </a:rPr>
              <a:t>No per-visual round trip to a database engine</a:t>
            </a:r>
          </a:p>
          <a:p>
            <a:pPr>
              <a:lnSpc>
                <a:spcPct val="115000"/>
              </a:lnSpc>
              <a:spcBef>
                <a:spcPts val="1300"/>
              </a:spcBef>
            </a:pPr>
            <a:r>
              <a:rPr sz="1350" b="1">
                <a:solidFill>
                  <a:srgbClr val="3FC17E"/>
                </a:solidFill>
                <a:latin typeface="Segoe UI"/>
              </a:rPr>
              <a:t>✓  </a:t>
            </a:r>
            <a:r>
              <a:rPr sz="1350">
                <a:solidFill>
                  <a:srgbClr val="F1F5F3"/>
                </a:solidFill>
                <a:latin typeface="Segoe UI"/>
              </a:rPr>
              <a:t>New data is visible as soon as the Delta commit lands</a:t>
            </a:r>
          </a:p>
          <a:p>
            <a:pPr>
              <a:lnSpc>
                <a:spcPct val="115000"/>
              </a:lnSpc>
              <a:spcBef>
                <a:spcPts val="1300"/>
              </a:spcBef>
            </a:pPr>
            <a:r>
              <a:rPr sz="1350" b="1">
                <a:solidFill>
                  <a:srgbClr val="3FC17E"/>
                </a:solidFill>
                <a:latin typeface="Segoe UI"/>
              </a:rPr>
              <a:t>✓  </a:t>
            </a:r>
            <a:r>
              <a:rPr sz="1350">
                <a:solidFill>
                  <a:srgbClr val="F1F5F3"/>
                </a:solidFill>
                <a:latin typeface="Segoe UI"/>
              </a:rPr>
              <a:t>Memory-resident performance without an import schedule</a:t>
            </a:r>
          </a:p>
        </p:txBody>
      </p:sp>
      <p:sp>
        <p:nvSpPr>
          <p:cNvPr id="11" name="Rounded Rectangle 10"/>
          <p:cNvSpPr/>
          <p:nvPr/>
        </p:nvSpPr>
        <p:spPr>
          <a:xfrm>
            <a:off x="6278727" y="1783080"/>
            <a:ext cx="5090007" cy="324612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71335" y="2048256"/>
            <a:ext cx="640080" cy="45720"/>
          </a:xfrm>
          <a:prstGeom prst="rect">
            <a:avLst/>
          </a:prstGeom>
          <a:solidFill>
            <a:srgbClr val="C7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71335" y="2212848"/>
            <a:ext cx="4504791" cy="411480"/>
          </a:xfrm>
          <a:prstGeom prst="rect">
            <a:avLst/>
          </a:prstGeom>
          <a:noFill/>
        </p:spPr>
        <p:txBody>
          <a:bodyPr wrap="square" lIns="0" rIns="0" tIns="0" bIns="0">
            <a:spAutoFit/>
          </a:bodyPr>
          <a:lstStyle/>
          <a:p>
            <a:pPr algn="l">
              <a:lnSpc>
                <a:spcPct val="100000"/>
              </a:lnSpc>
              <a:defRPr sz="1700" b="1" i="0">
                <a:solidFill>
                  <a:srgbClr val="C77A2B"/>
                </a:solidFill>
                <a:latin typeface="Segoe UI"/>
              </a:defRPr>
            </a:pPr>
            <a:r>
              <a:t>Import and DirectQuery</a:t>
            </a:r>
          </a:p>
        </p:txBody>
      </p:sp>
      <p:sp>
        <p:nvSpPr>
          <p:cNvPr id="14" name="TextBox 13"/>
          <p:cNvSpPr txBox="1"/>
          <p:nvPr/>
        </p:nvSpPr>
        <p:spPr>
          <a:xfrm>
            <a:off x="6571335" y="2788920"/>
            <a:ext cx="4504791" cy="2103120"/>
          </a:xfrm>
          <a:prstGeom prst="rect">
            <a:avLst/>
          </a:prstGeom>
          <a:noFill/>
        </p:spPr>
        <p:txBody>
          <a:bodyPr wrap="square" lIns="0" rIns="0">
            <a:spAutoFit/>
          </a:bodyPr>
          <a:lstStyle/>
          <a:p>
            <a:pPr>
              <a:lnSpc>
                <a:spcPct val="115000"/>
              </a:lnSpc>
              <a:spcBef>
                <a:spcPts val="0"/>
              </a:spcBef>
            </a:pPr>
            <a:r>
              <a:rPr sz="1350" b="1">
                <a:solidFill>
                  <a:srgbClr val="C77A2B"/>
                </a:solidFill>
                <a:latin typeface="Segoe UI"/>
              </a:rPr>
              <a:t>✗  </a:t>
            </a:r>
            <a:r>
              <a:rPr sz="1350">
                <a:solidFill>
                  <a:srgbClr val="F1F5F3"/>
                </a:solidFill>
                <a:latin typeface="Segoe UI"/>
              </a:rPr>
              <a:t>Import: a second copy, a refresh window, and a staleness question</a:t>
            </a:r>
          </a:p>
          <a:p>
            <a:pPr>
              <a:lnSpc>
                <a:spcPct val="115000"/>
              </a:lnSpc>
              <a:spcBef>
                <a:spcPts val="1300"/>
              </a:spcBef>
            </a:pPr>
            <a:r>
              <a:rPr sz="1350" b="1">
                <a:solidFill>
                  <a:srgbClr val="C77A2B"/>
                </a:solidFill>
                <a:latin typeface="Segoe UI"/>
              </a:rPr>
              <a:t>✗  </a:t>
            </a:r>
            <a:r>
              <a:rPr sz="1350">
                <a:solidFill>
                  <a:srgbClr val="F1F5F3"/>
                </a:solidFill>
                <a:latin typeface="Segoe UI"/>
              </a:rPr>
              <a:t>Import: refresh duration grows with history, until it does not fit</a:t>
            </a:r>
          </a:p>
          <a:p>
            <a:pPr>
              <a:lnSpc>
                <a:spcPct val="115000"/>
              </a:lnSpc>
              <a:spcBef>
                <a:spcPts val="1300"/>
              </a:spcBef>
            </a:pPr>
            <a:r>
              <a:rPr sz="1350" b="1">
                <a:solidFill>
                  <a:srgbClr val="C77A2B"/>
                </a:solidFill>
                <a:latin typeface="Segoe UI"/>
              </a:rPr>
              <a:t>✗  </a:t>
            </a:r>
            <a:r>
              <a:rPr sz="1350">
                <a:solidFill>
                  <a:srgbClr val="F1F5F3"/>
                </a:solidFill>
                <a:latin typeface="Segoe UI"/>
              </a:rPr>
              <a:t>DirectQuery: a query per visual, at the mercy of source load</a:t>
            </a:r>
          </a:p>
          <a:p>
            <a:pPr>
              <a:lnSpc>
                <a:spcPct val="115000"/>
              </a:lnSpc>
              <a:spcBef>
                <a:spcPts val="1300"/>
              </a:spcBef>
            </a:pPr>
            <a:r>
              <a:rPr sz="1350" b="1">
                <a:solidFill>
                  <a:srgbClr val="C77A2B"/>
                </a:solidFill>
                <a:latin typeface="Segoe UI"/>
              </a:rPr>
              <a:t>✗  </a:t>
            </a:r>
            <a:r>
              <a:rPr sz="1350">
                <a:solidFill>
                  <a:srgbClr val="F1F5F3"/>
                </a:solidFill>
                <a:latin typeface="Segoe UI"/>
              </a:rPr>
              <a:t>DirectQuery: interactivity dies as concurrency rises</a:t>
            </a:r>
          </a:p>
          <a:p>
            <a:pPr>
              <a:lnSpc>
                <a:spcPct val="115000"/>
              </a:lnSpc>
              <a:spcBef>
                <a:spcPts val="1300"/>
              </a:spcBef>
            </a:pPr>
            <a:r>
              <a:rPr sz="1350" b="1">
                <a:solidFill>
                  <a:srgbClr val="C77A2B"/>
                </a:solidFill>
                <a:latin typeface="Segoe UI"/>
              </a:rPr>
              <a:t>✗  </a:t>
            </a:r>
            <a:r>
              <a:rPr sz="1350">
                <a:solidFill>
                  <a:srgbClr val="F1F5F3"/>
                </a:solidFill>
                <a:latin typeface="Segoe UI"/>
              </a:rPr>
              <a:t>Both: someone must own a refresh schedule forever</a:t>
            </a:r>
          </a:p>
        </p:txBody>
      </p:sp>
      <p:sp>
        <p:nvSpPr>
          <p:cNvPr id="15" name="Rounded Rectangle 14"/>
          <p:cNvSpPr/>
          <p:nvPr/>
        </p:nvSpPr>
        <p:spPr>
          <a:xfrm>
            <a:off x="822960" y="5623560"/>
            <a:ext cx="10543032" cy="713232"/>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5815584"/>
            <a:ext cx="9966960" cy="457200"/>
          </a:xfrm>
          <a:prstGeom prst="rect">
            <a:avLst/>
          </a:prstGeom>
          <a:noFill/>
        </p:spPr>
        <p:txBody>
          <a:bodyPr wrap="square" lIns="0" rIns="0" tIns="0" bIns="0">
            <a:spAutoFit/>
          </a:bodyPr>
          <a:lstStyle/>
          <a:p>
            <a:pPr algn="l">
              <a:lnSpc>
                <a:spcPct val="100000"/>
              </a:lnSpc>
              <a:defRPr sz="1350" b="0" i="0">
                <a:solidFill>
                  <a:srgbClr val="F59E0B"/>
                </a:solidFill>
                <a:latin typeface="Segoe UI"/>
              </a:defRPr>
            </a:pPr>
            <a:r>
              <a:t>Direct Lake falls back to DirectQuery silently. Knowing the triggers is the whole skill.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4</a:t>
            </a:r>
          </a:p>
        </p:txBody>
      </p:sp>
      <p:pic>
        <p:nvPicPr>
          <p:cNvPr id="4" name="Picture 3" descr="warning_f59e0b.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26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What causes a silent fallback to DirectQuery</a:t>
            </a:r>
          </a:p>
        </p:txBody>
      </p:sp>
      <p:sp>
        <p:nvSpPr>
          <p:cNvPr id="7" name="TextBox 6"/>
          <p:cNvSpPr txBox="1"/>
          <p:nvPr/>
        </p:nvSpPr>
        <p:spPr>
          <a:xfrm>
            <a:off x="822960" y="1828800"/>
            <a:ext cx="2206345" cy="310896"/>
          </a:xfrm>
          <a:prstGeom prst="rect">
            <a:avLst/>
          </a:prstGeom>
          <a:noFill/>
        </p:spPr>
        <p:txBody>
          <a:bodyPr wrap="square" lIns="0" rIns="0" tIns="0" bIns="0">
            <a:spAutoFit/>
          </a:bodyPr>
          <a:lstStyle/>
          <a:p>
            <a:pPr algn="l">
              <a:lnSpc>
                <a:spcPct val="100000"/>
              </a:lnSpc>
              <a:defRPr sz="1050" b="1" i="0">
                <a:solidFill>
                  <a:srgbClr val="F59E0B"/>
                </a:solidFill>
                <a:latin typeface="Segoe UI"/>
              </a:defRPr>
            </a:pPr>
            <a:r>
              <a:t>TRIGGER</a:t>
            </a:r>
          </a:p>
        </p:txBody>
      </p:sp>
      <p:sp>
        <p:nvSpPr>
          <p:cNvPr id="8" name="TextBox 7"/>
          <p:cNvSpPr txBox="1"/>
          <p:nvPr/>
        </p:nvSpPr>
        <p:spPr>
          <a:xfrm>
            <a:off x="3166465" y="1828800"/>
            <a:ext cx="4432675" cy="310896"/>
          </a:xfrm>
          <a:prstGeom prst="rect">
            <a:avLst/>
          </a:prstGeom>
          <a:noFill/>
        </p:spPr>
        <p:txBody>
          <a:bodyPr wrap="square" lIns="0" rIns="0" tIns="0" bIns="0">
            <a:spAutoFit/>
          </a:bodyPr>
          <a:lstStyle/>
          <a:p>
            <a:pPr algn="l">
              <a:lnSpc>
                <a:spcPct val="100000"/>
              </a:lnSpc>
              <a:defRPr sz="1050" b="1" i="0">
                <a:solidFill>
                  <a:srgbClr val="F59E0B"/>
                </a:solidFill>
                <a:latin typeface="Segoe UI"/>
              </a:defRPr>
            </a:pPr>
            <a:r>
              <a:t>WHY IT HAPPENS</a:t>
            </a:r>
          </a:p>
        </p:txBody>
      </p:sp>
      <p:sp>
        <p:nvSpPr>
          <p:cNvPr id="9" name="TextBox 8"/>
          <p:cNvSpPr txBox="1"/>
          <p:nvPr/>
        </p:nvSpPr>
        <p:spPr>
          <a:xfrm>
            <a:off x="7736301" y="1828800"/>
            <a:ext cx="3495273" cy="310896"/>
          </a:xfrm>
          <a:prstGeom prst="rect">
            <a:avLst/>
          </a:prstGeom>
          <a:noFill/>
        </p:spPr>
        <p:txBody>
          <a:bodyPr wrap="square" lIns="0" rIns="0" tIns="0" bIns="0">
            <a:spAutoFit/>
          </a:bodyPr>
          <a:lstStyle/>
          <a:p>
            <a:pPr algn="l">
              <a:lnSpc>
                <a:spcPct val="100000"/>
              </a:lnSpc>
              <a:defRPr sz="1050" b="1" i="0">
                <a:solidFill>
                  <a:srgbClr val="F59E0B"/>
                </a:solidFill>
                <a:latin typeface="Segoe UI"/>
              </a:defRPr>
            </a:pPr>
            <a:r>
              <a:t>WHAT TO DO INSTEAD</a:t>
            </a:r>
          </a:p>
        </p:txBody>
      </p:sp>
      <p:sp>
        <p:nvSpPr>
          <p:cNvPr id="10" name="Rectangle 9"/>
          <p:cNvSpPr/>
          <p:nvPr/>
        </p:nvSpPr>
        <p:spPr>
          <a:xfrm>
            <a:off x="822960" y="2157984"/>
            <a:ext cx="10545775" cy="18288"/>
          </a:xfrm>
          <a:prstGeom prst="rect">
            <a:avLst/>
          </a:prstGeom>
          <a:solidFill>
            <a:srgbClr val="1F3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2167128"/>
            <a:ext cx="10765231" cy="618134"/>
          </a:xfrm>
          <a:prstGeom prst="rect">
            <a:avLst/>
          </a:prstGeom>
          <a:solidFill>
            <a:srgbClr val="1526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258568"/>
            <a:ext cx="2206345" cy="563270"/>
          </a:xfrm>
          <a:prstGeom prst="rect">
            <a:avLst/>
          </a:prstGeom>
          <a:noFill/>
        </p:spPr>
        <p:txBody>
          <a:bodyPr wrap="square" lIns="0" rIns="0" tIns="0" bIns="0">
            <a:spAutoFit/>
          </a:bodyPr>
          <a:lstStyle/>
          <a:p>
            <a:pPr algn="l">
              <a:lnSpc>
                <a:spcPct val="100000"/>
              </a:lnSpc>
              <a:defRPr sz="1150" b="1" i="0">
                <a:solidFill>
                  <a:srgbClr val="F1F5F3"/>
                </a:solidFill>
                <a:latin typeface="Segoe UI"/>
              </a:defRPr>
            </a:pPr>
            <a:r>
              <a:t>Calculated columns</a:t>
            </a:r>
          </a:p>
        </p:txBody>
      </p:sp>
      <p:sp>
        <p:nvSpPr>
          <p:cNvPr id="13" name="TextBox 12"/>
          <p:cNvSpPr txBox="1"/>
          <p:nvPr/>
        </p:nvSpPr>
        <p:spPr>
          <a:xfrm>
            <a:off x="3166465" y="2258568"/>
            <a:ext cx="4432675" cy="563270"/>
          </a:xfrm>
          <a:prstGeom prst="rect">
            <a:avLst/>
          </a:prstGeom>
          <a:noFill/>
        </p:spPr>
        <p:txBody>
          <a:bodyPr wrap="square" lIns="0" rIns="0" tIns="0" bIns="0">
            <a:spAutoFit/>
          </a:bodyPr>
          <a:lstStyle/>
          <a:p>
            <a:pPr algn="l">
              <a:lnSpc>
                <a:spcPct val="100000"/>
              </a:lnSpc>
              <a:defRPr sz="1150" b="0" i="0">
                <a:solidFill>
                  <a:srgbClr val="9CAFA8"/>
                </a:solidFill>
                <a:latin typeface="Segoe UI"/>
              </a:defRPr>
            </a:pPr>
            <a:r>
              <a:t>Evaluated per row at model load, which Direct Lake cannot serve from parquet</a:t>
            </a:r>
          </a:p>
        </p:txBody>
      </p:sp>
      <p:sp>
        <p:nvSpPr>
          <p:cNvPr id="14" name="TextBox 13"/>
          <p:cNvSpPr txBox="1"/>
          <p:nvPr/>
        </p:nvSpPr>
        <p:spPr>
          <a:xfrm>
            <a:off x="7736301" y="2258568"/>
            <a:ext cx="3495273" cy="563270"/>
          </a:xfrm>
          <a:prstGeom prst="rect">
            <a:avLst/>
          </a:prstGeom>
          <a:noFill/>
        </p:spPr>
        <p:txBody>
          <a:bodyPr wrap="square" lIns="0" rIns="0" tIns="0" bIns="0">
            <a:spAutoFit/>
          </a:bodyPr>
          <a:lstStyle/>
          <a:p>
            <a:pPr algn="l">
              <a:lnSpc>
                <a:spcPct val="100000"/>
              </a:lnSpc>
              <a:defRPr sz="1150" b="0" i="0">
                <a:solidFill>
                  <a:srgbClr val="9CAFA8"/>
                </a:solidFill>
                <a:latin typeface="Segoe UI"/>
              </a:defRPr>
            </a:pPr>
            <a:r>
              <a:t>Compute the column in the gold notebook</a:t>
            </a:r>
          </a:p>
        </p:txBody>
      </p:sp>
      <p:sp>
        <p:nvSpPr>
          <p:cNvPr id="15" name="TextBox 14"/>
          <p:cNvSpPr txBox="1"/>
          <p:nvPr/>
        </p:nvSpPr>
        <p:spPr>
          <a:xfrm>
            <a:off x="822960" y="2913278"/>
            <a:ext cx="2206345" cy="563270"/>
          </a:xfrm>
          <a:prstGeom prst="rect">
            <a:avLst/>
          </a:prstGeom>
          <a:noFill/>
        </p:spPr>
        <p:txBody>
          <a:bodyPr wrap="square" lIns="0" rIns="0" tIns="0" bIns="0">
            <a:spAutoFit/>
          </a:bodyPr>
          <a:lstStyle/>
          <a:p>
            <a:pPr algn="l">
              <a:lnSpc>
                <a:spcPct val="100000"/>
              </a:lnSpc>
              <a:defRPr sz="1150" b="1" i="0">
                <a:solidFill>
                  <a:srgbClr val="F1F5F3"/>
                </a:solidFill>
                <a:latin typeface="Segoe UI"/>
              </a:defRPr>
            </a:pPr>
            <a:r>
              <a:t>Complex DAX relationships</a:t>
            </a:r>
          </a:p>
        </p:txBody>
      </p:sp>
      <p:sp>
        <p:nvSpPr>
          <p:cNvPr id="16" name="TextBox 15"/>
          <p:cNvSpPr txBox="1"/>
          <p:nvPr/>
        </p:nvSpPr>
        <p:spPr>
          <a:xfrm>
            <a:off x="3166465" y="2913278"/>
            <a:ext cx="4432675" cy="563270"/>
          </a:xfrm>
          <a:prstGeom prst="rect">
            <a:avLst/>
          </a:prstGeom>
          <a:noFill/>
        </p:spPr>
        <p:txBody>
          <a:bodyPr wrap="square" lIns="0" rIns="0" tIns="0" bIns="0">
            <a:spAutoFit/>
          </a:bodyPr>
          <a:lstStyle/>
          <a:p>
            <a:pPr algn="l">
              <a:lnSpc>
                <a:spcPct val="100000"/>
              </a:lnSpc>
              <a:defRPr sz="1150" b="0" i="0">
                <a:solidFill>
                  <a:srgbClr val="9CAFA8"/>
                </a:solidFill>
                <a:latin typeface="Segoe UI"/>
              </a:defRPr>
            </a:pPr>
            <a:r>
              <a:t>Many-to-many and bidirectional filters force a query plan Direct Lake cannot satisfy</a:t>
            </a:r>
          </a:p>
        </p:txBody>
      </p:sp>
      <p:sp>
        <p:nvSpPr>
          <p:cNvPr id="17" name="TextBox 16"/>
          <p:cNvSpPr txBox="1"/>
          <p:nvPr/>
        </p:nvSpPr>
        <p:spPr>
          <a:xfrm>
            <a:off x="7736301" y="2913278"/>
            <a:ext cx="3495273" cy="563270"/>
          </a:xfrm>
          <a:prstGeom prst="rect">
            <a:avLst/>
          </a:prstGeom>
          <a:noFill/>
        </p:spPr>
        <p:txBody>
          <a:bodyPr wrap="square" lIns="0" rIns="0" tIns="0" bIns="0">
            <a:spAutoFit/>
          </a:bodyPr>
          <a:lstStyle/>
          <a:p>
            <a:pPr algn="l">
              <a:lnSpc>
                <a:spcPct val="100000"/>
              </a:lnSpc>
              <a:defRPr sz="1150" b="0" i="0">
                <a:solidFill>
                  <a:srgbClr val="9CAFA8"/>
                </a:solidFill>
                <a:latin typeface="Segoe UI"/>
              </a:defRPr>
            </a:pPr>
            <a:r>
              <a:t>Model a proper star with single-direction filters</a:t>
            </a:r>
          </a:p>
        </p:txBody>
      </p:sp>
      <p:sp>
        <p:nvSpPr>
          <p:cNvPr id="18" name="Rectangle 17"/>
          <p:cNvSpPr/>
          <p:nvPr/>
        </p:nvSpPr>
        <p:spPr>
          <a:xfrm>
            <a:off x="713232" y="3476548"/>
            <a:ext cx="10765231" cy="618134"/>
          </a:xfrm>
          <a:prstGeom prst="rect">
            <a:avLst/>
          </a:prstGeom>
          <a:solidFill>
            <a:srgbClr val="1526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567988"/>
            <a:ext cx="2206345" cy="563270"/>
          </a:xfrm>
          <a:prstGeom prst="rect">
            <a:avLst/>
          </a:prstGeom>
          <a:noFill/>
        </p:spPr>
        <p:txBody>
          <a:bodyPr wrap="square" lIns="0" rIns="0" tIns="0" bIns="0">
            <a:spAutoFit/>
          </a:bodyPr>
          <a:lstStyle/>
          <a:p>
            <a:pPr algn="l">
              <a:lnSpc>
                <a:spcPct val="100000"/>
              </a:lnSpc>
              <a:defRPr sz="1150" b="1" i="0">
                <a:solidFill>
                  <a:srgbClr val="F1F5F3"/>
                </a:solidFill>
                <a:latin typeface="Segoe UI"/>
              </a:defRPr>
            </a:pPr>
            <a:r>
              <a:t>Views over the Delta table</a:t>
            </a:r>
          </a:p>
        </p:txBody>
      </p:sp>
      <p:sp>
        <p:nvSpPr>
          <p:cNvPr id="20" name="TextBox 19"/>
          <p:cNvSpPr txBox="1"/>
          <p:nvPr/>
        </p:nvSpPr>
        <p:spPr>
          <a:xfrm>
            <a:off x="3166465" y="3567988"/>
            <a:ext cx="4432675" cy="563270"/>
          </a:xfrm>
          <a:prstGeom prst="rect">
            <a:avLst/>
          </a:prstGeom>
          <a:noFill/>
        </p:spPr>
        <p:txBody>
          <a:bodyPr wrap="square" lIns="0" rIns="0" tIns="0" bIns="0">
            <a:spAutoFit/>
          </a:bodyPr>
          <a:lstStyle/>
          <a:p>
            <a:pPr algn="l">
              <a:lnSpc>
                <a:spcPct val="100000"/>
              </a:lnSpc>
              <a:defRPr sz="1150" b="0" i="0">
                <a:solidFill>
                  <a:srgbClr val="9CAFA8"/>
                </a:solidFill>
                <a:latin typeface="Segoe UI"/>
              </a:defRPr>
            </a:pPr>
            <a:r>
              <a:t>The SQL endpoint view is not the parquet file</a:t>
            </a:r>
          </a:p>
        </p:txBody>
      </p:sp>
      <p:sp>
        <p:nvSpPr>
          <p:cNvPr id="21" name="TextBox 20"/>
          <p:cNvSpPr txBox="1"/>
          <p:nvPr/>
        </p:nvSpPr>
        <p:spPr>
          <a:xfrm>
            <a:off x="7736301" y="3567988"/>
            <a:ext cx="3495273" cy="563270"/>
          </a:xfrm>
          <a:prstGeom prst="rect">
            <a:avLst/>
          </a:prstGeom>
          <a:noFill/>
        </p:spPr>
        <p:txBody>
          <a:bodyPr wrap="square" lIns="0" rIns="0" tIns="0" bIns="0">
            <a:spAutoFit/>
          </a:bodyPr>
          <a:lstStyle/>
          <a:p>
            <a:pPr algn="l">
              <a:lnSpc>
                <a:spcPct val="100000"/>
              </a:lnSpc>
              <a:defRPr sz="1150" b="0" i="0">
                <a:solidFill>
                  <a:srgbClr val="9CAFA8"/>
                </a:solidFill>
                <a:latin typeface="Segoe UI"/>
              </a:defRPr>
            </a:pPr>
            <a:r>
              <a:t>Point the model at the table itself</a:t>
            </a:r>
          </a:p>
        </p:txBody>
      </p:sp>
      <p:sp>
        <p:nvSpPr>
          <p:cNvPr id="22" name="TextBox 21"/>
          <p:cNvSpPr txBox="1"/>
          <p:nvPr/>
        </p:nvSpPr>
        <p:spPr>
          <a:xfrm>
            <a:off x="822960" y="4222699"/>
            <a:ext cx="2206345" cy="563270"/>
          </a:xfrm>
          <a:prstGeom prst="rect">
            <a:avLst/>
          </a:prstGeom>
          <a:noFill/>
        </p:spPr>
        <p:txBody>
          <a:bodyPr wrap="square" lIns="0" rIns="0" tIns="0" bIns="0">
            <a:spAutoFit/>
          </a:bodyPr>
          <a:lstStyle/>
          <a:p>
            <a:pPr algn="l">
              <a:lnSpc>
                <a:spcPct val="100000"/>
              </a:lnSpc>
              <a:defRPr sz="1150" b="1" i="0">
                <a:solidFill>
                  <a:srgbClr val="F1F5F3"/>
                </a:solidFill>
                <a:latin typeface="Segoe UI"/>
              </a:defRPr>
            </a:pPr>
            <a:r>
              <a:t>Model exceeds the SKU guardrail</a:t>
            </a:r>
          </a:p>
        </p:txBody>
      </p:sp>
      <p:sp>
        <p:nvSpPr>
          <p:cNvPr id="23" name="TextBox 22"/>
          <p:cNvSpPr txBox="1"/>
          <p:nvPr/>
        </p:nvSpPr>
        <p:spPr>
          <a:xfrm>
            <a:off x="3166465" y="4222699"/>
            <a:ext cx="4432675" cy="563270"/>
          </a:xfrm>
          <a:prstGeom prst="rect">
            <a:avLst/>
          </a:prstGeom>
          <a:noFill/>
        </p:spPr>
        <p:txBody>
          <a:bodyPr wrap="square" lIns="0" rIns="0" tIns="0" bIns="0">
            <a:spAutoFit/>
          </a:bodyPr>
          <a:lstStyle/>
          <a:p>
            <a:pPr algn="l">
              <a:lnSpc>
                <a:spcPct val="100000"/>
              </a:lnSpc>
              <a:defRPr sz="1150" b="0" i="0">
                <a:solidFill>
                  <a:srgbClr val="9CAFA8"/>
                </a:solidFill>
                <a:latin typeface="Segoe UI"/>
              </a:defRPr>
            </a:pPr>
            <a:r>
              <a:t>Row and memory limits are per capacity SKU</a:t>
            </a:r>
          </a:p>
        </p:txBody>
      </p:sp>
      <p:sp>
        <p:nvSpPr>
          <p:cNvPr id="24" name="TextBox 23"/>
          <p:cNvSpPr txBox="1"/>
          <p:nvPr/>
        </p:nvSpPr>
        <p:spPr>
          <a:xfrm>
            <a:off x="7736301" y="4222699"/>
            <a:ext cx="3495273" cy="563270"/>
          </a:xfrm>
          <a:prstGeom prst="rect">
            <a:avLst/>
          </a:prstGeom>
          <a:noFill/>
        </p:spPr>
        <p:txBody>
          <a:bodyPr wrap="square" lIns="0" rIns="0" tIns="0" bIns="0">
            <a:spAutoFit/>
          </a:bodyPr>
          <a:lstStyle/>
          <a:p>
            <a:pPr algn="l">
              <a:lnSpc>
                <a:spcPct val="100000"/>
              </a:lnSpc>
              <a:defRPr sz="1150" b="0" i="0">
                <a:solidFill>
                  <a:srgbClr val="9CAFA8"/>
                </a:solidFill>
                <a:latin typeface="Segoe UI"/>
              </a:defRPr>
            </a:pPr>
            <a:r>
              <a:t>Aggregate in gold, or move up a SKU knowingly</a:t>
            </a:r>
          </a:p>
        </p:txBody>
      </p:sp>
      <p:sp>
        <p:nvSpPr>
          <p:cNvPr id="25" name="Rectangle 24"/>
          <p:cNvSpPr/>
          <p:nvPr/>
        </p:nvSpPr>
        <p:spPr>
          <a:xfrm>
            <a:off x="713232" y="4785969"/>
            <a:ext cx="10765231" cy="618134"/>
          </a:xfrm>
          <a:prstGeom prst="rect">
            <a:avLst/>
          </a:prstGeom>
          <a:solidFill>
            <a:srgbClr val="1526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877409"/>
            <a:ext cx="2206345" cy="563270"/>
          </a:xfrm>
          <a:prstGeom prst="rect">
            <a:avLst/>
          </a:prstGeom>
          <a:noFill/>
        </p:spPr>
        <p:txBody>
          <a:bodyPr wrap="square" lIns="0" rIns="0" tIns="0" bIns="0">
            <a:spAutoFit/>
          </a:bodyPr>
          <a:lstStyle/>
          <a:p>
            <a:pPr algn="l">
              <a:lnSpc>
                <a:spcPct val="100000"/>
              </a:lnSpc>
              <a:defRPr sz="1150" b="1" i="0">
                <a:solidFill>
                  <a:srgbClr val="F1F5F3"/>
                </a:solidFill>
                <a:latin typeface="Segoe UI"/>
              </a:defRPr>
            </a:pPr>
            <a:r>
              <a:t>Unsupported data types</a:t>
            </a:r>
          </a:p>
        </p:txBody>
      </p:sp>
      <p:sp>
        <p:nvSpPr>
          <p:cNvPr id="27" name="TextBox 26"/>
          <p:cNvSpPr txBox="1"/>
          <p:nvPr/>
        </p:nvSpPr>
        <p:spPr>
          <a:xfrm>
            <a:off x="3166465" y="4877409"/>
            <a:ext cx="4432675" cy="563270"/>
          </a:xfrm>
          <a:prstGeom prst="rect">
            <a:avLst/>
          </a:prstGeom>
          <a:noFill/>
        </p:spPr>
        <p:txBody>
          <a:bodyPr wrap="square" lIns="0" rIns="0" tIns="0" bIns="0">
            <a:spAutoFit/>
          </a:bodyPr>
          <a:lstStyle/>
          <a:p>
            <a:pPr algn="l">
              <a:lnSpc>
                <a:spcPct val="100000"/>
              </a:lnSpc>
              <a:defRPr sz="1150" b="0" i="0">
                <a:solidFill>
                  <a:srgbClr val="9CAFA8"/>
                </a:solidFill>
                <a:latin typeface="Segoe UI"/>
              </a:defRPr>
            </a:pPr>
            <a:r>
              <a:t>A type the VertiPaq encoder will not take directly</a:t>
            </a:r>
          </a:p>
        </p:txBody>
      </p:sp>
      <p:sp>
        <p:nvSpPr>
          <p:cNvPr id="28" name="TextBox 27"/>
          <p:cNvSpPr txBox="1"/>
          <p:nvPr/>
        </p:nvSpPr>
        <p:spPr>
          <a:xfrm>
            <a:off x="7736301" y="4877409"/>
            <a:ext cx="3495273" cy="563270"/>
          </a:xfrm>
          <a:prstGeom prst="rect">
            <a:avLst/>
          </a:prstGeom>
          <a:noFill/>
        </p:spPr>
        <p:txBody>
          <a:bodyPr wrap="square" lIns="0" rIns="0" tIns="0" bIns="0">
            <a:spAutoFit/>
          </a:bodyPr>
          <a:lstStyle/>
          <a:p>
            <a:pPr algn="l">
              <a:lnSpc>
                <a:spcPct val="100000"/>
              </a:lnSpc>
              <a:defRPr sz="1150" b="0" i="0">
                <a:solidFill>
                  <a:srgbClr val="9CAFA8"/>
                </a:solidFill>
                <a:latin typeface="Segoe UI"/>
              </a:defRPr>
            </a:pPr>
            <a:r>
              <a:t>Cast in gold, not in the model</a:t>
            </a:r>
          </a:p>
        </p:txBody>
      </p:sp>
      <p:sp>
        <p:nvSpPr>
          <p:cNvPr id="29" name="TextBox 28"/>
          <p:cNvSpPr txBox="1"/>
          <p:nvPr/>
        </p:nvSpPr>
        <p:spPr>
          <a:xfrm>
            <a:off x="822960" y="5897880"/>
            <a:ext cx="10332720" cy="457200"/>
          </a:xfrm>
          <a:prstGeom prst="rect">
            <a:avLst/>
          </a:prstGeom>
          <a:noFill/>
        </p:spPr>
        <p:txBody>
          <a:bodyPr wrap="square" lIns="0" rIns="0" tIns="0" bIns="0">
            <a:spAutoFit/>
          </a:bodyPr>
          <a:lstStyle/>
          <a:p>
            <a:pPr algn="l">
              <a:lnSpc>
                <a:spcPct val="100000"/>
              </a:lnSpc>
              <a:defRPr sz="1300" b="0" i="0">
                <a:solidFill>
                  <a:srgbClr val="F59E0B"/>
                </a:solidFill>
                <a:latin typeface="Segoe UI"/>
              </a:defRPr>
            </a:pPr>
            <a:r>
              <a:t>Every fix is the same shape: do the work upstream in gold where it is testable, not in the model.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389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4</a:t>
            </a:r>
          </a:p>
        </p:txBody>
      </p:sp>
      <p:pic>
        <p:nvPicPr>
          <p:cNvPr id="4" name="Picture 3" descr="delta_389ff7.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27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Modelling gold for Direct Lake</a:t>
            </a:r>
          </a:p>
        </p:txBody>
      </p:sp>
      <p:sp>
        <p:nvSpPr>
          <p:cNvPr id="7" name="TextBox 6"/>
          <p:cNvSpPr txBox="1"/>
          <p:nvPr/>
        </p:nvSpPr>
        <p:spPr>
          <a:xfrm>
            <a:off x="822960" y="1481328"/>
            <a:ext cx="10332720" cy="365760"/>
          </a:xfrm>
          <a:prstGeom prst="rect">
            <a:avLst/>
          </a:prstGeom>
          <a:noFill/>
        </p:spPr>
        <p:txBody>
          <a:bodyPr wrap="square" lIns="0" rIns="0" tIns="0" bIns="0">
            <a:spAutoFit/>
          </a:bodyPr>
          <a:lstStyle/>
          <a:p>
            <a:pPr algn="l">
              <a:lnSpc>
                <a:spcPct val="100000"/>
              </a:lnSpc>
              <a:defRPr sz="1350" b="0" i="0">
                <a:solidFill>
                  <a:srgbClr val="9CAFA8"/>
                </a:solidFill>
                <a:latin typeface="Segoe UI"/>
              </a:defRPr>
            </a:pPr>
            <a:r>
              <a:t>Four tables, single-direction relationships, no calculated columns anywhere.</a:t>
            </a:r>
          </a:p>
        </p:txBody>
      </p:sp>
      <p:sp>
        <p:nvSpPr>
          <p:cNvPr id="8" name="Rounded Rectangle 7"/>
          <p:cNvSpPr/>
          <p:nvPr/>
        </p:nvSpPr>
        <p:spPr>
          <a:xfrm>
            <a:off x="822960" y="2057400"/>
            <a:ext cx="2444419"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able_389ff7.png"/>
          <p:cNvPicPr>
            <a:picLocks noChangeAspect="1"/>
          </p:cNvPicPr>
          <p:nvPr/>
        </p:nvPicPr>
        <p:blipFill>
          <a:blip r:embed="rId3"/>
          <a:stretch>
            <a:fillRect/>
          </a:stretch>
        </p:blipFill>
        <p:spPr>
          <a:xfrm>
            <a:off x="1097280" y="2313432"/>
            <a:ext cx="384048" cy="384048"/>
          </a:xfrm>
          <a:prstGeom prst="rect">
            <a:avLst/>
          </a:prstGeom>
        </p:spPr>
      </p:pic>
      <p:sp>
        <p:nvSpPr>
          <p:cNvPr id="10" name="TextBox 9"/>
          <p:cNvSpPr txBox="1"/>
          <p:nvPr/>
        </p:nvSpPr>
        <p:spPr>
          <a:xfrm>
            <a:off x="1097280" y="2834640"/>
            <a:ext cx="1895779" cy="365760"/>
          </a:xfrm>
          <a:prstGeom prst="rect">
            <a:avLst/>
          </a:prstGeom>
          <a:noFill/>
        </p:spPr>
        <p:txBody>
          <a:bodyPr wrap="square" lIns="0" rIns="0" tIns="0" bIns="0">
            <a:spAutoFit/>
          </a:bodyPr>
          <a:lstStyle/>
          <a:p>
            <a:pPr algn="l">
              <a:lnSpc>
                <a:spcPct val="100000"/>
              </a:lnSpc>
              <a:defRPr sz="1500" b="1" i="0">
                <a:solidFill>
                  <a:srgbClr val="389FF7"/>
                </a:solidFill>
                <a:latin typeface="Segoe UI"/>
              </a:defRPr>
            </a:pPr>
            <a:r>
              <a:t>gold_stand_facts</a:t>
            </a:r>
          </a:p>
        </p:txBody>
      </p:sp>
      <p:sp>
        <p:nvSpPr>
          <p:cNvPr id="11" name="TextBox 10"/>
          <p:cNvSpPr txBox="1"/>
          <p:nvPr/>
        </p:nvSpPr>
        <p:spPr>
          <a:xfrm>
            <a:off x="1097280" y="3218688"/>
            <a:ext cx="1895779" cy="685799"/>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One row per stand per period. Keys, the three index medians, the class, the valid pixel count. Narrow and long, never wide and sparse.</a:t>
            </a:r>
          </a:p>
        </p:txBody>
      </p:sp>
      <p:sp>
        <p:nvSpPr>
          <p:cNvPr id="12" name="Rounded Rectangle 11"/>
          <p:cNvSpPr/>
          <p:nvPr/>
        </p:nvSpPr>
        <p:spPr>
          <a:xfrm>
            <a:off x="3523411" y="2057400"/>
            <a:ext cx="2444419"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map_389ff7.png"/>
          <p:cNvPicPr>
            <a:picLocks noChangeAspect="1"/>
          </p:cNvPicPr>
          <p:nvPr/>
        </p:nvPicPr>
        <p:blipFill>
          <a:blip r:embed="rId4"/>
          <a:stretch>
            <a:fillRect/>
          </a:stretch>
        </p:blipFill>
        <p:spPr>
          <a:xfrm>
            <a:off x="3797731" y="2313432"/>
            <a:ext cx="384048" cy="384048"/>
          </a:xfrm>
          <a:prstGeom prst="rect">
            <a:avLst/>
          </a:prstGeom>
        </p:spPr>
      </p:pic>
      <p:sp>
        <p:nvSpPr>
          <p:cNvPr id="14" name="TextBox 13"/>
          <p:cNvSpPr txBox="1"/>
          <p:nvPr/>
        </p:nvSpPr>
        <p:spPr>
          <a:xfrm>
            <a:off x="3797731" y="2834640"/>
            <a:ext cx="1895779" cy="365760"/>
          </a:xfrm>
          <a:prstGeom prst="rect">
            <a:avLst/>
          </a:prstGeom>
          <a:noFill/>
        </p:spPr>
        <p:txBody>
          <a:bodyPr wrap="square" lIns="0" rIns="0" tIns="0" bIns="0">
            <a:spAutoFit/>
          </a:bodyPr>
          <a:lstStyle/>
          <a:p>
            <a:pPr algn="l">
              <a:lnSpc>
                <a:spcPct val="100000"/>
              </a:lnSpc>
              <a:defRPr sz="1500" b="1" i="0">
                <a:solidFill>
                  <a:srgbClr val="389FF7"/>
                </a:solidFill>
                <a:latin typeface="Segoe UI"/>
              </a:defRPr>
            </a:pPr>
            <a:r>
              <a:t>gold_dim_stand</a:t>
            </a:r>
          </a:p>
        </p:txBody>
      </p:sp>
      <p:sp>
        <p:nvSpPr>
          <p:cNvPr id="15" name="TextBox 14"/>
          <p:cNvSpPr txBox="1"/>
          <p:nvPr/>
        </p:nvSpPr>
        <p:spPr>
          <a:xfrm>
            <a:off x="3797731" y="3218688"/>
            <a:ext cx="1895779" cy="685799"/>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One row per stand. Licence block, species group, area in hectares, and a latitude and longitude centroid alongside the WKB geometry.</a:t>
            </a:r>
          </a:p>
        </p:txBody>
      </p:sp>
      <p:sp>
        <p:nvSpPr>
          <p:cNvPr id="16" name="Rounded Rectangle 15"/>
          <p:cNvSpPr/>
          <p:nvPr/>
        </p:nvSpPr>
        <p:spPr>
          <a:xfrm>
            <a:off x="6223863" y="2057400"/>
            <a:ext cx="2444419"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alendar_389ff7.png"/>
          <p:cNvPicPr>
            <a:picLocks noChangeAspect="1"/>
          </p:cNvPicPr>
          <p:nvPr/>
        </p:nvPicPr>
        <p:blipFill>
          <a:blip r:embed="rId5"/>
          <a:stretch>
            <a:fillRect/>
          </a:stretch>
        </p:blipFill>
        <p:spPr>
          <a:xfrm>
            <a:off x="6498183" y="2313432"/>
            <a:ext cx="384048" cy="384048"/>
          </a:xfrm>
          <a:prstGeom prst="rect">
            <a:avLst/>
          </a:prstGeom>
        </p:spPr>
      </p:pic>
      <p:sp>
        <p:nvSpPr>
          <p:cNvPr id="18" name="TextBox 17"/>
          <p:cNvSpPr txBox="1"/>
          <p:nvPr/>
        </p:nvSpPr>
        <p:spPr>
          <a:xfrm>
            <a:off x="6498183" y="2834640"/>
            <a:ext cx="1895779" cy="365760"/>
          </a:xfrm>
          <a:prstGeom prst="rect">
            <a:avLst/>
          </a:prstGeom>
          <a:noFill/>
        </p:spPr>
        <p:txBody>
          <a:bodyPr wrap="square" lIns="0" rIns="0" tIns="0" bIns="0">
            <a:spAutoFit/>
          </a:bodyPr>
          <a:lstStyle/>
          <a:p>
            <a:pPr algn="l">
              <a:lnSpc>
                <a:spcPct val="100000"/>
              </a:lnSpc>
              <a:defRPr sz="1500" b="1" i="0">
                <a:solidFill>
                  <a:srgbClr val="389FF7"/>
                </a:solidFill>
                <a:latin typeface="Segoe UI"/>
              </a:defRPr>
            </a:pPr>
            <a:r>
              <a:t>gold_dim_date</a:t>
            </a:r>
          </a:p>
        </p:txBody>
      </p:sp>
      <p:sp>
        <p:nvSpPr>
          <p:cNvPr id="19" name="TextBox 18"/>
          <p:cNvSpPr txBox="1"/>
          <p:nvPr/>
        </p:nvSpPr>
        <p:spPr>
          <a:xfrm>
            <a:off x="6498183" y="3218688"/>
            <a:ext cx="1895779" cy="685799"/>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A real date table with a contiguous range. Not derived at query time, not a column on the fact table. Time intelligence needs it.</a:t>
            </a:r>
          </a:p>
        </p:txBody>
      </p:sp>
      <p:sp>
        <p:nvSpPr>
          <p:cNvPr id="20" name="Rounded Rectangle 19"/>
          <p:cNvSpPr/>
          <p:nvPr/>
        </p:nvSpPr>
        <p:spPr>
          <a:xfrm>
            <a:off x="8924315" y="2057400"/>
            <a:ext cx="2444419"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yers_389ff7.png"/>
          <p:cNvPicPr>
            <a:picLocks noChangeAspect="1"/>
          </p:cNvPicPr>
          <p:nvPr/>
        </p:nvPicPr>
        <p:blipFill>
          <a:blip r:embed="rId6"/>
          <a:stretch>
            <a:fillRect/>
          </a:stretch>
        </p:blipFill>
        <p:spPr>
          <a:xfrm>
            <a:off x="9198635" y="2313432"/>
            <a:ext cx="384048" cy="384048"/>
          </a:xfrm>
          <a:prstGeom prst="rect">
            <a:avLst/>
          </a:prstGeom>
        </p:spPr>
      </p:pic>
      <p:sp>
        <p:nvSpPr>
          <p:cNvPr id="22" name="TextBox 21"/>
          <p:cNvSpPr txBox="1"/>
          <p:nvPr/>
        </p:nvSpPr>
        <p:spPr>
          <a:xfrm>
            <a:off x="9198635" y="2834640"/>
            <a:ext cx="1895779" cy="365760"/>
          </a:xfrm>
          <a:prstGeom prst="rect">
            <a:avLst/>
          </a:prstGeom>
          <a:noFill/>
        </p:spPr>
        <p:txBody>
          <a:bodyPr wrap="square" lIns="0" rIns="0" tIns="0" bIns="0">
            <a:spAutoFit/>
          </a:bodyPr>
          <a:lstStyle/>
          <a:p>
            <a:pPr algn="l">
              <a:lnSpc>
                <a:spcPct val="100000"/>
              </a:lnSpc>
              <a:defRPr sz="1500" b="1" i="0">
                <a:solidFill>
                  <a:srgbClr val="389FF7"/>
                </a:solidFill>
                <a:latin typeface="Segoe UI"/>
              </a:defRPr>
            </a:pPr>
            <a:r>
              <a:t>gold_dim_class</a:t>
            </a:r>
          </a:p>
        </p:txBody>
      </p:sp>
      <p:sp>
        <p:nvSpPr>
          <p:cNvPr id="23" name="TextBox 22"/>
          <p:cNvSpPr txBox="1"/>
          <p:nvPr/>
        </p:nvSpPr>
        <p:spPr>
          <a:xfrm>
            <a:off x="9198635" y="3218688"/>
            <a:ext cx="1895779" cy="685799"/>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Softwood, hardwood, mixedwood, plus the threshold definition that produced each one, so the classification is self-documenting.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389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3:02  ·  33 MIN</a:t>
            </a:r>
          </a:p>
        </p:txBody>
      </p:sp>
      <p:pic>
        <p:nvPicPr>
          <p:cNvPr id="4" name="Picture 3" descr="chart_389ff7.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28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Hands-on 4: publish and prove it</a:t>
            </a:r>
          </a:p>
        </p:txBody>
      </p:sp>
      <p:sp>
        <p:nvSpPr>
          <p:cNvPr id="7" name="Oval 6"/>
          <p:cNvSpPr/>
          <p:nvPr/>
        </p:nvSpPr>
        <p:spPr>
          <a:xfrm>
            <a:off x="822960" y="1819656"/>
            <a:ext cx="402336" cy="402336"/>
          </a:xfrm>
          <a:prstGeom prst="ellipse">
            <a:avLst/>
          </a:prstGeom>
          <a:solidFill>
            <a:srgbClr val="389F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1</a:t>
            </a:r>
          </a:p>
        </p:txBody>
      </p:sp>
      <p:sp>
        <p:nvSpPr>
          <p:cNvPr id="8" name="TextBox 7"/>
          <p:cNvSpPr txBox="1"/>
          <p:nvPr/>
        </p:nvSpPr>
        <p:spPr>
          <a:xfrm>
            <a:off x="1426464" y="1801368"/>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Build the facts and dimensions</a:t>
            </a:r>
          </a:p>
        </p:txBody>
      </p:sp>
      <p:sp>
        <p:nvSpPr>
          <p:cNvPr id="9" name="TextBox 8"/>
          <p:cNvSpPr txBox="1"/>
          <p:nvPr/>
        </p:nvSpPr>
        <p:spPr>
          <a:xfrm>
            <a:off x="1426464" y="2112264"/>
            <a:ext cx="7863840" cy="512063"/>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Clean grain, real keys, no nulls in anything you will filter on.</a:t>
            </a:r>
          </a:p>
        </p:txBody>
      </p:sp>
      <p:sp>
        <p:nvSpPr>
          <p:cNvPr id="10" name="TextBox 9"/>
          <p:cNvSpPr txBox="1"/>
          <p:nvPr/>
        </p:nvSpPr>
        <p:spPr>
          <a:xfrm>
            <a:off x="9357055" y="1837943"/>
            <a:ext cx="2011680" cy="365760"/>
          </a:xfrm>
          <a:prstGeom prst="rect">
            <a:avLst/>
          </a:prstGeom>
          <a:noFill/>
        </p:spPr>
        <p:txBody>
          <a:bodyPr wrap="square" lIns="0" rIns="0" tIns="0" bIns="0">
            <a:spAutoFit/>
          </a:bodyPr>
          <a:lstStyle/>
          <a:p>
            <a:pPr algn="r">
              <a:lnSpc>
                <a:spcPct val="100000"/>
              </a:lnSpc>
              <a:defRPr sz="1300" b="1" i="0">
                <a:solidFill>
                  <a:srgbClr val="389FF7"/>
                </a:solidFill>
                <a:latin typeface="Segoe UI"/>
              </a:defRPr>
            </a:pPr>
            <a:r>
              <a:t>9 min</a:t>
            </a:r>
          </a:p>
        </p:txBody>
      </p:sp>
      <p:sp>
        <p:nvSpPr>
          <p:cNvPr id="11" name="Oval 10"/>
          <p:cNvSpPr/>
          <p:nvPr/>
        </p:nvSpPr>
        <p:spPr>
          <a:xfrm>
            <a:off x="822960" y="2697480"/>
            <a:ext cx="402336" cy="402336"/>
          </a:xfrm>
          <a:prstGeom prst="ellipse">
            <a:avLst/>
          </a:prstGeom>
          <a:solidFill>
            <a:srgbClr val="389F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2</a:t>
            </a:r>
          </a:p>
        </p:txBody>
      </p:sp>
      <p:sp>
        <p:nvSpPr>
          <p:cNvPr id="12" name="TextBox 11"/>
          <p:cNvSpPr txBox="1"/>
          <p:nvPr/>
        </p:nvSpPr>
        <p:spPr>
          <a:xfrm>
            <a:off x="1426464" y="2679192"/>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Create the Direct Lake model</a:t>
            </a:r>
          </a:p>
        </p:txBody>
      </p:sp>
      <p:sp>
        <p:nvSpPr>
          <p:cNvPr id="13" name="TextBox 12"/>
          <p:cNvSpPr txBox="1"/>
          <p:nvPr/>
        </p:nvSpPr>
        <p:spPr>
          <a:xfrm>
            <a:off x="1426464" y="2990088"/>
            <a:ext cx="7863840" cy="512063"/>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From the Lakehouse. Set relationships single-direction. Mark the date table.</a:t>
            </a:r>
          </a:p>
        </p:txBody>
      </p:sp>
      <p:sp>
        <p:nvSpPr>
          <p:cNvPr id="14" name="TextBox 13"/>
          <p:cNvSpPr txBox="1"/>
          <p:nvPr/>
        </p:nvSpPr>
        <p:spPr>
          <a:xfrm>
            <a:off x="9357055" y="2715768"/>
            <a:ext cx="2011680" cy="365760"/>
          </a:xfrm>
          <a:prstGeom prst="rect">
            <a:avLst/>
          </a:prstGeom>
          <a:noFill/>
        </p:spPr>
        <p:txBody>
          <a:bodyPr wrap="square" lIns="0" rIns="0" tIns="0" bIns="0">
            <a:spAutoFit/>
          </a:bodyPr>
          <a:lstStyle/>
          <a:p>
            <a:pPr algn="r">
              <a:lnSpc>
                <a:spcPct val="100000"/>
              </a:lnSpc>
              <a:defRPr sz="1300" b="1" i="0">
                <a:solidFill>
                  <a:srgbClr val="389FF7"/>
                </a:solidFill>
                <a:latin typeface="Segoe UI"/>
              </a:defRPr>
            </a:pPr>
            <a:r>
              <a:t>8 min</a:t>
            </a:r>
          </a:p>
        </p:txBody>
      </p:sp>
      <p:sp>
        <p:nvSpPr>
          <p:cNvPr id="15" name="Oval 14"/>
          <p:cNvSpPr/>
          <p:nvPr/>
        </p:nvSpPr>
        <p:spPr>
          <a:xfrm>
            <a:off x="822960" y="3575304"/>
            <a:ext cx="402336" cy="402336"/>
          </a:xfrm>
          <a:prstGeom prst="ellipse">
            <a:avLst/>
          </a:prstGeom>
          <a:solidFill>
            <a:srgbClr val="389F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3</a:t>
            </a:r>
          </a:p>
        </p:txBody>
      </p:sp>
      <p:sp>
        <p:nvSpPr>
          <p:cNvPr id="16" name="TextBox 15"/>
          <p:cNvSpPr txBox="1"/>
          <p:nvPr/>
        </p:nvSpPr>
        <p:spPr>
          <a:xfrm>
            <a:off x="1426464" y="3557016"/>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Add four measures</a:t>
            </a:r>
          </a:p>
        </p:txBody>
      </p:sp>
      <p:sp>
        <p:nvSpPr>
          <p:cNvPr id="17" name="TextBox 16"/>
          <p:cNvSpPr txBox="1"/>
          <p:nvPr/>
        </p:nvSpPr>
        <p:spPr>
          <a:xfrm>
            <a:off x="1426464" y="3867912"/>
            <a:ext cx="7863840" cy="512063"/>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Stand count, area by class, harvested area since last period, moisture stress flag.</a:t>
            </a:r>
          </a:p>
        </p:txBody>
      </p:sp>
      <p:sp>
        <p:nvSpPr>
          <p:cNvPr id="18" name="TextBox 17"/>
          <p:cNvSpPr txBox="1"/>
          <p:nvPr/>
        </p:nvSpPr>
        <p:spPr>
          <a:xfrm>
            <a:off x="9357055" y="3593592"/>
            <a:ext cx="2011680" cy="365760"/>
          </a:xfrm>
          <a:prstGeom prst="rect">
            <a:avLst/>
          </a:prstGeom>
          <a:noFill/>
        </p:spPr>
        <p:txBody>
          <a:bodyPr wrap="square" lIns="0" rIns="0" tIns="0" bIns="0">
            <a:spAutoFit/>
          </a:bodyPr>
          <a:lstStyle/>
          <a:p>
            <a:pPr algn="r">
              <a:lnSpc>
                <a:spcPct val="100000"/>
              </a:lnSpc>
              <a:defRPr sz="1300" b="1" i="0">
                <a:solidFill>
                  <a:srgbClr val="389FF7"/>
                </a:solidFill>
                <a:latin typeface="Segoe UI"/>
              </a:defRPr>
            </a:pPr>
            <a:r>
              <a:t>7 min</a:t>
            </a:r>
          </a:p>
        </p:txBody>
      </p:sp>
      <p:sp>
        <p:nvSpPr>
          <p:cNvPr id="19" name="Oval 18"/>
          <p:cNvSpPr/>
          <p:nvPr/>
        </p:nvSpPr>
        <p:spPr>
          <a:xfrm>
            <a:off x="822960" y="4453128"/>
            <a:ext cx="402336" cy="402336"/>
          </a:xfrm>
          <a:prstGeom prst="ellipse">
            <a:avLst/>
          </a:prstGeom>
          <a:solidFill>
            <a:srgbClr val="389F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4</a:t>
            </a:r>
          </a:p>
        </p:txBody>
      </p:sp>
      <p:sp>
        <p:nvSpPr>
          <p:cNvPr id="20" name="TextBox 19"/>
          <p:cNvSpPr txBox="1"/>
          <p:nvPr/>
        </p:nvSpPr>
        <p:spPr>
          <a:xfrm>
            <a:off x="1426464" y="4434840"/>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Build the report page</a:t>
            </a:r>
          </a:p>
        </p:txBody>
      </p:sp>
      <p:sp>
        <p:nvSpPr>
          <p:cNvPr id="21" name="TextBox 20"/>
          <p:cNvSpPr txBox="1"/>
          <p:nvPr/>
        </p:nvSpPr>
        <p:spPr>
          <a:xfrm>
            <a:off x="1426464" y="4745736"/>
            <a:ext cx="7863840" cy="512063"/>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Map by class, trend by month, table with the AI narrative in the tooltip.</a:t>
            </a:r>
          </a:p>
        </p:txBody>
      </p:sp>
      <p:sp>
        <p:nvSpPr>
          <p:cNvPr id="22" name="TextBox 21"/>
          <p:cNvSpPr txBox="1"/>
          <p:nvPr/>
        </p:nvSpPr>
        <p:spPr>
          <a:xfrm>
            <a:off x="9357055" y="4471416"/>
            <a:ext cx="2011680" cy="365760"/>
          </a:xfrm>
          <a:prstGeom prst="rect">
            <a:avLst/>
          </a:prstGeom>
          <a:noFill/>
        </p:spPr>
        <p:txBody>
          <a:bodyPr wrap="square" lIns="0" rIns="0" tIns="0" bIns="0">
            <a:spAutoFit/>
          </a:bodyPr>
          <a:lstStyle/>
          <a:p>
            <a:pPr algn="r">
              <a:lnSpc>
                <a:spcPct val="100000"/>
              </a:lnSpc>
              <a:defRPr sz="1300" b="1" i="0">
                <a:solidFill>
                  <a:srgbClr val="389FF7"/>
                </a:solidFill>
                <a:latin typeface="Segoe UI"/>
              </a:defRPr>
            </a:pPr>
            <a:r>
              <a:t>6 min</a:t>
            </a:r>
          </a:p>
        </p:txBody>
      </p:sp>
      <p:sp>
        <p:nvSpPr>
          <p:cNvPr id="23" name="Oval 22"/>
          <p:cNvSpPr/>
          <p:nvPr/>
        </p:nvSpPr>
        <p:spPr>
          <a:xfrm>
            <a:off x="822960" y="5330952"/>
            <a:ext cx="402336" cy="402336"/>
          </a:xfrm>
          <a:prstGeom prst="ellipse">
            <a:avLst/>
          </a:prstGeom>
          <a:solidFill>
            <a:srgbClr val="389F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0D1714"/>
                </a:solidFill>
                <a:latin typeface="Segoe UI"/>
              </a:defRPr>
            </a:pPr>
            <a:r>
              <a:t>5</a:t>
            </a:r>
          </a:p>
        </p:txBody>
      </p:sp>
      <p:sp>
        <p:nvSpPr>
          <p:cNvPr id="24" name="TextBox 23"/>
          <p:cNvSpPr txBox="1"/>
          <p:nvPr/>
        </p:nvSpPr>
        <p:spPr>
          <a:xfrm>
            <a:off x="1426464" y="5312664"/>
            <a:ext cx="5852160" cy="310896"/>
          </a:xfrm>
          <a:prstGeom prst="rect">
            <a:avLst/>
          </a:prstGeom>
          <a:noFill/>
        </p:spPr>
        <p:txBody>
          <a:bodyPr wrap="square" lIns="0" rIns="0" tIns="0" bIns="0">
            <a:spAutoFit/>
          </a:bodyPr>
          <a:lstStyle/>
          <a:p>
            <a:pPr algn="l">
              <a:lnSpc>
                <a:spcPct val="100000"/>
              </a:lnSpc>
              <a:defRPr sz="1550" b="1" i="0">
                <a:solidFill>
                  <a:srgbClr val="F1F5F3"/>
                </a:solidFill>
                <a:latin typeface="Segoe UI"/>
              </a:defRPr>
            </a:pPr>
            <a:r>
              <a:t>Prove Direct Lake is in use</a:t>
            </a:r>
          </a:p>
        </p:txBody>
      </p:sp>
      <p:sp>
        <p:nvSpPr>
          <p:cNvPr id="25" name="TextBox 24"/>
          <p:cNvSpPr txBox="1"/>
          <p:nvPr/>
        </p:nvSpPr>
        <p:spPr>
          <a:xfrm>
            <a:off x="1426464" y="5623560"/>
            <a:ext cx="7863840" cy="512063"/>
          </a:xfrm>
          <a:prstGeom prst="rect">
            <a:avLst/>
          </a:prstGeom>
          <a:noFill/>
        </p:spPr>
        <p:txBody>
          <a:bodyPr wrap="square" lIns="0" rIns="0" tIns="0" bIns="0">
            <a:spAutoFit/>
          </a:bodyPr>
          <a:lstStyle/>
          <a:p>
            <a:pPr algn="l">
              <a:lnSpc>
                <a:spcPct val="120000"/>
              </a:lnSpc>
              <a:defRPr sz="1250" b="0" i="0">
                <a:solidFill>
                  <a:srgbClr val="9CAFA8"/>
                </a:solidFill>
                <a:latin typeface="Segoe UI"/>
              </a:defRPr>
            </a:pPr>
            <a:r>
              <a:t>Check for fallback rather than assuming. This is the step everyone skips.</a:t>
            </a:r>
          </a:p>
        </p:txBody>
      </p:sp>
      <p:sp>
        <p:nvSpPr>
          <p:cNvPr id="26" name="TextBox 25"/>
          <p:cNvSpPr txBox="1"/>
          <p:nvPr/>
        </p:nvSpPr>
        <p:spPr>
          <a:xfrm>
            <a:off x="9357055" y="5349240"/>
            <a:ext cx="2011680" cy="365760"/>
          </a:xfrm>
          <a:prstGeom prst="rect">
            <a:avLst/>
          </a:prstGeom>
          <a:noFill/>
        </p:spPr>
        <p:txBody>
          <a:bodyPr wrap="square" lIns="0" rIns="0" tIns="0" bIns="0">
            <a:spAutoFit/>
          </a:bodyPr>
          <a:lstStyle/>
          <a:p>
            <a:pPr algn="r">
              <a:lnSpc>
                <a:spcPct val="100000"/>
              </a:lnSpc>
              <a:defRPr sz="1300" b="1" i="0">
                <a:solidFill>
                  <a:srgbClr val="389FF7"/>
                </a:solidFill>
                <a:latin typeface="Segoe UI"/>
              </a:defRPr>
            </a:pPr>
            <a:r>
              <a:t>3 min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4, CHECKPOINT</a:t>
            </a:r>
          </a:p>
        </p:txBody>
      </p:sp>
      <p:pic>
        <p:nvPicPr>
          <p:cNvPr id="4" name="Picture 3" descr="check_3fc17e.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29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Review the published Gold layer</a:t>
            </a:r>
          </a:p>
        </p:txBody>
      </p:sp>
      <p:sp>
        <p:nvSpPr>
          <p:cNvPr id="7" name="TextBox 6"/>
          <p:cNvSpPr txBox="1"/>
          <p:nvPr/>
        </p:nvSpPr>
        <p:spPr>
          <a:xfrm>
            <a:off x="822960" y="1481328"/>
            <a:ext cx="10332720" cy="365760"/>
          </a:xfrm>
          <a:prstGeom prst="rect">
            <a:avLst/>
          </a:prstGeom>
          <a:noFill/>
        </p:spPr>
        <p:txBody>
          <a:bodyPr wrap="square" lIns="0" rIns="0" tIns="0" bIns="0">
            <a:spAutoFit/>
          </a:bodyPr>
          <a:lstStyle/>
          <a:p>
            <a:pPr algn="l">
              <a:lnSpc>
                <a:spcPct val="100000"/>
              </a:lnSpc>
              <a:defRPr sz="1350" b="0" i="0">
                <a:solidFill>
                  <a:srgbClr val="9CAFA8"/>
                </a:solidFill>
                <a:latin typeface="Segoe UI"/>
              </a:defRPr>
            </a:pPr>
            <a:r>
              <a:t>The six notebook labs finish at Lab 05. Power BI and scheduling are separate extensions.</a:t>
            </a:r>
          </a:p>
        </p:txBody>
      </p:sp>
      <p:sp>
        <p:nvSpPr>
          <p:cNvPr id="8" name="Rounded Rectangle 7"/>
          <p:cNvSpPr/>
          <p:nvPr/>
        </p:nvSpPr>
        <p:spPr>
          <a:xfrm>
            <a:off x="822960" y="2057400"/>
            <a:ext cx="3344570"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eople_3fc17e.png"/>
          <p:cNvPicPr>
            <a:picLocks noChangeAspect="1"/>
          </p:cNvPicPr>
          <p:nvPr/>
        </p:nvPicPr>
        <p:blipFill>
          <a:blip r:embed="rId3"/>
          <a:stretch>
            <a:fillRect/>
          </a:stretch>
        </p:blipFill>
        <p:spPr>
          <a:xfrm>
            <a:off x="1097280" y="2313432"/>
            <a:ext cx="384048" cy="384048"/>
          </a:xfrm>
          <a:prstGeom prst="rect">
            <a:avLst/>
          </a:prstGeom>
        </p:spPr>
      </p:pic>
      <p:sp>
        <p:nvSpPr>
          <p:cNvPr id="10" name="TextBox 9"/>
          <p:cNvSpPr txBox="1"/>
          <p:nvPr/>
        </p:nvSpPr>
        <p:spPr>
          <a:xfrm>
            <a:off x="1097280" y="2834640"/>
            <a:ext cx="2795930" cy="365760"/>
          </a:xfrm>
          <a:prstGeom prst="rect">
            <a:avLst/>
          </a:prstGeom>
          <a:noFill/>
        </p:spPr>
        <p:txBody>
          <a:bodyPr wrap="square" lIns="0" rIns="0" tIns="0" bIns="0">
            <a:spAutoFit/>
          </a:bodyPr>
          <a:lstStyle/>
          <a:p>
            <a:pPr algn="l">
              <a:lnSpc>
                <a:spcPct val="100000"/>
              </a:lnSpc>
              <a:defRPr sz="1500" b="1" i="0">
                <a:solidFill>
                  <a:srgbClr val="3FC17E"/>
                </a:solidFill>
                <a:latin typeface="Segoe UI"/>
              </a:defRPr>
            </a:pPr>
            <a:r>
              <a:t>Coverage stays visible</a:t>
            </a:r>
          </a:p>
        </p:txBody>
      </p:sp>
      <p:sp>
        <p:nvSpPr>
          <p:cNvPr id="11" name="TextBox 10"/>
          <p:cNvSpPr txBox="1"/>
          <p:nvPr/>
        </p:nvSpPr>
        <p:spPr>
          <a:xfrm>
            <a:off x="1097280" y="3218688"/>
            <a:ext cx="2795930" cy="685799"/>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102 classified stands out of 120 is 85 percent coverage. Keep the 18 excluded stands visible when describing the result.</a:t>
            </a:r>
          </a:p>
        </p:txBody>
      </p:sp>
      <p:sp>
        <p:nvSpPr>
          <p:cNvPr id="12" name="Rounded Rectangle 11"/>
          <p:cNvSpPr/>
          <p:nvPr/>
        </p:nvSpPr>
        <p:spPr>
          <a:xfrm>
            <a:off x="4423562" y="2057400"/>
            <a:ext cx="3344570"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arget_3fc17e.png"/>
          <p:cNvPicPr>
            <a:picLocks noChangeAspect="1"/>
          </p:cNvPicPr>
          <p:nvPr/>
        </p:nvPicPr>
        <p:blipFill>
          <a:blip r:embed="rId4"/>
          <a:stretch>
            <a:fillRect/>
          </a:stretch>
        </p:blipFill>
        <p:spPr>
          <a:xfrm>
            <a:off x="4697882" y="2313432"/>
            <a:ext cx="384048" cy="384048"/>
          </a:xfrm>
          <a:prstGeom prst="rect">
            <a:avLst/>
          </a:prstGeom>
        </p:spPr>
      </p:pic>
      <p:sp>
        <p:nvSpPr>
          <p:cNvPr id="14" name="TextBox 13"/>
          <p:cNvSpPr txBox="1"/>
          <p:nvPr/>
        </p:nvSpPr>
        <p:spPr>
          <a:xfrm>
            <a:off x="4697882" y="2834640"/>
            <a:ext cx="2795930" cy="365760"/>
          </a:xfrm>
          <a:prstGeom prst="rect">
            <a:avLst/>
          </a:prstGeom>
          <a:noFill/>
        </p:spPr>
        <p:txBody>
          <a:bodyPr wrap="square" lIns="0" rIns="0" tIns="0" bIns="0">
            <a:spAutoFit/>
          </a:bodyPr>
          <a:lstStyle/>
          <a:p>
            <a:pPr algn="l">
              <a:lnSpc>
                <a:spcPct val="100000"/>
              </a:lnSpc>
              <a:defRPr sz="1500" b="1" i="0">
                <a:solidFill>
                  <a:srgbClr val="3FC17E"/>
                </a:solidFill>
                <a:latin typeface="Segoe UI"/>
              </a:defRPr>
            </a:pPr>
            <a:r>
              <a:t>One fact grain</a:t>
            </a:r>
          </a:p>
        </p:txBody>
      </p:sp>
      <p:sp>
        <p:nvSpPr>
          <p:cNvPr id="15" name="TextBox 14"/>
          <p:cNvSpPr txBox="1"/>
          <p:nvPr/>
        </p:nvSpPr>
        <p:spPr>
          <a:xfrm>
            <a:off x="4697882" y="3218688"/>
            <a:ext cx="2795930" cy="685799"/>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One row per stand and period. Check unique keys and matching dimensions before connecting a report.</a:t>
            </a:r>
          </a:p>
        </p:txBody>
      </p:sp>
      <p:sp>
        <p:nvSpPr>
          <p:cNvPr id="16" name="Rounded Rectangle 15"/>
          <p:cNvSpPr/>
          <p:nvPr/>
        </p:nvSpPr>
        <p:spPr>
          <a:xfrm>
            <a:off x="8024164" y="2057400"/>
            <a:ext cx="3344570"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3fc17e.png"/>
          <p:cNvPicPr>
            <a:picLocks noChangeAspect="1"/>
          </p:cNvPicPr>
          <p:nvPr/>
        </p:nvPicPr>
        <p:blipFill>
          <a:blip r:embed="rId2"/>
          <a:stretch>
            <a:fillRect/>
          </a:stretch>
        </p:blipFill>
        <p:spPr>
          <a:xfrm>
            <a:off x="8298484" y="2313432"/>
            <a:ext cx="384048" cy="384048"/>
          </a:xfrm>
          <a:prstGeom prst="rect">
            <a:avLst/>
          </a:prstGeom>
        </p:spPr>
      </p:pic>
      <p:sp>
        <p:nvSpPr>
          <p:cNvPr id="18" name="TextBox 17"/>
          <p:cNvSpPr txBox="1"/>
          <p:nvPr/>
        </p:nvSpPr>
        <p:spPr>
          <a:xfrm>
            <a:off x="8298484" y="2834640"/>
            <a:ext cx="2795930" cy="365760"/>
          </a:xfrm>
          <a:prstGeom prst="rect">
            <a:avLst/>
          </a:prstGeom>
          <a:noFill/>
        </p:spPr>
        <p:txBody>
          <a:bodyPr wrap="square" lIns="0" rIns="0" tIns="0" bIns="0">
            <a:spAutoFit/>
          </a:bodyPr>
          <a:lstStyle/>
          <a:p>
            <a:pPr algn="l">
              <a:lnSpc>
                <a:spcPct val="100000"/>
              </a:lnSpc>
              <a:defRPr sz="1500" b="1" i="0">
                <a:solidFill>
                  <a:srgbClr val="3FC17E"/>
                </a:solidFill>
                <a:latin typeface="Segoe UI"/>
              </a:defRPr>
            </a:pPr>
            <a:r>
              <a:t>Keep the evidence</a:t>
            </a:r>
          </a:p>
        </p:txBody>
      </p:sp>
      <p:sp>
        <p:nvSpPr>
          <p:cNvPr id="19" name="TextBox 18"/>
          <p:cNvSpPr txBox="1"/>
          <p:nvPr/>
        </p:nvSpPr>
        <p:spPr>
          <a:xfrm>
            <a:off x="8298484" y="3218688"/>
            <a:ext cx="2795930" cy="685799"/>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Capture the table preview and final PASS output. Distinguish offline narratives from a live model response.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01F1B"/>
        </a:solidFill>
        <a:effectLst/>
      </p:bgPr>
    </p:bg>
    <p:spTree>
      <p:nvGrpSpPr>
        <p:cNvPr id="1" name=""/>
        <p:cNvGrpSpPr/>
        <p:nvPr/>
      </p:nvGrpSpPr>
      <p:grpSpPr/>
      <p:pic>
        <p:nvPicPr>
          <p:cNvPr id="2" name="Picture 1" descr="pipeline_3fc17e.png"/>
          <p:cNvPicPr>
            <a:picLocks noChangeAspect="1"/>
          </p:cNvPicPr>
          <p:nvPr/>
        </p:nvPicPr>
        <p:blipFill>
          <a:blip r:embed="rId2"/>
          <a:stretch>
            <a:fillRect/>
          </a:stretch>
        </p:blipFill>
        <p:spPr>
          <a:xfrm>
            <a:off x="822960" y="2148840"/>
            <a:ext cx="777240" cy="777240"/>
          </a:xfrm>
          <a:prstGeom prst="rect">
            <a:avLst/>
          </a:prstGeom>
        </p:spPr>
      </p:pic>
      <p:sp>
        <p:nvSpPr>
          <p:cNvPr id="3" name="Rectangle 2"/>
          <p:cNvSpPr/>
          <p:nvPr/>
        </p:nvSpPr>
        <p:spPr>
          <a:xfrm>
            <a:off x="822960" y="3154680"/>
            <a:ext cx="1280160" cy="68580"/>
          </a:xfrm>
          <a:prstGeom prst="rect">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2743200" cy="365760"/>
          </a:xfrm>
          <a:prstGeom prst="rect">
            <a:avLst/>
          </a:prstGeom>
          <a:noFill/>
        </p:spPr>
        <p:txBody>
          <a:bodyPr wrap="square" lIns="0" rIns="0" tIns="0" bIns="0">
            <a:spAutoFit/>
          </a:bodyPr>
          <a:lstStyle/>
          <a:p>
            <a:pPr algn="l">
              <a:lnSpc>
                <a:spcPct val="100000"/>
              </a:lnSpc>
              <a:defRPr sz="1100" b="1" i="0">
                <a:solidFill>
                  <a:srgbClr val="647C74"/>
                </a:solidFill>
                <a:latin typeface="Segoe UI"/>
              </a:defRPr>
            </a:pPr>
            <a:r>
              <a:t>BLOCK 5</a:t>
            </a:r>
          </a:p>
        </p:txBody>
      </p:sp>
      <p:sp>
        <p:nvSpPr>
          <p:cNvPr id="5" name="TextBox 4"/>
          <p:cNvSpPr txBox="1"/>
          <p:nvPr/>
        </p:nvSpPr>
        <p:spPr>
          <a:xfrm>
            <a:off x="822960" y="3401568"/>
            <a:ext cx="9601200" cy="914400"/>
          </a:xfrm>
          <a:prstGeom prst="rect">
            <a:avLst/>
          </a:prstGeom>
          <a:noFill/>
        </p:spPr>
        <p:txBody>
          <a:bodyPr wrap="square" lIns="0" rIns="0" tIns="0" bIns="0">
            <a:spAutoFit/>
          </a:bodyPr>
          <a:lstStyle/>
          <a:p>
            <a:pPr algn="l">
              <a:lnSpc>
                <a:spcPct val="100000"/>
              </a:lnSpc>
              <a:defRPr sz="3400" b="1" i="0">
                <a:solidFill>
                  <a:srgbClr val="F1F5F3"/>
                </a:solidFill>
                <a:latin typeface="Segoe UI"/>
              </a:defRPr>
            </a:pPr>
            <a:r>
              <a:t>Make it repeatable</a:t>
            </a:r>
          </a:p>
        </p:txBody>
      </p:sp>
      <p:sp>
        <p:nvSpPr>
          <p:cNvPr id="6" name="TextBox 5"/>
          <p:cNvSpPr txBox="1"/>
          <p:nvPr/>
        </p:nvSpPr>
        <p:spPr>
          <a:xfrm>
            <a:off x="822960" y="4434840"/>
            <a:ext cx="9601200" cy="822960"/>
          </a:xfrm>
          <a:prstGeom prst="rect">
            <a:avLst/>
          </a:prstGeom>
          <a:noFill/>
        </p:spPr>
        <p:txBody>
          <a:bodyPr wrap="square" lIns="0" rIns="0" tIns="0" bIns="0">
            <a:spAutoFit/>
          </a:bodyPr>
          <a:lstStyle/>
          <a:p>
            <a:pPr algn="l">
              <a:lnSpc>
                <a:spcPct val="125000"/>
              </a:lnSpc>
              <a:defRPr sz="1500" b="0" i="0">
                <a:solidFill>
                  <a:srgbClr val="9CAFA8"/>
                </a:solidFill>
                <a:latin typeface="Segoe UI"/>
              </a:defRPr>
            </a:pPr>
            <a:r>
              <a:t>Because the requirement said nobody opens a notebook</a:t>
            </a:r>
          </a:p>
        </p:txBody>
      </p:sp>
      <p:sp>
        <p:nvSpPr>
          <p:cNvPr id="7" name="TextBox 6"/>
          <p:cNvSpPr txBox="1"/>
          <p:nvPr/>
        </p:nvSpPr>
        <p:spPr>
          <a:xfrm>
            <a:off x="8625535" y="1691640"/>
            <a:ext cx="2743200" cy="365760"/>
          </a:xfrm>
          <a:prstGeom prst="rect">
            <a:avLst/>
          </a:prstGeom>
          <a:noFill/>
        </p:spPr>
        <p:txBody>
          <a:bodyPr wrap="square" lIns="0" rIns="0" tIns="0" bIns="0">
            <a:spAutoFit/>
          </a:bodyPr>
          <a:lstStyle/>
          <a:p>
            <a:pPr algn="r">
              <a:lnSpc>
                <a:spcPct val="100000"/>
              </a:lnSpc>
              <a:defRPr sz="1200" b="1" i="0">
                <a:solidFill>
                  <a:srgbClr val="3FC17E"/>
                </a:solidFill>
                <a:latin typeface="Segoe UI"/>
              </a:defRPr>
            </a:pPr>
            <a:r>
              <a:t>25 min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5</a:t>
            </a:r>
          </a:p>
        </p:txBody>
      </p:sp>
      <p:pic>
        <p:nvPicPr>
          <p:cNvPr id="4" name="Picture 3" descr="pipeline_3fc17e.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30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The pipeline, five activities and one gate</a:t>
            </a:r>
          </a:p>
        </p:txBody>
      </p:sp>
      <p:sp>
        <p:nvSpPr>
          <p:cNvPr id="7" name="Rounded Rectangle 6"/>
          <p:cNvSpPr/>
          <p:nvPr/>
        </p:nvSpPr>
        <p:spPr>
          <a:xfrm>
            <a:off x="822960" y="2148840"/>
            <a:ext cx="1801916" cy="2286000"/>
          </a:xfrm>
          <a:prstGeom prst="roundRect">
            <a:avLst>
              <a:gd name="adj" fmla="val 6000"/>
            </a:avLst>
          </a:prstGeom>
          <a:solidFill>
            <a:srgbClr val="152621"/>
          </a:solidFill>
          <a:ln w="19050">
            <a:solidFill>
              <a:srgbClr val="C084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ownload_c0844a.png"/>
          <p:cNvPicPr>
            <a:picLocks noChangeAspect="1"/>
          </p:cNvPicPr>
          <p:nvPr/>
        </p:nvPicPr>
        <p:blipFill>
          <a:blip r:embed="rId3"/>
          <a:stretch>
            <a:fillRect/>
          </a:stretch>
        </p:blipFill>
        <p:spPr>
          <a:xfrm>
            <a:off x="1078992" y="2404872"/>
            <a:ext cx="402336" cy="402336"/>
          </a:xfrm>
          <a:prstGeom prst="rect">
            <a:avLst/>
          </a:prstGeom>
        </p:spPr>
      </p:pic>
      <p:sp>
        <p:nvSpPr>
          <p:cNvPr id="9" name="TextBox 8"/>
          <p:cNvSpPr txBox="1"/>
          <p:nvPr/>
        </p:nvSpPr>
        <p:spPr>
          <a:xfrm>
            <a:off x="1078992" y="2953512"/>
            <a:ext cx="1289852" cy="365760"/>
          </a:xfrm>
          <a:prstGeom prst="rect">
            <a:avLst/>
          </a:prstGeom>
          <a:noFill/>
        </p:spPr>
        <p:txBody>
          <a:bodyPr wrap="square" lIns="0" rIns="0" tIns="0" bIns="0">
            <a:spAutoFit/>
          </a:bodyPr>
          <a:lstStyle/>
          <a:p>
            <a:pPr algn="l">
              <a:lnSpc>
                <a:spcPct val="100000"/>
              </a:lnSpc>
              <a:defRPr sz="1500" b="1" i="0">
                <a:solidFill>
                  <a:srgbClr val="C0844A"/>
                </a:solidFill>
                <a:latin typeface="Segoe UI"/>
              </a:defRPr>
            </a:pPr>
            <a:r>
              <a:t>Bronze ingest</a:t>
            </a:r>
          </a:p>
        </p:txBody>
      </p:sp>
      <p:sp>
        <p:nvSpPr>
          <p:cNvPr id="10" name="TextBox 9"/>
          <p:cNvSpPr txBox="1"/>
          <p:nvPr/>
        </p:nvSpPr>
        <p:spPr>
          <a:xfrm>
            <a:off x="1078992" y="3355848"/>
            <a:ext cx="1289852" cy="914400"/>
          </a:xfrm>
          <a:prstGeom prst="rect">
            <a:avLst/>
          </a:prstGeom>
          <a:noFill/>
        </p:spPr>
        <p:txBody>
          <a:bodyPr wrap="square" lIns="0" rIns="0" tIns="0" bIns="0">
            <a:spAutoFit/>
          </a:bodyPr>
          <a:lstStyle/>
          <a:p>
            <a:pPr algn="l">
              <a:lnSpc>
                <a:spcPct val="120000"/>
              </a:lnSpc>
              <a:defRPr sz="1150" b="0" i="0">
                <a:solidFill>
                  <a:srgbClr val="9CAFA8"/>
                </a:solidFill>
                <a:latin typeface="Segoe UI"/>
              </a:defRPr>
            </a:pPr>
            <a:r>
              <a:t>Notebook 01, parameterised on area of interest and date window.</a:t>
            </a:r>
          </a:p>
        </p:txBody>
      </p:sp>
      <p:sp>
        <p:nvSpPr>
          <p:cNvPr id="11" name="Right Arrow 10"/>
          <p:cNvSpPr/>
          <p:nvPr/>
        </p:nvSpPr>
        <p:spPr>
          <a:xfrm>
            <a:off x="2679740" y="3191256"/>
            <a:ext cx="274320" cy="201168"/>
          </a:xfrm>
          <a:prstGeom prst="rightArrow">
            <a:avLst/>
          </a:prstGeom>
          <a:solidFill>
            <a:srgbClr val="1F3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008924" y="2148840"/>
            <a:ext cx="1801916" cy="2286000"/>
          </a:xfrm>
          <a:prstGeom prst="roundRect">
            <a:avLst>
              <a:gd name="adj" fmla="val 6000"/>
            </a:avLst>
          </a:prstGeom>
          <a:solidFill>
            <a:srgbClr val="152621"/>
          </a:solidFill>
          <a:ln w="19050">
            <a:solidFill>
              <a:srgbClr val="B6C2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ilter_b6c2c9.png"/>
          <p:cNvPicPr>
            <a:picLocks noChangeAspect="1"/>
          </p:cNvPicPr>
          <p:nvPr/>
        </p:nvPicPr>
        <p:blipFill>
          <a:blip r:embed="rId4"/>
          <a:stretch>
            <a:fillRect/>
          </a:stretch>
        </p:blipFill>
        <p:spPr>
          <a:xfrm>
            <a:off x="3264956" y="2404872"/>
            <a:ext cx="402336" cy="402336"/>
          </a:xfrm>
          <a:prstGeom prst="rect">
            <a:avLst/>
          </a:prstGeom>
        </p:spPr>
      </p:pic>
      <p:sp>
        <p:nvSpPr>
          <p:cNvPr id="14" name="TextBox 13"/>
          <p:cNvSpPr txBox="1"/>
          <p:nvPr/>
        </p:nvSpPr>
        <p:spPr>
          <a:xfrm>
            <a:off x="3264956" y="2953512"/>
            <a:ext cx="1289852" cy="365760"/>
          </a:xfrm>
          <a:prstGeom prst="rect">
            <a:avLst/>
          </a:prstGeom>
          <a:noFill/>
        </p:spPr>
        <p:txBody>
          <a:bodyPr wrap="square" lIns="0" rIns="0" tIns="0" bIns="0">
            <a:spAutoFit/>
          </a:bodyPr>
          <a:lstStyle/>
          <a:p>
            <a:pPr algn="l">
              <a:lnSpc>
                <a:spcPct val="100000"/>
              </a:lnSpc>
              <a:defRPr sz="1500" b="1" i="0">
                <a:solidFill>
                  <a:srgbClr val="B6C2C9"/>
                </a:solidFill>
                <a:latin typeface="Segoe UI"/>
              </a:defRPr>
            </a:pPr>
            <a:r>
              <a:t>Silver derive</a:t>
            </a:r>
          </a:p>
        </p:txBody>
      </p:sp>
      <p:sp>
        <p:nvSpPr>
          <p:cNvPr id="15" name="TextBox 14"/>
          <p:cNvSpPr txBox="1"/>
          <p:nvPr/>
        </p:nvSpPr>
        <p:spPr>
          <a:xfrm>
            <a:off x="3264956" y="3355848"/>
            <a:ext cx="1289852" cy="914400"/>
          </a:xfrm>
          <a:prstGeom prst="rect">
            <a:avLst/>
          </a:prstGeom>
          <a:noFill/>
        </p:spPr>
        <p:txBody>
          <a:bodyPr wrap="square" lIns="0" rIns="0" tIns="0" bIns="0">
            <a:spAutoFit/>
          </a:bodyPr>
          <a:lstStyle/>
          <a:p>
            <a:pPr algn="l">
              <a:lnSpc>
                <a:spcPct val="120000"/>
              </a:lnSpc>
              <a:defRPr sz="1150" b="0" i="0">
                <a:solidFill>
                  <a:srgbClr val="9CAFA8"/>
                </a:solidFill>
                <a:latin typeface="Segoe UI"/>
              </a:defRPr>
            </a:pPr>
            <a:r>
              <a:t>Notebook 02. Mask, reproject, index, aggregate to stands.</a:t>
            </a:r>
          </a:p>
        </p:txBody>
      </p:sp>
      <p:sp>
        <p:nvSpPr>
          <p:cNvPr id="16" name="Right Arrow 15"/>
          <p:cNvSpPr/>
          <p:nvPr/>
        </p:nvSpPr>
        <p:spPr>
          <a:xfrm>
            <a:off x="4865705" y="3191256"/>
            <a:ext cx="274320" cy="201168"/>
          </a:xfrm>
          <a:prstGeom prst="rightArrow">
            <a:avLst/>
          </a:prstGeom>
          <a:solidFill>
            <a:srgbClr val="1F3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194889" y="2148840"/>
            <a:ext cx="1801916" cy="2286000"/>
          </a:xfrm>
          <a:prstGeom prst="roundRect">
            <a:avLst>
              <a:gd name="adj" fmla="val 6000"/>
            </a:avLst>
          </a:prstGeom>
          <a:solidFill>
            <a:srgbClr val="152621"/>
          </a:solidFill>
          <a:ln w="1905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ate_ef4444.png"/>
          <p:cNvPicPr>
            <a:picLocks noChangeAspect="1"/>
          </p:cNvPicPr>
          <p:nvPr/>
        </p:nvPicPr>
        <p:blipFill>
          <a:blip r:embed="rId5"/>
          <a:stretch>
            <a:fillRect/>
          </a:stretch>
        </p:blipFill>
        <p:spPr>
          <a:xfrm>
            <a:off x="5450921" y="2404872"/>
            <a:ext cx="402336" cy="402336"/>
          </a:xfrm>
          <a:prstGeom prst="rect">
            <a:avLst/>
          </a:prstGeom>
        </p:spPr>
      </p:pic>
      <p:sp>
        <p:nvSpPr>
          <p:cNvPr id="19" name="TextBox 18"/>
          <p:cNvSpPr txBox="1"/>
          <p:nvPr/>
        </p:nvSpPr>
        <p:spPr>
          <a:xfrm>
            <a:off x="5450921" y="2953512"/>
            <a:ext cx="1289852" cy="365760"/>
          </a:xfrm>
          <a:prstGeom prst="rect">
            <a:avLst/>
          </a:prstGeom>
          <a:noFill/>
        </p:spPr>
        <p:txBody>
          <a:bodyPr wrap="square" lIns="0" rIns="0" tIns="0" bIns="0">
            <a:spAutoFit/>
          </a:bodyPr>
          <a:lstStyle/>
          <a:p>
            <a:pPr algn="l">
              <a:lnSpc>
                <a:spcPct val="100000"/>
              </a:lnSpc>
              <a:defRPr sz="1500" b="1" i="0">
                <a:solidFill>
                  <a:srgbClr val="EF4444"/>
                </a:solidFill>
                <a:latin typeface="Segoe UI"/>
              </a:defRPr>
            </a:pPr>
            <a:r>
              <a:t>Quality gate</a:t>
            </a:r>
          </a:p>
        </p:txBody>
      </p:sp>
      <p:sp>
        <p:nvSpPr>
          <p:cNvPr id="20" name="TextBox 19"/>
          <p:cNvSpPr txBox="1"/>
          <p:nvPr/>
        </p:nvSpPr>
        <p:spPr>
          <a:xfrm>
            <a:off x="5450921" y="3355848"/>
            <a:ext cx="1289852" cy="914400"/>
          </a:xfrm>
          <a:prstGeom prst="rect">
            <a:avLst/>
          </a:prstGeom>
          <a:noFill/>
        </p:spPr>
        <p:txBody>
          <a:bodyPr wrap="square" lIns="0" rIns="0" tIns="0" bIns="0">
            <a:spAutoFit/>
          </a:bodyPr>
          <a:lstStyle/>
          <a:p>
            <a:pPr algn="l">
              <a:lnSpc>
                <a:spcPct val="120000"/>
              </a:lnSpc>
              <a:defRPr sz="1150" b="0" i="0">
                <a:solidFill>
                  <a:srgbClr val="9CAFA8"/>
                </a:solidFill>
                <a:latin typeface="Segoe UI"/>
              </a:defRPr>
            </a:pPr>
            <a:r>
              <a:t>Fail the run if scene count, masked fraction or stand coverage is out of bounds.</a:t>
            </a:r>
          </a:p>
        </p:txBody>
      </p:sp>
      <p:sp>
        <p:nvSpPr>
          <p:cNvPr id="21" name="Right Arrow 20"/>
          <p:cNvSpPr/>
          <p:nvPr/>
        </p:nvSpPr>
        <p:spPr>
          <a:xfrm>
            <a:off x="7051669" y="3191256"/>
            <a:ext cx="274320" cy="201168"/>
          </a:xfrm>
          <a:prstGeom prst="rightArrow">
            <a:avLst/>
          </a:prstGeom>
          <a:solidFill>
            <a:srgbClr val="1F3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80853" y="2148840"/>
            <a:ext cx="1801916" cy="2286000"/>
          </a:xfrm>
          <a:prstGeom prst="roundRect">
            <a:avLst>
              <a:gd name="adj" fmla="val 6000"/>
            </a:avLst>
          </a:prstGeom>
          <a:solidFill>
            <a:srgbClr val="152621"/>
          </a:solidFill>
          <a:ln w="19050">
            <a:solidFill>
              <a:srgbClr val="E3B3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brain_e3b341.png"/>
          <p:cNvPicPr>
            <a:picLocks noChangeAspect="1"/>
          </p:cNvPicPr>
          <p:nvPr/>
        </p:nvPicPr>
        <p:blipFill>
          <a:blip r:embed="rId6"/>
          <a:stretch>
            <a:fillRect/>
          </a:stretch>
        </p:blipFill>
        <p:spPr>
          <a:xfrm>
            <a:off x="7636885" y="2404872"/>
            <a:ext cx="402336" cy="402336"/>
          </a:xfrm>
          <a:prstGeom prst="rect">
            <a:avLst/>
          </a:prstGeom>
        </p:spPr>
      </p:pic>
      <p:sp>
        <p:nvSpPr>
          <p:cNvPr id="24" name="TextBox 23"/>
          <p:cNvSpPr txBox="1"/>
          <p:nvPr/>
        </p:nvSpPr>
        <p:spPr>
          <a:xfrm>
            <a:off x="7636885" y="2953512"/>
            <a:ext cx="1289852" cy="365760"/>
          </a:xfrm>
          <a:prstGeom prst="rect">
            <a:avLst/>
          </a:prstGeom>
          <a:noFill/>
        </p:spPr>
        <p:txBody>
          <a:bodyPr wrap="square" lIns="0" rIns="0" tIns="0" bIns="0">
            <a:spAutoFit/>
          </a:bodyPr>
          <a:lstStyle/>
          <a:p>
            <a:pPr algn="l">
              <a:lnSpc>
                <a:spcPct val="100000"/>
              </a:lnSpc>
              <a:defRPr sz="1500" b="1" i="0">
                <a:solidFill>
                  <a:srgbClr val="E3B341"/>
                </a:solidFill>
                <a:latin typeface="Segoe UI"/>
              </a:defRPr>
            </a:pPr>
            <a:r>
              <a:t>Gold classify and enrich</a:t>
            </a:r>
          </a:p>
        </p:txBody>
      </p:sp>
      <p:sp>
        <p:nvSpPr>
          <p:cNvPr id="25" name="TextBox 24"/>
          <p:cNvSpPr txBox="1"/>
          <p:nvPr/>
        </p:nvSpPr>
        <p:spPr>
          <a:xfrm>
            <a:off x="7636885" y="3355848"/>
            <a:ext cx="1289852" cy="914400"/>
          </a:xfrm>
          <a:prstGeom prst="rect">
            <a:avLst/>
          </a:prstGeom>
          <a:noFill/>
        </p:spPr>
        <p:txBody>
          <a:bodyPr wrap="square" lIns="0" rIns="0" tIns="0" bIns="0">
            <a:spAutoFit/>
          </a:bodyPr>
          <a:lstStyle/>
          <a:p>
            <a:pPr algn="l">
              <a:lnSpc>
                <a:spcPct val="120000"/>
              </a:lnSpc>
              <a:defRPr sz="1150" b="0" i="0">
                <a:solidFill>
                  <a:srgbClr val="9CAFA8"/>
                </a:solidFill>
                <a:latin typeface="Segoe UI"/>
              </a:defRPr>
            </a:pPr>
            <a:r>
              <a:t>Notebooks 03 and 04. Threshold, then the validated narrative.</a:t>
            </a:r>
          </a:p>
        </p:txBody>
      </p:sp>
      <p:sp>
        <p:nvSpPr>
          <p:cNvPr id="26" name="Right Arrow 25"/>
          <p:cNvSpPr/>
          <p:nvPr/>
        </p:nvSpPr>
        <p:spPr>
          <a:xfrm>
            <a:off x="9237634" y="3191256"/>
            <a:ext cx="274320" cy="201168"/>
          </a:xfrm>
          <a:prstGeom prst="rightArrow">
            <a:avLst/>
          </a:prstGeom>
          <a:solidFill>
            <a:srgbClr val="1F3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566818" y="2148840"/>
            <a:ext cx="1801916" cy="2286000"/>
          </a:xfrm>
          <a:prstGeom prst="roundRect">
            <a:avLst>
              <a:gd name="adj" fmla="val 6000"/>
            </a:avLst>
          </a:prstGeom>
          <a:solidFill>
            <a:srgbClr val="152621"/>
          </a:solidFill>
          <a:ln w="19050">
            <a:solidFill>
              <a:srgbClr val="389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chart_389ff7.png"/>
          <p:cNvPicPr>
            <a:picLocks noChangeAspect="1"/>
          </p:cNvPicPr>
          <p:nvPr/>
        </p:nvPicPr>
        <p:blipFill>
          <a:blip r:embed="rId7"/>
          <a:stretch>
            <a:fillRect/>
          </a:stretch>
        </p:blipFill>
        <p:spPr>
          <a:xfrm>
            <a:off x="9822850" y="2404872"/>
            <a:ext cx="402336" cy="402336"/>
          </a:xfrm>
          <a:prstGeom prst="rect">
            <a:avLst/>
          </a:prstGeom>
        </p:spPr>
      </p:pic>
      <p:sp>
        <p:nvSpPr>
          <p:cNvPr id="29" name="TextBox 28"/>
          <p:cNvSpPr txBox="1"/>
          <p:nvPr/>
        </p:nvSpPr>
        <p:spPr>
          <a:xfrm>
            <a:off x="9822850" y="2953512"/>
            <a:ext cx="1289852" cy="365760"/>
          </a:xfrm>
          <a:prstGeom prst="rect">
            <a:avLst/>
          </a:prstGeom>
          <a:noFill/>
        </p:spPr>
        <p:txBody>
          <a:bodyPr wrap="square" lIns="0" rIns="0" tIns="0" bIns="0">
            <a:spAutoFit/>
          </a:bodyPr>
          <a:lstStyle/>
          <a:p>
            <a:pPr algn="l">
              <a:lnSpc>
                <a:spcPct val="100000"/>
              </a:lnSpc>
              <a:defRPr sz="1500" b="1" i="0">
                <a:solidFill>
                  <a:srgbClr val="389FF7"/>
                </a:solidFill>
                <a:latin typeface="Segoe UI"/>
              </a:defRPr>
            </a:pPr>
            <a:r>
              <a:t>Publish</a:t>
            </a:r>
          </a:p>
        </p:txBody>
      </p:sp>
      <p:sp>
        <p:nvSpPr>
          <p:cNvPr id="30" name="TextBox 29"/>
          <p:cNvSpPr txBox="1"/>
          <p:nvPr/>
        </p:nvSpPr>
        <p:spPr>
          <a:xfrm>
            <a:off x="9822850" y="3355848"/>
            <a:ext cx="1289852" cy="914400"/>
          </a:xfrm>
          <a:prstGeom prst="rect">
            <a:avLst/>
          </a:prstGeom>
          <a:noFill/>
        </p:spPr>
        <p:txBody>
          <a:bodyPr wrap="square" lIns="0" rIns="0" tIns="0" bIns="0">
            <a:spAutoFit/>
          </a:bodyPr>
          <a:lstStyle/>
          <a:p>
            <a:pPr algn="l">
              <a:lnSpc>
                <a:spcPct val="120000"/>
              </a:lnSpc>
              <a:defRPr sz="1150" b="0" i="0">
                <a:solidFill>
                  <a:srgbClr val="9CAFA8"/>
                </a:solidFill>
                <a:latin typeface="Segoe UI"/>
              </a:defRPr>
            </a:pPr>
            <a:r>
              <a:t>Notebook 05. Facts and dimensions land, Direct Lake picks them up.</a:t>
            </a:r>
          </a:p>
        </p:txBody>
      </p:sp>
      <p:sp>
        <p:nvSpPr>
          <p:cNvPr id="31" name="Rounded Rectangle 30"/>
          <p:cNvSpPr/>
          <p:nvPr/>
        </p:nvSpPr>
        <p:spPr>
          <a:xfrm>
            <a:off x="822960" y="5486400"/>
            <a:ext cx="10543032" cy="749808"/>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43000" y="5678424"/>
            <a:ext cx="9966960" cy="502920"/>
          </a:xfrm>
          <a:prstGeom prst="rect">
            <a:avLst/>
          </a:prstGeom>
          <a:noFill/>
        </p:spPr>
        <p:txBody>
          <a:bodyPr wrap="square" lIns="0" rIns="0" tIns="0" bIns="0">
            <a:spAutoFit/>
          </a:bodyPr>
          <a:lstStyle/>
          <a:p>
            <a:pPr algn="l">
              <a:lnSpc>
                <a:spcPct val="100000"/>
              </a:lnSpc>
              <a:defRPr sz="1350" b="0" i="0">
                <a:solidFill>
                  <a:srgbClr val="3FC17E"/>
                </a:solidFill>
                <a:latin typeface="Segoe UI"/>
              </a:defRPr>
            </a:pPr>
            <a:r>
              <a:t>The gate is the only activity that exists to stop the pipeline. Everything else exists to move it forward.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5</a:t>
            </a:r>
          </a:p>
        </p:txBody>
      </p:sp>
      <p:pic>
        <p:nvPicPr>
          <p:cNvPr id="4" name="Picture 3" descr="calendar_3fc17e.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31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Parameters, schedule, and what happens when it fails</a:t>
            </a:r>
          </a:p>
        </p:txBody>
      </p:sp>
      <p:sp>
        <p:nvSpPr>
          <p:cNvPr id="7" name="TextBox 6"/>
          <p:cNvSpPr txBox="1"/>
          <p:nvPr/>
        </p:nvSpPr>
        <p:spPr>
          <a:xfrm>
            <a:off x="822960" y="1783080"/>
            <a:ext cx="10332720" cy="3840480"/>
          </a:xfrm>
          <a:prstGeom prst="rect">
            <a:avLst/>
          </a:prstGeom>
          <a:noFill/>
        </p:spPr>
        <p:txBody>
          <a:bodyPr wrap="square" lIns="0" rIns="0">
            <a:spAutoFit/>
          </a:bodyPr>
          <a:lstStyle/>
          <a:p>
            <a:pPr>
              <a:lnSpc>
                <a:spcPct val="115000"/>
              </a:lnSpc>
              <a:spcBef>
                <a:spcPts val="0"/>
              </a:spcBef>
            </a:pPr>
            <a:r>
              <a:rPr sz="1500" b="1">
                <a:solidFill>
                  <a:srgbClr val="3FC17E"/>
                </a:solidFill>
                <a:latin typeface="Segoe UI"/>
              </a:rPr>
              <a:t>▸  </a:t>
            </a:r>
            <a:r>
              <a:rPr sz="1500">
                <a:solidFill>
                  <a:srgbClr val="F1F5F3"/>
                </a:solidFill>
                <a:latin typeface="Segoe UI"/>
              </a:rPr>
              <a:t>Parameterise the area of interest and the date window, so the same pipeline serves every licence block</a:t>
            </a:r>
          </a:p>
          <a:p>
            <a:pPr>
              <a:lnSpc>
                <a:spcPct val="115000"/>
              </a:lnSpc>
              <a:spcBef>
                <a:spcPts val="1600"/>
              </a:spcBef>
            </a:pPr>
            <a:r>
              <a:rPr sz="1500" b="1">
                <a:solidFill>
                  <a:srgbClr val="3FC17E"/>
                </a:solidFill>
                <a:latin typeface="Segoe UI"/>
              </a:rPr>
              <a:t>▸  </a:t>
            </a:r>
            <a:r>
              <a:rPr sz="1500">
                <a:solidFill>
                  <a:srgbClr val="F1F5F3"/>
                </a:solidFill>
                <a:latin typeface="Segoe UI"/>
              </a:rPr>
              <a:t>Schedule monthly, a few days after month end, so the imagery has had time to land in the catalogue</a:t>
            </a:r>
          </a:p>
          <a:p>
            <a:pPr>
              <a:lnSpc>
                <a:spcPct val="115000"/>
              </a:lnSpc>
              <a:spcBef>
                <a:spcPts val="1600"/>
              </a:spcBef>
            </a:pPr>
            <a:r>
              <a:rPr sz="1500" b="1">
                <a:solidFill>
                  <a:srgbClr val="3FC17E"/>
                </a:solidFill>
                <a:latin typeface="Segoe UI"/>
              </a:rPr>
              <a:t>▸  </a:t>
            </a:r>
            <a:r>
              <a:rPr sz="1500">
                <a:solidFill>
                  <a:srgbClr val="F1F5F3"/>
                </a:solidFill>
                <a:latin typeface="Segoe UI"/>
              </a:rPr>
              <a:t>On failure, notify a person and leave the previous month's gold tables untouched</a:t>
            </a:r>
          </a:p>
          <a:p>
            <a:pPr>
              <a:lnSpc>
                <a:spcPct val="115000"/>
              </a:lnSpc>
              <a:spcBef>
                <a:spcPts val="1600"/>
              </a:spcBef>
            </a:pPr>
            <a:r>
              <a:rPr sz="1500" b="1">
                <a:solidFill>
                  <a:srgbClr val="3FC17E"/>
                </a:solidFill>
                <a:latin typeface="Segoe UI"/>
              </a:rPr>
              <a:t>▸  </a:t>
            </a:r>
            <a:r>
              <a:rPr sz="1500">
                <a:solidFill>
                  <a:srgbClr val="F1F5F3"/>
                </a:solidFill>
                <a:latin typeface="Segoe UI"/>
              </a:rPr>
              <a:t>Never publish a partial month. A gap is visible and recoverable, wrong numbers are neither</a:t>
            </a:r>
          </a:p>
          <a:p>
            <a:pPr>
              <a:lnSpc>
                <a:spcPct val="115000"/>
              </a:lnSpc>
              <a:spcBef>
                <a:spcPts val="1600"/>
              </a:spcBef>
            </a:pPr>
            <a:r>
              <a:rPr sz="1500" b="1">
                <a:solidFill>
                  <a:srgbClr val="3FC17E"/>
                </a:solidFill>
                <a:latin typeface="Segoe UI"/>
              </a:rPr>
              <a:t>▸  </a:t>
            </a:r>
            <a:r>
              <a:rPr sz="1500">
                <a:solidFill>
                  <a:srgbClr val="F1F5F3"/>
                </a:solidFill>
                <a:latin typeface="Segoe UI"/>
              </a:rPr>
              <a:t>Log the pipeline_run_id through every layer, so any published number traces back to the scenes behind it</a:t>
            </a:r>
          </a:p>
        </p:txBody>
      </p:sp>
      <p:sp>
        <p:nvSpPr>
          <p:cNvPr id="8" name="Rounded Rectangle 7"/>
          <p:cNvSpPr/>
          <p:nvPr/>
        </p:nvSpPr>
        <p:spPr>
          <a:xfrm>
            <a:off x="822960" y="5440680"/>
            <a:ext cx="10543032" cy="77724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5641848"/>
            <a:ext cx="9966960" cy="548640"/>
          </a:xfrm>
          <a:prstGeom prst="rect">
            <a:avLst/>
          </a:prstGeom>
          <a:noFill/>
        </p:spPr>
        <p:txBody>
          <a:bodyPr wrap="square" lIns="0" rIns="0" tIns="0" bIns="0">
            <a:spAutoFit/>
          </a:bodyPr>
          <a:lstStyle/>
          <a:p>
            <a:pPr algn="l">
              <a:lnSpc>
                <a:spcPct val="120000"/>
              </a:lnSpc>
              <a:defRPr sz="1350" b="0" i="0">
                <a:solidFill>
                  <a:srgbClr val="3FC17E"/>
                </a:solidFill>
                <a:latin typeface="Segoe UI"/>
              </a:defRPr>
            </a:pPr>
            <a:r>
              <a:t>The run id is the thread that answers 'where did this number come from' six months later.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STEP 5</a:t>
            </a:r>
          </a:p>
        </p:txBody>
      </p:sp>
      <p:pic>
        <p:nvPicPr>
          <p:cNvPr id="4" name="Picture 3" descr="warning_f59e0b.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32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What actually breaks in production</a:t>
            </a:r>
          </a:p>
        </p:txBody>
      </p:sp>
      <p:sp>
        <p:nvSpPr>
          <p:cNvPr id="7" name="TextBox 6"/>
          <p:cNvSpPr txBox="1"/>
          <p:nvPr/>
        </p:nvSpPr>
        <p:spPr>
          <a:xfrm>
            <a:off x="822960" y="1828800"/>
            <a:ext cx="2909397" cy="310896"/>
          </a:xfrm>
          <a:prstGeom prst="rect">
            <a:avLst/>
          </a:prstGeom>
          <a:noFill/>
        </p:spPr>
        <p:txBody>
          <a:bodyPr wrap="square" lIns="0" rIns="0" tIns="0" bIns="0">
            <a:spAutoFit/>
          </a:bodyPr>
          <a:lstStyle/>
          <a:p>
            <a:pPr algn="l">
              <a:lnSpc>
                <a:spcPct val="100000"/>
              </a:lnSpc>
              <a:defRPr sz="1050" b="1" i="0">
                <a:solidFill>
                  <a:srgbClr val="F59E0B"/>
                </a:solidFill>
                <a:latin typeface="Segoe UI"/>
              </a:defRPr>
            </a:pPr>
            <a:r>
              <a:t>FAILURE</a:t>
            </a:r>
          </a:p>
        </p:txBody>
      </p:sp>
      <p:sp>
        <p:nvSpPr>
          <p:cNvPr id="8" name="TextBox 7"/>
          <p:cNvSpPr txBox="1"/>
          <p:nvPr/>
        </p:nvSpPr>
        <p:spPr>
          <a:xfrm>
            <a:off x="3869517" y="1828800"/>
            <a:ext cx="3260923" cy="310896"/>
          </a:xfrm>
          <a:prstGeom prst="rect">
            <a:avLst/>
          </a:prstGeom>
          <a:noFill/>
        </p:spPr>
        <p:txBody>
          <a:bodyPr wrap="square" lIns="0" rIns="0" tIns="0" bIns="0">
            <a:spAutoFit/>
          </a:bodyPr>
          <a:lstStyle/>
          <a:p>
            <a:pPr algn="l">
              <a:lnSpc>
                <a:spcPct val="100000"/>
              </a:lnSpc>
              <a:defRPr sz="1050" b="1" i="0">
                <a:solidFill>
                  <a:srgbClr val="F59E0B"/>
                </a:solidFill>
                <a:latin typeface="Segoe UI"/>
              </a:defRPr>
            </a:pPr>
            <a:r>
              <a:t>WHAT YOU SEE</a:t>
            </a:r>
          </a:p>
        </p:txBody>
      </p:sp>
      <p:sp>
        <p:nvSpPr>
          <p:cNvPr id="9" name="TextBox 8"/>
          <p:cNvSpPr txBox="1"/>
          <p:nvPr/>
        </p:nvSpPr>
        <p:spPr>
          <a:xfrm>
            <a:off x="7267600" y="1828800"/>
            <a:ext cx="3963974" cy="310896"/>
          </a:xfrm>
          <a:prstGeom prst="rect">
            <a:avLst/>
          </a:prstGeom>
          <a:noFill/>
        </p:spPr>
        <p:txBody>
          <a:bodyPr wrap="square" lIns="0" rIns="0" tIns="0" bIns="0">
            <a:spAutoFit/>
          </a:bodyPr>
          <a:lstStyle/>
          <a:p>
            <a:pPr algn="l">
              <a:lnSpc>
                <a:spcPct val="100000"/>
              </a:lnSpc>
              <a:defRPr sz="1050" b="1" i="0">
                <a:solidFill>
                  <a:srgbClr val="F59E0B"/>
                </a:solidFill>
                <a:latin typeface="Segoe UI"/>
              </a:defRPr>
            </a:pPr>
            <a:r>
              <a:t>DESIGN FOR IT NOW</a:t>
            </a:r>
          </a:p>
        </p:txBody>
      </p:sp>
      <p:sp>
        <p:nvSpPr>
          <p:cNvPr id="10" name="Rectangle 9"/>
          <p:cNvSpPr/>
          <p:nvPr/>
        </p:nvSpPr>
        <p:spPr>
          <a:xfrm>
            <a:off x="822960" y="2157984"/>
            <a:ext cx="10545775" cy="18288"/>
          </a:xfrm>
          <a:prstGeom prst="rect">
            <a:avLst/>
          </a:prstGeom>
          <a:solidFill>
            <a:srgbClr val="1F3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2167128"/>
            <a:ext cx="10765231" cy="618134"/>
          </a:xfrm>
          <a:prstGeom prst="rect">
            <a:avLst/>
          </a:prstGeom>
          <a:solidFill>
            <a:srgbClr val="1526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258568"/>
            <a:ext cx="2909397" cy="563270"/>
          </a:xfrm>
          <a:prstGeom prst="rect">
            <a:avLst/>
          </a:prstGeom>
          <a:noFill/>
        </p:spPr>
        <p:txBody>
          <a:bodyPr wrap="square" lIns="0" rIns="0" tIns="0" bIns="0">
            <a:spAutoFit/>
          </a:bodyPr>
          <a:lstStyle/>
          <a:p>
            <a:pPr algn="l">
              <a:lnSpc>
                <a:spcPct val="100000"/>
              </a:lnSpc>
              <a:defRPr sz="1150" b="1" i="0">
                <a:solidFill>
                  <a:srgbClr val="F1F5F3"/>
                </a:solidFill>
                <a:latin typeface="Segoe UI"/>
              </a:defRPr>
            </a:pPr>
            <a:r>
              <a:t>No clear scene this month</a:t>
            </a:r>
          </a:p>
        </p:txBody>
      </p:sp>
      <p:sp>
        <p:nvSpPr>
          <p:cNvPr id="13" name="TextBox 12"/>
          <p:cNvSpPr txBox="1"/>
          <p:nvPr/>
        </p:nvSpPr>
        <p:spPr>
          <a:xfrm>
            <a:off x="3869517" y="2258568"/>
            <a:ext cx="3260923" cy="563270"/>
          </a:xfrm>
          <a:prstGeom prst="rect">
            <a:avLst/>
          </a:prstGeom>
          <a:noFill/>
        </p:spPr>
        <p:txBody>
          <a:bodyPr wrap="square" lIns="0" rIns="0" tIns="0" bIns="0">
            <a:spAutoFit/>
          </a:bodyPr>
          <a:lstStyle/>
          <a:p>
            <a:pPr algn="l">
              <a:lnSpc>
                <a:spcPct val="100000"/>
              </a:lnSpc>
              <a:defRPr sz="1150" b="0" i="0">
                <a:solidFill>
                  <a:srgbClr val="9CAFA8"/>
                </a:solidFill>
                <a:latin typeface="Segoe UI"/>
              </a:defRPr>
            </a:pPr>
            <a:r>
              <a:t>Empty result, no error</a:t>
            </a:r>
          </a:p>
        </p:txBody>
      </p:sp>
      <p:sp>
        <p:nvSpPr>
          <p:cNvPr id="14" name="TextBox 13"/>
          <p:cNvSpPr txBox="1"/>
          <p:nvPr/>
        </p:nvSpPr>
        <p:spPr>
          <a:xfrm>
            <a:off x="7267600" y="2258568"/>
            <a:ext cx="3963974" cy="563270"/>
          </a:xfrm>
          <a:prstGeom prst="rect">
            <a:avLst/>
          </a:prstGeom>
          <a:noFill/>
        </p:spPr>
        <p:txBody>
          <a:bodyPr wrap="square" lIns="0" rIns="0" tIns="0" bIns="0">
            <a:spAutoFit/>
          </a:bodyPr>
          <a:lstStyle/>
          <a:p>
            <a:pPr algn="l">
              <a:lnSpc>
                <a:spcPct val="100000"/>
              </a:lnSpc>
              <a:defRPr sz="1150" b="0" i="0">
                <a:solidFill>
                  <a:srgbClr val="9CAFA8"/>
                </a:solidFill>
                <a:latin typeface="Segoe UI"/>
              </a:defRPr>
            </a:pPr>
            <a:r>
              <a:t>Widen the window and rank, gate on scene count</a:t>
            </a:r>
          </a:p>
        </p:txBody>
      </p:sp>
      <p:sp>
        <p:nvSpPr>
          <p:cNvPr id="15" name="TextBox 14"/>
          <p:cNvSpPr txBox="1"/>
          <p:nvPr/>
        </p:nvSpPr>
        <p:spPr>
          <a:xfrm>
            <a:off x="822960" y="2913278"/>
            <a:ext cx="2909397" cy="563270"/>
          </a:xfrm>
          <a:prstGeom prst="rect">
            <a:avLst/>
          </a:prstGeom>
          <a:noFill/>
        </p:spPr>
        <p:txBody>
          <a:bodyPr wrap="square" lIns="0" rIns="0" tIns="0" bIns="0">
            <a:spAutoFit/>
          </a:bodyPr>
          <a:lstStyle/>
          <a:p>
            <a:pPr algn="l">
              <a:lnSpc>
                <a:spcPct val="100000"/>
              </a:lnSpc>
              <a:defRPr sz="1150" b="1" i="0">
                <a:solidFill>
                  <a:srgbClr val="F1F5F3"/>
                </a:solidFill>
                <a:latin typeface="Segoe UI"/>
              </a:defRPr>
            </a:pPr>
            <a:r>
              <a:t>Area crosses a UTM zone</a:t>
            </a:r>
          </a:p>
        </p:txBody>
      </p:sp>
      <p:sp>
        <p:nvSpPr>
          <p:cNvPr id="16" name="TextBox 15"/>
          <p:cNvSpPr txBox="1"/>
          <p:nvPr/>
        </p:nvSpPr>
        <p:spPr>
          <a:xfrm>
            <a:off x="3869517" y="2913278"/>
            <a:ext cx="3260923" cy="563270"/>
          </a:xfrm>
          <a:prstGeom prst="rect">
            <a:avLst/>
          </a:prstGeom>
          <a:noFill/>
        </p:spPr>
        <p:txBody>
          <a:bodyPr wrap="square" lIns="0" rIns="0" tIns="0" bIns="0">
            <a:spAutoFit/>
          </a:bodyPr>
          <a:lstStyle/>
          <a:p>
            <a:pPr algn="l">
              <a:lnSpc>
                <a:spcPct val="100000"/>
              </a:lnSpc>
              <a:defRPr sz="1150" b="0" i="0">
                <a:solidFill>
                  <a:srgbClr val="9CAFA8"/>
                </a:solidFill>
                <a:latin typeface="Segoe UI"/>
              </a:defRPr>
            </a:pPr>
            <a:r>
              <a:t>Two native CRSs in one result</a:t>
            </a:r>
          </a:p>
        </p:txBody>
      </p:sp>
      <p:sp>
        <p:nvSpPr>
          <p:cNvPr id="17" name="TextBox 16"/>
          <p:cNvSpPr txBox="1"/>
          <p:nvPr/>
        </p:nvSpPr>
        <p:spPr>
          <a:xfrm>
            <a:off x="7267600" y="2913278"/>
            <a:ext cx="3963974" cy="563270"/>
          </a:xfrm>
          <a:prstGeom prst="rect">
            <a:avLst/>
          </a:prstGeom>
          <a:noFill/>
        </p:spPr>
        <p:txBody>
          <a:bodyPr wrap="square" lIns="0" rIns="0" tIns="0" bIns="0">
            <a:spAutoFit/>
          </a:bodyPr>
          <a:lstStyle/>
          <a:p>
            <a:pPr algn="l">
              <a:lnSpc>
                <a:spcPct val="100000"/>
              </a:lnSpc>
              <a:defRPr sz="1150" b="0" i="0">
                <a:solidFill>
                  <a:srgbClr val="9CAFA8"/>
                </a:solidFill>
                <a:latin typeface="Segoe UI"/>
              </a:defRPr>
            </a:pPr>
            <a:r>
              <a:t>Reproject in silver, never mosaic in bronze</a:t>
            </a:r>
          </a:p>
        </p:txBody>
      </p:sp>
      <p:sp>
        <p:nvSpPr>
          <p:cNvPr id="18" name="Rectangle 17"/>
          <p:cNvSpPr/>
          <p:nvPr/>
        </p:nvSpPr>
        <p:spPr>
          <a:xfrm>
            <a:off x="713232" y="3476548"/>
            <a:ext cx="10765231" cy="618134"/>
          </a:xfrm>
          <a:prstGeom prst="rect">
            <a:avLst/>
          </a:prstGeom>
          <a:solidFill>
            <a:srgbClr val="1526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567988"/>
            <a:ext cx="2909397" cy="563270"/>
          </a:xfrm>
          <a:prstGeom prst="rect">
            <a:avLst/>
          </a:prstGeom>
          <a:noFill/>
        </p:spPr>
        <p:txBody>
          <a:bodyPr wrap="square" lIns="0" rIns="0" tIns="0" bIns="0">
            <a:spAutoFit/>
          </a:bodyPr>
          <a:lstStyle/>
          <a:p>
            <a:pPr algn="l">
              <a:lnSpc>
                <a:spcPct val="100000"/>
              </a:lnSpc>
              <a:defRPr sz="1150" b="1" i="0">
                <a:solidFill>
                  <a:srgbClr val="F1F5F3"/>
                </a:solidFill>
                <a:latin typeface="Segoe UI"/>
              </a:defRPr>
            </a:pPr>
            <a:r>
              <a:t>Stand IDs change in the register</a:t>
            </a:r>
          </a:p>
        </p:txBody>
      </p:sp>
      <p:sp>
        <p:nvSpPr>
          <p:cNvPr id="20" name="TextBox 19"/>
          <p:cNvSpPr txBox="1"/>
          <p:nvPr/>
        </p:nvSpPr>
        <p:spPr>
          <a:xfrm>
            <a:off x="3869517" y="3567988"/>
            <a:ext cx="3260923" cy="563270"/>
          </a:xfrm>
          <a:prstGeom prst="rect">
            <a:avLst/>
          </a:prstGeom>
          <a:noFill/>
        </p:spPr>
        <p:txBody>
          <a:bodyPr wrap="square" lIns="0" rIns="0" tIns="0" bIns="0">
            <a:spAutoFit/>
          </a:bodyPr>
          <a:lstStyle/>
          <a:p>
            <a:pPr algn="l">
              <a:lnSpc>
                <a:spcPct val="100000"/>
              </a:lnSpc>
              <a:defRPr sz="1150" b="0" i="0">
                <a:solidFill>
                  <a:srgbClr val="9CAFA8"/>
                </a:solidFill>
                <a:latin typeface="Segoe UI"/>
              </a:defRPr>
            </a:pPr>
            <a:r>
              <a:t>Orphaned facts, silent row loss</a:t>
            </a:r>
          </a:p>
        </p:txBody>
      </p:sp>
      <p:sp>
        <p:nvSpPr>
          <p:cNvPr id="21" name="TextBox 20"/>
          <p:cNvSpPr txBox="1"/>
          <p:nvPr/>
        </p:nvSpPr>
        <p:spPr>
          <a:xfrm>
            <a:off x="7267600" y="3567988"/>
            <a:ext cx="3963974" cy="563270"/>
          </a:xfrm>
          <a:prstGeom prst="rect">
            <a:avLst/>
          </a:prstGeom>
          <a:noFill/>
        </p:spPr>
        <p:txBody>
          <a:bodyPr wrap="square" lIns="0" rIns="0" tIns="0" bIns="0">
            <a:spAutoFit/>
          </a:bodyPr>
          <a:lstStyle/>
          <a:p>
            <a:pPr algn="l">
              <a:lnSpc>
                <a:spcPct val="100000"/>
              </a:lnSpc>
              <a:defRPr sz="1150" b="0" i="0">
                <a:solidFill>
                  <a:srgbClr val="9CAFA8"/>
                </a:solidFill>
                <a:latin typeface="Segoe UI"/>
              </a:defRPr>
            </a:pPr>
            <a:r>
              <a:t>Key on a stable id, gate on stand coverage</a:t>
            </a:r>
          </a:p>
        </p:txBody>
      </p:sp>
      <p:sp>
        <p:nvSpPr>
          <p:cNvPr id="22" name="TextBox 21"/>
          <p:cNvSpPr txBox="1"/>
          <p:nvPr/>
        </p:nvSpPr>
        <p:spPr>
          <a:xfrm>
            <a:off x="822960" y="4222699"/>
            <a:ext cx="2909397" cy="563270"/>
          </a:xfrm>
          <a:prstGeom prst="rect">
            <a:avLst/>
          </a:prstGeom>
          <a:noFill/>
        </p:spPr>
        <p:txBody>
          <a:bodyPr wrap="square" lIns="0" rIns="0" tIns="0" bIns="0">
            <a:spAutoFit/>
          </a:bodyPr>
          <a:lstStyle/>
          <a:p>
            <a:pPr algn="l">
              <a:lnSpc>
                <a:spcPct val="100000"/>
              </a:lnSpc>
              <a:defRPr sz="1150" b="1" i="0">
                <a:solidFill>
                  <a:srgbClr val="F1F5F3"/>
                </a:solidFill>
                <a:latin typeface="Segoe UI"/>
              </a:defRPr>
            </a:pPr>
            <a:r>
              <a:t>Foundry deployment version moves</a:t>
            </a:r>
          </a:p>
        </p:txBody>
      </p:sp>
      <p:sp>
        <p:nvSpPr>
          <p:cNvPr id="23" name="TextBox 22"/>
          <p:cNvSpPr txBox="1"/>
          <p:nvPr/>
        </p:nvSpPr>
        <p:spPr>
          <a:xfrm>
            <a:off x="3869517" y="4222699"/>
            <a:ext cx="3260923" cy="563270"/>
          </a:xfrm>
          <a:prstGeom prst="rect">
            <a:avLst/>
          </a:prstGeom>
          <a:noFill/>
        </p:spPr>
        <p:txBody>
          <a:bodyPr wrap="square" lIns="0" rIns="0" tIns="0" bIns="0">
            <a:spAutoFit/>
          </a:bodyPr>
          <a:lstStyle/>
          <a:p>
            <a:pPr algn="l">
              <a:lnSpc>
                <a:spcPct val="100000"/>
              </a:lnSpc>
              <a:defRPr sz="1150" b="0" i="0">
                <a:solidFill>
                  <a:srgbClr val="9CAFA8"/>
                </a:solidFill>
                <a:latin typeface="Segoe UI"/>
              </a:defRPr>
            </a:pPr>
            <a:r>
              <a:t>Narrative style drifts, schema may break</a:t>
            </a:r>
          </a:p>
        </p:txBody>
      </p:sp>
      <p:sp>
        <p:nvSpPr>
          <p:cNvPr id="24" name="TextBox 23"/>
          <p:cNvSpPr txBox="1"/>
          <p:nvPr/>
        </p:nvSpPr>
        <p:spPr>
          <a:xfrm>
            <a:off x="7267600" y="4222699"/>
            <a:ext cx="3963974" cy="563270"/>
          </a:xfrm>
          <a:prstGeom prst="rect">
            <a:avLst/>
          </a:prstGeom>
          <a:noFill/>
        </p:spPr>
        <p:txBody>
          <a:bodyPr wrap="square" lIns="0" rIns="0" tIns="0" bIns="0">
            <a:spAutoFit/>
          </a:bodyPr>
          <a:lstStyle/>
          <a:p>
            <a:pPr algn="l">
              <a:lnSpc>
                <a:spcPct val="100000"/>
              </a:lnSpc>
              <a:defRPr sz="1150" b="0" i="0">
                <a:solidFill>
                  <a:srgbClr val="9CAFA8"/>
                </a:solidFill>
                <a:latin typeface="Segoe UI"/>
              </a:defRPr>
            </a:pPr>
            <a:r>
              <a:t>Pin the deployment, validate the schema every run</a:t>
            </a:r>
          </a:p>
        </p:txBody>
      </p:sp>
      <p:sp>
        <p:nvSpPr>
          <p:cNvPr id="25" name="Rectangle 24"/>
          <p:cNvSpPr/>
          <p:nvPr/>
        </p:nvSpPr>
        <p:spPr>
          <a:xfrm>
            <a:off x="713232" y="4785969"/>
            <a:ext cx="10765231" cy="618134"/>
          </a:xfrm>
          <a:prstGeom prst="rect">
            <a:avLst/>
          </a:prstGeom>
          <a:solidFill>
            <a:srgbClr val="1526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877409"/>
            <a:ext cx="2909397" cy="563270"/>
          </a:xfrm>
          <a:prstGeom prst="rect">
            <a:avLst/>
          </a:prstGeom>
          <a:noFill/>
        </p:spPr>
        <p:txBody>
          <a:bodyPr wrap="square" lIns="0" rIns="0" tIns="0" bIns="0">
            <a:spAutoFit/>
          </a:bodyPr>
          <a:lstStyle/>
          <a:p>
            <a:pPr algn="l">
              <a:lnSpc>
                <a:spcPct val="100000"/>
              </a:lnSpc>
              <a:defRPr sz="1150" b="1" i="0">
                <a:solidFill>
                  <a:srgbClr val="F1F5F3"/>
                </a:solidFill>
                <a:latin typeface="Segoe UI"/>
              </a:defRPr>
            </a:pPr>
            <a:r>
              <a:t>A dependency updates underneath you</a:t>
            </a:r>
          </a:p>
        </p:txBody>
      </p:sp>
      <p:sp>
        <p:nvSpPr>
          <p:cNvPr id="27" name="TextBox 26"/>
          <p:cNvSpPr txBox="1"/>
          <p:nvPr/>
        </p:nvSpPr>
        <p:spPr>
          <a:xfrm>
            <a:off x="3869517" y="4877409"/>
            <a:ext cx="3260923" cy="563270"/>
          </a:xfrm>
          <a:prstGeom prst="rect">
            <a:avLst/>
          </a:prstGeom>
          <a:noFill/>
        </p:spPr>
        <p:txBody>
          <a:bodyPr wrap="square" lIns="0" rIns="0" tIns="0" bIns="0">
            <a:spAutoFit/>
          </a:bodyPr>
          <a:lstStyle/>
          <a:p>
            <a:pPr algn="l">
              <a:lnSpc>
                <a:spcPct val="100000"/>
              </a:lnSpc>
              <a:defRPr sz="1150" b="0" i="0">
                <a:solidFill>
                  <a:srgbClr val="9CAFA8"/>
                </a:solidFill>
                <a:latin typeface="Segoe UI"/>
              </a:defRPr>
            </a:pPr>
            <a:r>
              <a:t>Code unchanged, run fails</a:t>
            </a:r>
          </a:p>
        </p:txBody>
      </p:sp>
      <p:sp>
        <p:nvSpPr>
          <p:cNvPr id="28" name="TextBox 27"/>
          <p:cNvSpPr txBox="1"/>
          <p:nvPr/>
        </p:nvSpPr>
        <p:spPr>
          <a:xfrm>
            <a:off x="7267600" y="4877409"/>
            <a:ext cx="3963974" cy="563270"/>
          </a:xfrm>
          <a:prstGeom prst="rect">
            <a:avLst/>
          </a:prstGeom>
          <a:noFill/>
        </p:spPr>
        <p:txBody>
          <a:bodyPr wrap="square" lIns="0" rIns="0" tIns="0" bIns="0">
            <a:spAutoFit/>
          </a:bodyPr>
          <a:lstStyle/>
          <a:p>
            <a:pPr algn="l">
              <a:lnSpc>
                <a:spcPct val="100000"/>
              </a:lnSpc>
              <a:defRPr sz="1150" b="0" i="0">
                <a:solidFill>
                  <a:srgbClr val="9CAFA8"/>
                </a:solidFill>
                <a:latin typeface="Segoe UI"/>
              </a:defRPr>
            </a:pPr>
            <a:r>
              <a:t>Pin the library set in a published Environment</a:t>
            </a:r>
          </a:p>
        </p:txBody>
      </p:sp>
      <p:sp>
        <p:nvSpPr>
          <p:cNvPr id="29" name="TextBox 28"/>
          <p:cNvSpPr txBox="1"/>
          <p:nvPr/>
        </p:nvSpPr>
        <p:spPr>
          <a:xfrm>
            <a:off x="822960" y="5897880"/>
            <a:ext cx="10332720" cy="457200"/>
          </a:xfrm>
          <a:prstGeom prst="rect">
            <a:avLst/>
          </a:prstGeom>
          <a:noFill/>
        </p:spPr>
        <p:txBody>
          <a:bodyPr wrap="square" lIns="0" rIns="0" tIns="0" bIns="0">
            <a:spAutoFit/>
          </a:bodyPr>
          <a:lstStyle/>
          <a:p>
            <a:pPr algn="l">
              <a:lnSpc>
                <a:spcPct val="100000"/>
              </a:lnSpc>
              <a:defRPr sz="1300" b="0" i="0">
                <a:solidFill>
                  <a:srgbClr val="F59E0B"/>
                </a:solidFill>
                <a:latin typeface="Segoe UI"/>
              </a:defRPr>
            </a:pPr>
            <a:r>
              <a:t>Every row here has happened. The last one happened while building this workshop.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01F1B"/>
        </a:solidFill>
        <a:effectLst/>
      </p:bgPr>
    </p:bg>
    <p:spTree>
      <p:nvGrpSpPr>
        <p:cNvPr id="1" name=""/>
        <p:cNvGrpSpPr/>
        <p:nvPr/>
      </p:nvGrpSpPr>
      <p:grpSpPr/>
      <p:pic>
        <p:nvPicPr>
          <p:cNvPr id="2" name="Picture 1" descr="rocket_3fc17e.png"/>
          <p:cNvPicPr>
            <a:picLocks noChangeAspect="1"/>
          </p:cNvPicPr>
          <p:nvPr/>
        </p:nvPicPr>
        <p:blipFill>
          <a:blip r:embed="rId2"/>
          <a:stretch>
            <a:fillRect/>
          </a:stretch>
        </p:blipFill>
        <p:spPr>
          <a:xfrm>
            <a:off x="822960" y="1965960"/>
            <a:ext cx="640080" cy="640080"/>
          </a:xfrm>
          <a:prstGeom prst="rect">
            <a:avLst/>
          </a:prstGeom>
        </p:spPr>
      </p:pic>
      <p:sp>
        <p:nvSpPr>
          <p:cNvPr id="3" name="Rectangle 2"/>
          <p:cNvSpPr/>
          <p:nvPr/>
        </p:nvSpPr>
        <p:spPr>
          <a:xfrm>
            <a:off x="822960" y="2834640"/>
            <a:ext cx="1280160" cy="68580"/>
          </a:xfrm>
          <a:prstGeom prst="rect">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27248"/>
            <a:ext cx="10241280" cy="2011680"/>
          </a:xfrm>
          <a:prstGeom prst="rect">
            <a:avLst/>
          </a:prstGeom>
          <a:noFill/>
        </p:spPr>
        <p:txBody>
          <a:bodyPr wrap="square" lIns="0" rIns="0" tIns="0" bIns="0">
            <a:spAutoFit/>
          </a:bodyPr>
          <a:lstStyle/>
          <a:p>
            <a:pPr algn="l">
              <a:lnSpc>
                <a:spcPct val="120000"/>
              </a:lnSpc>
              <a:defRPr sz="2600" b="1" i="0">
                <a:solidFill>
                  <a:srgbClr val="F1F5F3"/>
                </a:solidFill>
                <a:latin typeface="Segoe UI"/>
              </a:defRPr>
            </a:pPr>
            <a:r>
              <a:t>A notebook that works is a demonstration.</a:t>
            </a:r>
          </a:p>
          <a:p>
            <a:pPr algn="l">
              <a:lnSpc>
                <a:spcPct val="120000"/>
              </a:lnSpc>
              <a:defRPr sz="2600" b="1" i="0">
                <a:solidFill>
                  <a:srgbClr val="F1F5F3"/>
                </a:solidFill>
                <a:latin typeface="Segoe UI"/>
              </a:defRPr>
            </a:pPr>
            <a:r>
              <a:t>A pipeline that runs when nobody is watching</a:t>
            </a:r>
          </a:p>
          <a:p>
            <a:pPr algn="l">
              <a:lnSpc>
                <a:spcPct val="120000"/>
              </a:lnSpc>
              <a:defRPr sz="2600" b="1" i="0">
                <a:solidFill>
                  <a:srgbClr val="F1F5F3"/>
                </a:solidFill>
                <a:latin typeface="Segoe UI"/>
              </a:defRPr>
            </a:pPr>
            <a:r>
              <a:t>is a product.</a:t>
            </a:r>
          </a:p>
        </p:txBody>
      </p:sp>
      <p:sp>
        <p:nvSpPr>
          <p:cNvPr id="5" name="TextBox 4"/>
          <p:cNvSpPr txBox="1"/>
          <p:nvPr/>
        </p:nvSpPr>
        <p:spPr>
          <a:xfrm>
            <a:off x="822960" y="5257800"/>
            <a:ext cx="10241280" cy="365760"/>
          </a:xfrm>
          <a:prstGeom prst="rect">
            <a:avLst/>
          </a:prstGeom>
          <a:noFill/>
        </p:spPr>
        <p:txBody>
          <a:bodyPr wrap="square" lIns="0" rIns="0" tIns="0" bIns="0">
            <a:spAutoFit/>
          </a:bodyPr>
          <a:lstStyle/>
          <a:p>
            <a:pPr algn="l">
              <a:lnSpc>
                <a:spcPct val="100000"/>
              </a:lnSpc>
              <a:defRPr sz="1300" b="0" i="0">
                <a:solidFill>
                  <a:srgbClr val="9CAFA8"/>
                </a:solidFill>
                <a:latin typeface="Segoe UI"/>
              </a:defRPr>
            </a:pPr>
            <a:r>
              <a:t>The difference is parameters, a schedule, a quality gate, and someone's name on the failure alert.</a:t>
            </a:r>
          </a:p>
        </p:txBody>
      </p:sp>
      <p:sp>
        <p:nvSpPr>
          <p:cNvPr id="6" name="TextBox 5"/>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33 / 44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ASSIGNMENT</a:t>
            </a:r>
          </a:p>
        </p:txBody>
      </p:sp>
      <p:pic>
        <p:nvPicPr>
          <p:cNvPr id="4" name="Picture 3" descr="target_3fc17e.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34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The assignment</a:t>
            </a:r>
          </a:p>
        </p:txBody>
      </p:sp>
      <p:sp>
        <p:nvSpPr>
          <p:cNvPr id="7" name="TextBox 6"/>
          <p:cNvSpPr txBox="1"/>
          <p:nvPr/>
        </p:nvSpPr>
        <p:spPr>
          <a:xfrm>
            <a:off x="822960" y="1783080"/>
            <a:ext cx="10332720" cy="3840480"/>
          </a:xfrm>
          <a:prstGeom prst="rect">
            <a:avLst/>
          </a:prstGeom>
          <a:noFill/>
        </p:spPr>
        <p:txBody>
          <a:bodyPr wrap="square" lIns="0" rIns="0">
            <a:spAutoFit/>
          </a:bodyPr>
          <a:lstStyle/>
          <a:p>
            <a:pPr>
              <a:lnSpc>
                <a:spcPct val="115000"/>
              </a:lnSpc>
              <a:spcBef>
                <a:spcPts val="0"/>
              </a:spcBef>
            </a:pPr>
            <a:r>
              <a:rPr sz="1500" b="1">
                <a:solidFill>
                  <a:srgbClr val="3FC17E"/>
                </a:solidFill>
                <a:latin typeface="Segoe UI"/>
              </a:rPr>
              <a:t>▸  </a:t>
            </a:r>
            <a:r>
              <a:rPr sz="1500">
                <a:solidFill>
                  <a:srgbClr val="F1F5F3"/>
                </a:solidFill>
                <a:latin typeface="Segoe UI"/>
              </a:rPr>
              <a:t>Run the full pipeline over one of your own licence blocks, not the workshop area of interest</a:t>
            </a:r>
          </a:p>
          <a:p>
            <a:pPr>
              <a:lnSpc>
                <a:spcPct val="115000"/>
              </a:lnSpc>
              <a:spcBef>
                <a:spcPts val="1600"/>
              </a:spcBef>
            </a:pPr>
            <a:r>
              <a:rPr sz="1500" b="1">
                <a:solidFill>
                  <a:srgbClr val="3FC17E"/>
                </a:solidFill>
                <a:latin typeface="Segoe UI"/>
              </a:rPr>
              <a:t>▸  </a:t>
            </a:r>
            <a:r>
              <a:rPr sz="1500">
                <a:solidFill>
                  <a:srgbClr val="F1F5F3"/>
                </a:solidFill>
                <a:latin typeface="Segoe UI"/>
              </a:rPr>
              <a:t>Choose a date window with a genuine data problem in it and handle it, rather than picking a clean month</a:t>
            </a:r>
          </a:p>
          <a:p>
            <a:pPr>
              <a:lnSpc>
                <a:spcPct val="115000"/>
              </a:lnSpc>
              <a:spcBef>
                <a:spcPts val="1600"/>
              </a:spcBef>
            </a:pPr>
            <a:r>
              <a:rPr sz="1500" b="1">
                <a:solidFill>
                  <a:srgbClr val="3FC17E"/>
                </a:solidFill>
                <a:latin typeface="Segoe UI"/>
              </a:rPr>
              <a:t>▸  </a:t>
            </a:r>
            <a:r>
              <a:rPr sz="1500">
                <a:solidFill>
                  <a:srgbClr val="F1F5F3"/>
                </a:solidFill>
                <a:latin typeface="Segoe UI"/>
              </a:rPr>
              <a:t>Add one quality gate of your own design, and document what it protects against</a:t>
            </a:r>
          </a:p>
          <a:p>
            <a:pPr>
              <a:lnSpc>
                <a:spcPct val="115000"/>
              </a:lnSpc>
              <a:spcBef>
                <a:spcPts val="1600"/>
              </a:spcBef>
            </a:pPr>
            <a:r>
              <a:rPr sz="1500" b="1">
                <a:solidFill>
                  <a:srgbClr val="3FC17E"/>
                </a:solidFill>
                <a:latin typeface="Segoe UI"/>
              </a:rPr>
              <a:t>▸  </a:t>
            </a:r>
            <a:r>
              <a:rPr sz="1500">
                <a:solidFill>
                  <a:srgbClr val="F1F5F3"/>
                </a:solidFill>
                <a:latin typeface="Segoe UI"/>
              </a:rPr>
              <a:t>Publish a report page that answers a question your own team actually asks</a:t>
            </a:r>
          </a:p>
          <a:p>
            <a:pPr>
              <a:lnSpc>
                <a:spcPct val="115000"/>
              </a:lnSpc>
              <a:spcBef>
                <a:spcPts val="1600"/>
              </a:spcBef>
            </a:pPr>
            <a:r>
              <a:rPr sz="1500" b="1">
                <a:solidFill>
                  <a:srgbClr val="3FC17E"/>
                </a:solidFill>
                <a:latin typeface="Segoe UI"/>
              </a:rPr>
              <a:t>▸  </a:t>
            </a:r>
            <a:r>
              <a:rPr sz="1500">
                <a:solidFill>
                  <a:srgbClr val="F1F5F3"/>
                </a:solidFill>
                <a:latin typeface="Segoe UI"/>
              </a:rPr>
              <a:t>Write one paragraph on what you would not automate, and why</a:t>
            </a:r>
          </a:p>
        </p:txBody>
      </p:sp>
      <p:sp>
        <p:nvSpPr>
          <p:cNvPr id="8" name="Rounded Rectangle 7"/>
          <p:cNvSpPr/>
          <p:nvPr/>
        </p:nvSpPr>
        <p:spPr>
          <a:xfrm>
            <a:off x="822960" y="5440680"/>
            <a:ext cx="10543032" cy="77724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5641848"/>
            <a:ext cx="9966960" cy="548640"/>
          </a:xfrm>
          <a:prstGeom prst="rect">
            <a:avLst/>
          </a:prstGeom>
          <a:noFill/>
        </p:spPr>
        <p:txBody>
          <a:bodyPr wrap="square" lIns="0" rIns="0" tIns="0" bIns="0">
            <a:spAutoFit/>
          </a:bodyPr>
          <a:lstStyle/>
          <a:p>
            <a:pPr algn="l">
              <a:lnSpc>
                <a:spcPct val="120000"/>
              </a:lnSpc>
              <a:defRPr sz="1350" b="0" i="0">
                <a:solidFill>
                  <a:srgbClr val="3FC17E"/>
                </a:solidFill>
                <a:latin typeface="Segoe UI"/>
              </a:defRPr>
            </a:pPr>
            <a:r>
              <a:t>Full brief in docs/08-assignment.md. Two weeks. Office hours weekly.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SUPPORT</a:t>
            </a:r>
          </a:p>
        </p:txBody>
      </p:sp>
      <p:pic>
        <p:nvPicPr>
          <p:cNvPr id="4" name="Picture 3" descr="compass_3fc17e.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35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Where to get unstuck</a:t>
            </a:r>
          </a:p>
        </p:txBody>
      </p:sp>
      <p:sp>
        <p:nvSpPr>
          <p:cNvPr id="7" name="Rounded Rectangle 6"/>
          <p:cNvSpPr/>
          <p:nvPr/>
        </p:nvSpPr>
        <p:spPr>
          <a:xfrm>
            <a:off x="822960" y="1783080"/>
            <a:ext cx="3344570"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notebook_3fc17e.png"/>
          <p:cNvPicPr>
            <a:picLocks noChangeAspect="1"/>
          </p:cNvPicPr>
          <p:nvPr/>
        </p:nvPicPr>
        <p:blipFill>
          <a:blip r:embed="rId3"/>
          <a:stretch>
            <a:fillRect/>
          </a:stretch>
        </p:blipFill>
        <p:spPr>
          <a:xfrm>
            <a:off x="1097280" y="2039112"/>
            <a:ext cx="384048" cy="384048"/>
          </a:xfrm>
          <a:prstGeom prst="rect">
            <a:avLst/>
          </a:prstGeom>
        </p:spPr>
      </p:pic>
      <p:sp>
        <p:nvSpPr>
          <p:cNvPr id="9" name="TextBox 8"/>
          <p:cNvSpPr txBox="1"/>
          <p:nvPr/>
        </p:nvSpPr>
        <p:spPr>
          <a:xfrm>
            <a:off x="1097280" y="2560320"/>
            <a:ext cx="2795930" cy="365760"/>
          </a:xfrm>
          <a:prstGeom prst="rect">
            <a:avLst/>
          </a:prstGeom>
          <a:noFill/>
        </p:spPr>
        <p:txBody>
          <a:bodyPr wrap="square" lIns="0" rIns="0" tIns="0" bIns="0">
            <a:spAutoFit/>
          </a:bodyPr>
          <a:lstStyle/>
          <a:p>
            <a:pPr algn="l">
              <a:lnSpc>
                <a:spcPct val="100000"/>
              </a:lnSpc>
              <a:defRPr sz="1500" b="1" i="0">
                <a:solidFill>
                  <a:srgbClr val="3FC17E"/>
                </a:solidFill>
                <a:latin typeface="Segoe UI"/>
              </a:defRPr>
            </a:pPr>
            <a:r>
              <a:t>Solution notebooks</a:t>
            </a:r>
          </a:p>
        </p:txBody>
      </p:sp>
      <p:sp>
        <p:nvSpPr>
          <p:cNvPr id="10" name="TextBox 9"/>
          <p:cNvSpPr txBox="1"/>
          <p:nvPr/>
        </p:nvSpPr>
        <p:spPr>
          <a:xfrm>
            <a:off x="1097280" y="2944368"/>
            <a:ext cx="2795930" cy="685800"/>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Complete, runnable answers for all six exercises in notebooks/solutions/. Reading one is the designed path, not a failure.</a:t>
            </a:r>
          </a:p>
        </p:txBody>
      </p:sp>
      <p:sp>
        <p:nvSpPr>
          <p:cNvPr id="11" name="Rounded Rectangle 10"/>
          <p:cNvSpPr/>
          <p:nvPr/>
        </p:nvSpPr>
        <p:spPr>
          <a:xfrm>
            <a:off x="4423562" y="1783080"/>
            <a:ext cx="3344570"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ook_3fc17e.png"/>
          <p:cNvPicPr>
            <a:picLocks noChangeAspect="1"/>
          </p:cNvPicPr>
          <p:nvPr/>
        </p:nvPicPr>
        <p:blipFill>
          <a:blip r:embed="rId4"/>
          <a:stretch>
            <a:fillRect/>
          </a:stretch>
        </p:blipFill>
        <p:spPr>
          <a:xfrm>
            <a:off x="4697882" y="2039112"/>
            <a:ext cx="384048" cy="384048"/>
          </a:xfrm>
          <a:prstGeom prst="rect">
            <a:avLst/>
          </a:prstGeom>
        </p:spPr>
      </p:pic>
      <p:sp>
        <p:nvSpPr>
          <p:cNvPr id="13" name="TextBox 12"/>
          <p:cNvSpPr txBox="1"/>
          <p:nvPr/>
        </p:nvSpPr>
        <p:spPr>
          <a:xfrm>
            <a:off x="4697882" y="2560320"/>
            <a:ext cx="2795930" cy="365760"/>
          </a:xfrm>
          <a:prstGeom prst="rect">
            <a:avLst/>
          </a:prstGeom>
          <a:noFill/>
        </p:spPr>
        <p:txBody>
          <a:bodyPr wrap="square" lIns="0" rIns="0" tIns="0" bIns="0">
            <a:spAutoFit/>
          </a:bodyPr>
          <a:lstStyle/>
          <a:p>
            <a:pPr algn="l">
              <a:lnSpc>
                <a:spcPct val="100000"/>
              </a:lnSpc>
              <a:defRPr sz="1500" b="1" i="0">
                <a:solidFill>
                  <a:srgbClr val="3FC17E"/>
                </a:solidFill>
                <a:latin typeface="Segoe UI"/>
              </a:defRPr>
            </a:pPr>
            <a:r>
              <a:t>Troubleshooting guide</a:t>
            </a:r>
          </a:p>
        </p:txBody>
      </p:sp>
      <p:sp>
        <p:nvSpPr>
          <p:cNvPr id="14" name="TextBox 13"/>
          <p:cNvSpPr txBox="1"/>
          <p:nvPr/>
        </p:nvSpPr>
        <p:spPr>
          <a:xfrm>
            <a:off x="4697882" y="2944368"/>
            <a:ext cx="2795930" cy="685800"/>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docs/09-troubleshooting.md, organised by symptom rather than by cause, because you know the symptom first.</a:t>
            </a:r>
          </a:p>
        </p:txBody>
      </p:sp>
      <p:sp>
        <p:nvSpPr>
          <p:cNvPr id="15" name="Rounded Rectangle 14"/>
          <p:cNvSpPr/>
          <p:nvPr/>
        </p:nvSpPr>
        <p:spPr>
          <a:xfrm>
            <a:off x="8024164" y="1783080"/>
            <a:ext cx="3344570"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gear_3fc17e.png"/>
          <p:cNvPicPr>
            <a:picLocks noChangeAspect="1"/>
          </p:cNvPicPr>
          <p:nvPr/>
        </p:nvPicPr>
        <p:blipFill>
          <a:blip r:embed="rId5"/>
          <a:stretch>
            <a:fillRect/>
          </a:stretch>
        </p:blipFill>
        <p:spPr>
          <a:xfrm>
            <a:off x="8298484" y="2039112"/>
            <a:ext cx="384048" cy="384048"/>
          </a:xfrm>
          <a:prstGeom prst="rect">
            <a:avLst/>
          </a:prstGeom>
        </p:spPr>
      </p:pic>
      <p:sp>
        <p:nvSpPr>
          <p:cNvPr id="17" name="TextBox 16"/>
          <p:cNvSpPr txBox="1"/>
          <p:nvPr/>
        </p:nvSpPr>
        <p:spPr>
          <a:xfrm>
            <a:off x="8298484" y="2560320"/>
            <a:ext cx="2795930" cy="365760"/>
          </a:xfrm>
          <a:prstGeom prst="rect">
            <a:avLst/>
          </a:prstGeom>
          <a:noFill/>
        </p:spPr>
        <p:txBody>
          <a:bodyPr wrap="square" lIns="0" rIns="0" tIns="0" bIns="0">
            <a:spAutoFit/>
          </a:bodyPr>
          <a:lstStyle/>
          <a:p>
            <a:pPr algn="l">
              <a:lnSpc>
                <a:spcPct val="100000"/>
              </a:lnSpc>
              <a:defRPr sz="1500" b="1" i="0">
                <a:solidFill>
                  <a:srgbClr val="3FC17E"/>
                </a:solidFill>
                <a:latin typeface="Segoe UI"/>
              </a:defRPr>
            </a:pPr>
            <a:r>
              <a:t>Environment reference</a:t>
            </a:r>
          </a:p>
        </p:txBody>
      </p:sp>
      <p:sp>
        <p:nvSpPr>
          <p:cNvPr id="18" name="TextBox 17"/>
          <p:cNvSpPr txBox="1"/>
          <p:nvPr/>
        </p:nvSpPr>
        <p:spPr>
          <a:xfrm>
            <a:off x="8298484" y="2944368"/>
            <a:ext cx="2795930" cy="685800"/>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docs/12-spark-environment.md covers the pinned library set, why each pin exists, and how to rebuild it from scratch.</a:t>
            </a:r>
          </a:p>
        </p:txBody>
      </p:sp>
      <p:sp>
        <p:nvSpPr>
          <p:cNvPr id="19" name="Rounded Rectangle 18"/>
          <p:cNvSpPr/>
          <p:nvPr/>
        </p:nvSpPr>
        <p:spPr>
          <a:xfrm>
            <a:off x="822960" y="4005072"/>
            <a:ext cx="3344570"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ayers_3fc17e.png"/>
          <p:cNvPicPr>
            <a:picLocks noChangeAspect="1"/>
          </p:cNvPicPr>
          <p:nvPr/>
        </p:nvPicPr>
        <p:blipFill>
          <a:blip r:embed="rId6"/>
          <a:stretch>
            <a:fillRect/>
          </a:stretch>
        </p:blipFill>
        <p:spPr>
          <a:xfrm>
            <a:off x="1097280" y="4261104"/>
            <a:ext cx="384048" cy="384048"/>
          </a:xfrm>
          <a:prstGeom prst="rect">
            <a:avLst/>
          </a:prstGeom>
        </p:spPr>
      </p:pic>
      <p:sp>
        <p:nvSpPr>
          <p:cNvPr id="21" name="TextBox 20"/>
          <p:cNvSpPr txBox="1"/>
          <p:nvPr/>
        </p:nvSpPr>
        <p:spPr>
          <a:xfrm>
            <a:off x="1097280" y="4782312"/>
            <a:ext cx="2795930" cy="365760"/>
          </a:xfrm>
          <a:prstGeom prst="rect">
            <a:avLst/>
          </a:prstGeom>
          <a:noFill/>
        </p:spPr>
        <p:txBody>
          <a:bodyPr wrap="square" lIns="0" rIns="0" tIns="0" bIns="0">
            <a:spAutoFit/>
          </a:bodyPr>
          <a:lstStyle/>
          <a:p>
            <a:pPr algn="l">
              <a:lnSpc>
                <a:spcPct val="100000"/>
              </a:lnSpc>
              <a:defRPr sz="1500" b="1" i="0">
                <a:solidFill>
                  <a:srgbClr val="3FC17E"/>
                </a:solidFill>
                <a:latin typeface="Segoe UI"/>
              </a:defRPr>
            </a:pPr>
            <a:r>
              <a:t>Workspace layout</a:t>
            </a:r>
          </a:p>
        </p:txBody>
      </p:sp>
      <p:sp>
        <p:nvSpPr>
          <p:cNvPr id="22" name="TextBox 21"/>
          <p:cNvSpPr txBox="1"/>
          <p:nvPr/>
        </p:nvSpPr>
        <p:spPr>
          <a:xfrm>
            <a:off x="1097280" y="5166359"/>
            <a:ext cx="2795930" cy="685800"/>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docs/13-three-workspace-layout.md explains the bronze, silver and gold split and the shortcuts that connect them.</a:t>
            </a:r>
          </a:p>
        </p:txBody>
      </p:sp>
      <p:sp>
        <p:nvSpPr>
          <p:cNvPr id="23" name="Rounded Rectangle 22"/>
          <p:cNvSpPr/>
          <p:nvPr/>
        </p:nvSpPr>
        <p:spPr>
          <a:xfrm>
            <a:off x="4423562" y="4005072"/>
            <a:ext cx="3344570"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people_3fc17e.png"/>
          <p:cNvPicPr>
            <a:picLocks noChangeAspect="1"/>
          </p:cNvPicPr>
          <p:nvPr/>
        </p:nvPicPr>
        <p:blipFill>
          <a:blip r:embed="rId7"/>
          <a:stretch>
            <a:fillRect/>
          </a:stretch>
        </p:blipFill>
        <p:spPr>
          <a:xfrm>
            <a:off x="4697882" y="4261104"/>
            <a:ext cx="384048" cy="384048"/>
          </a:xfrm>
          <a:prstGeom prst="rect">
            <a:avLst/>
          </a:prstGeom>
        </p:spPr>
      </p:pic>
      <p:sp>
        <p:nvSpPr>
          <p:cNvPr id="25" name="TextBox 24"/>
          <p:cNvSpPr txBox="1"/>
          <p:nvPr/>
        </p:nvSpPr>
        <p:spPr>
          <a:xfrm>
            <a:off x="4697882" y="4782312"/>
            <a:ext cx="2795930" cy="365760"/>
          </a:xfrm>
          <a:prstGeom prst="rect">
            <a:avLst/>
          </a:prstGeom>
          <a:noFill/>
        </p:spPr>
        <p:txBody>
          <a:bodyPr wrap="square" lIns="0" rIns="0" tIns="0" bIns="0">
            <a:spAutoFit/>
          </a:bodyPr>
          <a:lstStyle/>
          <a:p>
            <a:pPr algn="l">
              <a:lnSpc>
                <a:spcPct val="100000"/>
              </a:lnSpc>
              <a:defRPr sz="1500" b="1" i="0">
                <a:solidFill>
                  <a:srgbClr val="3FC17E"/>
                </a:solidFill>
                <a:latin typeface="Segoe UI"/>
              </a:defRPr>
            </a:pPr>
            <a:r>
              <a:t>Office hours</a:t>
            </a:r>
          </a:p>
        </p:txBody>
      </p:sp>
      <p:sp>
        <p:nvSpPr>
          <p:cNvPr id="26" name="TextBox 25"/>
          <p:cNvSpPr txBox="1"/>
          <p:nvPr/>
        </p:nvSpPr>
        <p:spPr>
          <a:xfrm>
            <a:off x="4697882" y="5166359"/>
            <a:ext cx="2795930" cy="685800"/>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Weekly for the two weeks of the assignment. Bring the notebook, not a description of the notebook.</a:t>
            </a:r>
          </a:p>
        </p:txBody>
      </p:sp>
      <p:sp>
        <p:nvSpPr>
          <p:cNvPr id="27" name="Rounded Rectangle 26"/>
          <p:cNvSpPr/>
          <p:nvPr/>
        </p:nvSpPr>
        <p:spPr>
          <a:xfrm>
            <a:off x="8024164" y="4005072"/>
            <a:ext cx="3344570" cy="196596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flag_3fc17e.png"/>
          <p:cNvPicPr>
            <a:picLocks noChangeAspect="1"/>
          </p:cNvPicPr>
          <p:nvPr/>
        </p:nvPicPr>
        <p:blipFill>
          <a:blip r:embed="rId8"/>
          <a:stretch>
            <a:fillRect/>
          </a:stretch>
        </p:blipFill>
        <p:spPr>
          <a:xfrm>
            <a:off x="8298484" y="4261104"/>
            <a:ext cx="384048" cy="384048"/>
          </a:xfrm>
          <a:prstGeom prst="rect">
            <a:avLst/>
          </a:prstGeom>
        </p:spPr>
      </p:pic>
      <p:sp>
        <p:nvSpPr>
          <p:cNvPr id="29" name="TextBox 28"/>
          <p:cNvSpPr txBox="1"/>
          <p:nvPr/>
        </p:nvSpPr>
        <p:spPr>
          <a:xfrm>
            <a:off x="8298484" y="4782312"/>
            <a:ext cx="2795930" cy="365760"/>
          </a:xfrm>
          <a:prstGeom prst="rect">
            <a:avLst/>
          </a:prstGeom>
          <a:noFill/>
        </p:spPr>
        <p:txBody>
          <a:bodyPr wrap="square" lIns="0" rIns="0" tIns="0" bIns="0">
            <a:spAutoFit/>
          </a:bodyPr>
          <a:lstStyle/>
          <a:p>
            <a:pPr algn="l">
              <a:lnSpc>
                <a:spcPct val="100000"/>
              </a:lnSpc>
              <a:defRPr sz="1500" b="1" i="0">
                <a:solidFill>
                  <a:srgbClr val="3FC17E"/>
                </a:solidFill>
                <a:latin typeface="Segoe UI"/>
              </a:defRPr>
            </a:pPr>
            <a:r>
              <a:t>The channel</a:t>
            </a:r>
          </a:p>
        </p:txBody>
      </p:sp>
      <p:sp>
        <p:nvSpPr>
          <p:cNvPr id="30" name="TextBox 29"/>
          <p:cNvSpPr txBox="1"/>
          <p:nvPr/>
        </p:nvSpPr>
        <p:spPr>
          <a:xfrm>
            <a:off x="8298484" y="5166359"/>
            <a:ext cx="2795930" cy="685800"/>
          </a:xfrm>
          <a:prstGeom prst="rect">
            <a:avLst/>
          </a:prstGeom>
          <a:noFill/>
        </p:spPr>
        <p:txBody>
          <a:bodyPr wrap="square" lIns="0" rIns="0" tIns="0" bIns="0">
            <a:spAutoFit/>
          </a:bodyPr>
          <a:lstStyle/>
          <a:p>
            <a:pPr algn="l">
              <a:lnSpc>
                <a:spcPct val="120000"/>
              </a:lnSpc>
              <a:defRPr sz="1200" b="0" i="0">
                <a:solidFill>
                  <a:srgbClr val="9CAFA8"/>
                </a:solidFill>
                <a:latin typeface="Segoe UI"/>
              </a:defRPr>
            </a:pPr>
            <a:r>
              <a:t>Five minutes stuck is learning. Twenty is waste. Post the error and the cell.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WRAP</a:t>
            </a:r>
          </a:p>
        </p:txBody>
      </p:sp>
      <p:pic>
        <p:nvPicPr>
          <p:cNvPr id="4" name="Picture 3" descr="check_3fc17e.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36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What you built today</a:t>
            </a:r>
          </a:p>
        </p:txBody>
      </p:sp>
      <p:sp>
        <p:nvSpPr>
          <p:cNvPr id="7" name="TextBox 6"/>
          <p:cNvSpPr txBox="1"/>
          <p:nvPr/>
        </p:nvSpPr>
        <p:spPr>
          <a:xfrm>
            <a:off x="822960" y="1783080"/>
            <a:ext cx="10332720" cy="3840480"/>
          </a:xfrm>
          <a:prstGeom prst="rect">
            <a:avLst/>
          </a:prstGeom>
          <a:noFill/>
        </p:spPr>
        <p:txBody>
          <a:bodyPr wrap="square" lIns="0" rIns="0">
            <a:spAutoFit/>
          </a:bodyPr>
          <a:lstStyle/>
          <a:p>
            <a:pPr>
              <a:lnSpc>
                <a:spcPct val="115000"/>
              </a:lnSpc>
              <a:spcBef>
                <a:spcPts val="0"/>
              </a:spcBef>
            </a:pPr>
            <a:r>
              <a:rPr sz="1500" b="1">
                <a:solidFill>
                  <a:srgbClr val="3FC17E"/>
                </a:solidFill>
                <a:latin typeface="Segoe UI"/>
              </a:rPr>
              <a:t>▸  </a:t>
            </a:r>
            <a:r>
              <a:rPr sz="1500">
                <a:solidFill>
                  <a:srgbClr val="F1F5F3"/>
                </a:solidFill>
                <a:latin typeface="Segoe UI"/>
              </a:rPr>
              <a:t>A bronze layer that records what arrived, with the provenance to explain any number six months from now</a:t>
            </a:r>
          </a:p>
          <a:p>
            <a:pPr>
              <a:lnSpc>
                <a:spcPct val="115000"/>
              </a:lnSpc>
              <a:spcBef>
                <a:spcPts val="1600"/>
              </a:spcBef>
            </a:pPr>
            <a:r>
              <a:rPr sz="1500" b="1">
                <a:solidFill>
                  <a:srgbClr val="3FC17E"/>
                </a:solidFill>
                <a:latin typeface="Segoe UI"/>
              </a:rPr>
              <a:t>▸  </a:t>
            </a:r>
            <a:r>
              <a:rPr sz="1500">
                <a:solidFill>
                  <a:srgbClr val="F1F5F3"/>
                </a:solidFill>
                <a:latin typeface="Segoe UI"/>
              </a:rPr>
              <a:t>A silver layer that makes scenes comparable: one projection, cloud removed, one row per stand per date</a:t>
            </a:r>
          </a:p>
          <a:p>
            <a:pPr>
              <a:lnSpc>
                <a:spcPct val="115000"/>
              </a:lnSpc>
              <a:spcBef>
                <a:spcPts val="1600"/>
              </a:spcBef>
            </a:pPr>
            <a:r>
              <a:rPr sz="1500" b="1">
                <a:solidFill>
                  <a:srgbClr val="3FC17E"/>
                </a:solidFill>
                <a:latin typeface="Segoe UI"/>
              </a:rPr>
              <a:t>▸  </a:t>
            </a:r>
            <a:r>
              <a:rPr sz="1500">
                <a:solidFill>
                  <a:srgbClr val="F1F5F3"/>
                </a:solidFill>
                <a:latin typeface="Segoe UI"/>
              </a:rPr>
              <a:t>A gold layer that carries meaning: a classification you can defend and a narrative that cannot invent numbers</a:t>
            </a:r>
          </a:p>
          <a:p>
            <a:pPr>
              <a:lnSpc>
                <a:spcPct val="115000"/>
              </a:lnSpc>
              <a:spcBef>
                <a:spcPts val="1600"/>
              </a:spcBef>
            </a:pPr>
            <a:r>
              <a:rPr sz="1500" b="1">
                <a:solidFill>
                  <a:srgbClr val="3FC17E"/>
                </a:solidFill>
                <a:latin typeface="Segoe UI"/>
              </a:rPr>
              <a:t>▸  </a:t>
            </a:r>
            <a:r>
              <a:rPr sz="1500">
                <a:solidFill>
                  <a:srgbClr val="F1F5F3"/>
                </a:solidFill>
                <a:latin typeface="Segoe UI"/>
              </a:rPr>
              <a:t>Model-ready Gold tables; building and verifying the Power BI report is an optional extension</a:t>
            </a:r>
          </a:p>
          <a:p>
            <a:pPr>
              <a:lnSpc>
                <a:spcPct val="115000"/>
              </a:lnSpc>
              <a:spcBef>
                <a:spcPts val="1600"/>
              </a:spcBef>
            </a:pPr>
            <a:r>
              <a:rPr sz="1500" b="1">
                <a:solidFill>
                  <a:srgbClr val="3FC17E"/>
                </a:solidFill>
                <a:latin typeface="Segoe UI"/>
              </a:rPr>
              <a:t>▸  </a:t>
            </a:r>
            <a:r>
              <a:rPr sz="1500">
                <a:solidFill>
                  <a:srgbClr val="F1F5F3"/>
                </a:solidFill>
                <a:latin typeface="Segoe UI"/>
              </a:rPr>
              <a:t>A pipeline reference for the facilitator to validate before enabling a schedule</a:t>
            </a:r>
          </a:p>
        </p:txBody>
      </p:sp>
      <p:sp>
        <p:nvSpPr>
          <p:cNvPr id="8" name="Rounded Rectangle 7"/>
          <p:cNvSpPr/>
          <p:nvPr/>
        </p:nvSpPr>
        <p:spPr>
          <a:xfrm>
            <a:off x="822960" y="5440680"/>
            <a:ext cx="10543032" cy="77724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5641848"/>
            <a:ext cx="9966960" cy="548640"/>
          </a:xfrm>
          <a:prstGeom prst="rect">
            <a:avLst/>
          </a:prstGeom>
          <a:noFill/>
        </p:spPr>
        <p:txBody>
          <a:bodyPr wrap="square" lIns="0" rIns="0" tIns="0" bIns="0">
            <a:spAutoFit/>
          </a:bodyPr>
          <a:lstStyle/>
          <a:p>
            <a:pPr algn="l">
              <a:lnSpc>
                <a:spcPct val="120000"/>
              </a:lnSpc>
              <a:defRPr sz="1350" b="0" i="0">
                <a:solidFill>
                  <a:srgbClr val="3FC17E"/>
                </a:solidFill>
                <a:latin typeface="Segoe UI"/>
              </a:defRPr>
            </a:pPr>
            <a:r>
              <a:t>Verified: six solution labs, Environment preflight and output checks. Narratives used offline stubs.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D1714"/>
        </a:solidFill>
        <a:effectLst/>
      </p:bgPr>
    </p:bg>
    <p:spTree>
      <p:nvGrpSpPr>
        <p:cNvPr id="1" name=""/>
        <p:cNvGrpSpPr/>
        <p:nvPr/>
      </p:nvGrpSpPr>
      <p:grpSpPr/>
      <p:sp>
        <p:nvSpPr>
          <p:cNvPr id="2" name="Rectangle 1"/>
          <p:cNvSpPr/>
          <p:nvPr/>
        </p:nvSpPr>
        <p:spPr>
          <a:xfrm>
            <a:off x="822960" y="566928"/>
            <a:ext cx="1051560" cy="54864"/>
          </a:xfrm>
          <a:prstGeom prst="rect">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2608"/>
            <a:ext cx="7315200" cy="256032"/>
          </a:xfrm>
          <a:prstGeom prst="rect">
            <a:avLst/>
          </a:prstGeom>
          <a:noFill/>
        </p:spPr>
        <p:txBody>
          <a:bodyPr wrap="square" lIns="0" rIns="0" tIns="0" bIns="0">
            <a:spAutoFit/>
          </a:bodyPr>
          <a:lstStyle/>
          <a:p>
            <a:pPr algn="l">
              <a:lnSpc>
                <a:spcPct val="100000"/>
              </a:lnSpc>
              <a:defRPr sz="1050" b="1" i="0">
                <a:solidFill>
                  <a:srgbClr val="647C74"/>
                </a:solidFill>
                <a:latin typeface="Segoe UI"/>
              </a:defRPr>
            </a:pPr>
            <a:r>
              <a:t>WRAP</a:t>
            </a:r>
          </a:p>
        </p:txBody>
      </p:sp>
      <p:pic>
        <p:nvPicPr>
          <p:cNvPr id="4" name="Picture 3" descr="lightbulb_3fc17e.png"/>
          <p:cNvPicPr>
            <a:picLocks noChangeAspect="1"/>
          </p:cNvPicPr>
          <p:nvPr/>
        </p:nvPicPr>
        <p:blipFill>
          <a:blip r:embed="rId2"/>
          <a:stretch>
            <a:fillRect/>
          </a:stretch>
        </p:blipFill>
        <p:spPr>
          <a:xfrm>
            <a:off x="10911535" y="310896"/>
            <a:ext cx="457200" cy="457200"/>
          </a:xfrm>
          <a:prstGeom prst="rect">
            <a:avLst/>
          </a:prstGeom>
        </p:spPr>
      </p:pic>
      <p:sp>
        <p:nvSpPr>
          <p:cNvPr id="5" name="TextBox 4"/>
          <p:cNvSpPr txBox="1"/>
          <p:nvPr/>
        </p:nvSpPr>
        <p:spPr>
          <a:xfrm>
            <a:off x="9905695" y="6355080"/>
            <a:ext cx="1463040" cy="274320"/>
          </a:xfrm>
          <a:prstGeom prst="rect">
            <a:avLst/>
          </a:prstGeom>
          <a:noFill/>
        </p:spPr>
        <p:txBody>
          <a:bodyPr wrap="square" lIns="0" rIns="0" tIns="0" bIns="0">
            <a:spAutoFit/>
          </a:bodyPr>
          <a:lstStyle/>
          <a:p>
            <a:pPr algn="r">
              <a:lnSpc>
                <a:spcPct val="100000"/>
              </a:lnSpc>
              <a:defRPr sz="1000" b="0" i="0">
                <a:solidFill>
                  <a:srgbClr val="647C74"/>
                </a:solidFill>
                <a:latin typeface="Segoe UI"/>
              </a:defRPr>
            </a:pPr>
            <a:r>
              <a:t>37 / 44</a:t>
            </a:r>
          </a:p>
        </p:txBody>
      </p:sp>
      <p:sp>
        <p:nvSpPr>
          <p:cNvPr id="6" name="TextBox 5"/>
          <p:cNvSpPr txBox="1"/>
          <p:nvPr/>
        </p:nvSpPr>
        <p:spPr>
          <a:xfrm>
            <a:off x="822960" y="768096"/>
            <a:ext cx="10332720" cy="640080"/>
          </a:xfrm>
          <a:prstGeom prst="rect">
            <a:avLst/>
          </a:prstGeom>
          <a:noFill/>
        </p:spPr>
        <p:txBody>
          <a:bodyPr wrap="square" lIns="0" rIns="0" tIns="0" bIns="0">
            <a:spAutoFit/>
          </a:bodyPr>
          <a:lstStyle/>
          <a:p>
            <a:pPr algn="l">
              <a:lnSpc>
                <a:spcPct val="100000"/>
              </a:lnSpc>
              <a:defRPr sz="2900" b="1" i="0">
                <a:solidFill>
                  <a:srgbClr val="F1F5F3"/>
                </a:solidFill>
                <a:latin typeface="Segoe UI"/>
              </a:defRPr>
            </a:pPr>
            <a:r>
              <a:t>The two habits worth keeping</a:t>
            </a:r>
          </a:p>
        </p:txBody>
      </p:sp>
      <p:sp>
        <p:nvSpPr>
          <p:cNvPr id="7" name="Rounded Rectangle 6"/>
          <p:cNvSpPr/>
          <p:nvPr/>
        </p:nvSpPr>
        <p:spPr>
          <a:xfrm>
            <a:off x="822960" y="1783080"/>
            <a:ext cx="5090007" cy="324612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15568" y="2048256"/>
            <a:ext cx="640080" cy="45720"/>
          </a:xfrm>
          <a:prstGeom prst="rect">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2212848"/>
            <a:ext cx="4504791" cy="411480"/>
          </a:xfrm>
          <a:prstGeom prst="rect">
            <a:avLst/>
          </a:prstGeom>
          <a:noFill/>
        </p:spPr>
        <p:txBody>
          <a:bodyPr wrap="square" lIns="0" rIns="0" tIns="0" bIns="0">
            <a:spAutoFit/>
          </a:bodyPr>
          <a:lstStyle/>
          <a:p>
            <a:pPr algn="l">
              <a:lnSpc>
                <a:spcPct val="100000"/>
              </a:lnSpc>
              <a:defRPr sz="1700" b="1" i="0">
                <a:solidFill>
                  <a:srgbClr val="3FC17E"/>
                </a:solidFill>
                <a:latin typeface="Segoe UI"/>
              </a:defRPr>
            </a:pPr>
            <a:r>
              <a:t>Do this</a:t>
            </a:r>
          </a:p>
        </p:txBody>
      </p:sp>
      <p:sp>
        <p:nvSpPr>
          <p:cNvPr id="10" name="TextBox 9"/>
          <p:cNvSpPr txBox="1"/>
          <p:nvPr/>
        </p:nvSpPr>
        <p:spPr>
          <a:xfrm>
            <a:off x="1115568" y="2788920"/>
            <a:ext cx="4504791" cy="2103120"/>
          </a:xfrm>
          <a:prstGeom prst="rect">
            <a:avLst/>
          </a:prstGeom>
          <a:noFill/>
        </p:spPr>
        <p:txBody>
          <a:bodyPr wrap="square" lIns="0" rIns="0">
            <a:spAutoFit/>
          </a:bodyPr>
          <a:lstStyle/>
          <a:p>
            <a:pPr>
              <a:lnSpc>
                <a:spcPct val="115000"/>
              </a:lnSpc>
              <a:spcBef>
                <a:spcPts val="0"/>
              </a:spcBef>
            </a:pPr>
            <a:r>
              <a:rPr sz="1350" b="1">
                <a:solidFill>
                  <a:srgbClr val="3FC17E"/>
                </a:solidFill>
                <a:latin typeface="Segoe UI"/>
              </a:rPr>
              <a:t>✓  </a:t>
            </a:r>
            <a:r>
              <a:rPr sz="1350">
                <a:solidFill>
                  <a:srgbClr val="F1F5F3"/>
                </a:solidFill>
                <a:latin typeface="Segoe UI"/>
              </a:rPr>
              <a:t>Validate the shape of what came back, not just that the call succeeded</a:t>
            </a:r>
          </a:p>
          <a:p>
            <a:pPr>
              <a:lnSpc>
                <a:spcPct val="115000"/>
              </a:lnSpc>
              <a:spcBef>
                <a:spcPts val="1300"/>
              </a:spcBef>
            </a:pPr>
            <a:r>
              <a:rPr sz="1350" b="1">
                <a:solidFill>
                  <a:srgbClr val="3FC17E"/>
                </a:solidFill>
                <a:latin typeface="Segoe UI"/>
              </a:rPr>
              <a:t>✓  </a:t>
            </a:r>
            <a:r>
              <a:rPr sz="1350">
                <a:solidFill>
                  <a:srgbClr val="F1F5F3"/>
                </a:solidFill>
                <a:latin typeface="Segoe UI"/>
              </a:rPr>
              <a:t>Compute numbers where they can be tested, then pass them to the model</a:t>
            </a:r>
          </a:p>
          <a:p>
            <a:pPr>
              <a:lnSpc>
                <a:spcPct val="115000"/>
              </a:lnSpc>
              <a:spcBef>
                <a:spcPts val="1300"/>
              </a:spcBef>
            </a:pPr>
            <a:r>
              <a:rPr sz="1350" b="1">
                <a:solidFill>
                  <a:srgbClr val="3FC17E"/>
                </a:solidFill>
                <a:latin typeface="Segoe UI"/>
              </a:rPr>
              <a:t>✓  </a:t>
            </a:r>
            <a:r>
              <a:rPr sz="1350">
                <a:solidFill>
                  <a:srgbClr val="F1F5F3"/>
                </a:solidFill>
                <a:latin typeface="Segoe UI"/>
              </a:rPr>
              <a:t>Carry the count alongside every aggregate</a:t>
            </a:r>
          </a:p>
          <a:p>
            <a:pPr>
              <a:lnSpc>
                <a:spcPct val="115000"/>
              </a:lnSpc>
              <a:spcBef>
                <a:spcPts val="1300"/>
              </a:spcBef>
            </a:pPr>
            <a:r>
              <a:rPr sz="1350" b="1">
                <a:solidFill>
                  <a:srgbClr val="3FC17E"/>
                </a:solidFill>
                <a:latin typeface="Segoe UI"/>
              </a:rPr>
              <a:t>✓  </a:t>
            </a:r>
            <a:r>
              <a:rPr sz="1350">
                <a:solidFill>
                  <a:srgbClr val="F1F5F3"/>
                </a:solidFill>
                <a:latin typeface="Segoe UI"/>
              </a:rPr>
              <a:t>Pin the library set, and know why each pin exists</a:t>
            </a:r>
          </a:p>
          <a:p>
            <a:pPr>
              <a:lnSpc>
                <a:spcPct val="115000"/>
              </a:lnSpc>
              <a:spcBef>
                <a:spcPts val="1300"/>
              </a:spcBef>
            </a:pPr>
            <a:r>
              <a:rPr sz="1350" b="1">
                <a:solidFill>
                  <a:srgbClr val="3FC17E"/>
                </a:solidFill>
                <a:latin typeface="Segoe UI"/>
              </a:rPr>
              <a:t>✓  </a:t>
            </a:r>
            <a:r>
              <a:rPr sz="1350">
                <a:solidFill>
                  <a:srgbClr val="F1F5F3"/>
                </a:solidFill>
                <a:latin typeface="Segoe UI"/>
              </a:rPr>
              <a:t>Make the failure loud and the provenance traceable</a:t>
            </a:r>
          </a:p>
        </p:txBody>
      </p:sp>
      <p:sp>
        <p:nvSpPr>
          <p:cNvPr id="11" name="Rounded Rectangle 10"/>
          <p:cNvSpPr/>
          <p:nvPr/>
        </p:nvSpPr>
        <p:spPr>
          <a:xfrm>
            <a:off x="6278727" y="1783080"/>
            <a:ext cx="5090007" cy="3246120"/>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71335" y="2048256"/>
            <a:ext cx="640080" cy="4572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71335" y="2212848"/>
            <a:ext cx="4504791" cy="411480"/>
          </a:xfrm>
          <a:prstGeom prst="rect">
            <a:avLst/>
          </a:prstGeom>
          <a:noFill/>
        </p:spPr>
        <p:txBody>
          <a:bodyPr wrap="square" lIns="0" rIns="0" tIns="0" bIns="0">
            <a:spAutoFit/>
          </a:bodyPr>
          <a:lstStyle/>
          <a:p>
            <a:pPr algn="l">
              <a:lnSpc>
                <a:spcPct val="100000"/>
              </a:lnSpc>
              <a:defRPr sz="1700" b="1" i="0">
                <a:solidFill>
                  <a:srgbClr val="EF4444"/>
                </a:solidFill>
                <a:latin typeface="Segoe UI"/>
              </a:defRPr>
            </a:pPr>
            <a:r>
              <a:t>Not this</a:t>
            </a:r>
          </a:p>
        </p:txBody>
      </p:sp>
      <p:sp>
        <p:nvSpPr>
          <p:cNvPr id="14" name="TextBox 13"/>
          <p:cNvSpPr txBox="1"/>
          <p:nvPr/>
        </p:nvSpPr>
        <p:spPr>
          <a:xfrm>
            <a:off x="6571335" y="2788920"/>
            <a:ext cx="4504791" cy="2103120"/>
          </a:xfrm>
          <a:prstGeom prst="rect">
            <a:avLst/>
          </a:prstGeom>
          <a:noFill/>
        </p:spPr>
        <p:txBody>
          <a:bodyPr wrap="square" lIns="0" rIns="0">
            <a:spAutoFit/>
          </a:bodyPr>
          <a:lstStyle/>
          <a:p>
            <a:pPr>
              <a:lnSpc>
                <a:spcPct val="115000"/>
              </a:lnSpc>
              <a:spcBef>
                <a:spcPts val="0"/>
              </a:spcBef>
            </a:pPr>
            <a:r>
              <a:rPr sz="1350" b="1">
                <a:solidFill>
                  <a:srgbClr val="EF4444"/>
                </a:solidFill>
                <a:latin typeface="Segoe UI"/>
              </a:rPr>
              <a:t>✗  </a:t>
            </a:r>
            <a:r>
              <a:rPr sz="1350">
                <a:solidFill>
                  <a:srgbClr val="F1F5F3"/>
                </a:solidFill>
                <a:latin typeface="Segoe UI"/>
              </a:rPr>
              <a:t>Assuming an empty result is a bug in your code</a:t>
            </a:r>
          </a:p>
          <a:p>
            <a:pPr>
              <a:lnSpc>
                <a:spcPct val="115000"/>
              </a:lnSpc>
              <a:spcBef>
                <a:spcPts val="1300"/>
              </a:spcBef>
            </a:pPr>
            <a:r>
              <a:rPr sz="1350" b="1">
                <a:solidFill>
                  <a:srgbClr val="EF4444"/>
                </a:solidFill>
                <a:latin typeface="Segoe UI"/>
              </a:rPr>
              <a:t>✗  </a:t>
            </a:r>
            <a:r>
              <a:rPr sz="1350">
                <a:solidFill>
                  <a:srgbClr val="F1F5F3"/>
                </a:solidFill>
                <a:latin typeface="Segoe UI"/>
              </a:rPr>
              <a:t>Asking a model for a number you could calculate</a:t>
            </a:r>
          </a:p>
          <a:p>
            <a:pPr>
              <a:lnSpc>
                <a:spcPct val="115000"/>
              </a:lnSpc>
              <a:spcBef>
                <a:spcPts val="1300"/>
              </a:spcBef>
            </a:pPr>
            <a:r>
              <a:rPr sz="1350" b="1">
                <a:solidFill>
                  <a:srgbClr val="EF4444"/>
                </a:solidFill>
                <a:latin typeface="Segoe UI"/>
              </a:rPr>
              <a:t>✗  </a:t>
            </a:r>
            <a:r>
              <a:rPr sz="1350">
                <a:solidFill>
                  <a:srgbClr val="F1F5F3"/>
                </a:solidFill>
                <a:latin typeface="Segoe UI"/>
              </a:rPr>
              <a:t>Publishing a median without knowing what it came from</a:t>
            </a:r>
          </a:p>
          <a:p>
            <a:pPr>
              <a:lnSpc>
                <a:spcPct val="115000"/>
              </a:lnSpc>
              <a:spcBef>
                <a:spcPts val="1300"/>
              </a:spcBef>
            </a:pPr>
            <a:r>
              <a:rPr sz="1350" b="1">
                <a:solidFill>
                  <a:srgbClr val="EF4444"/>
                </a:solidFill>
                <a:latin typeface="Segoe UI"/>
              </a:rPr>
              <a:t>✗  </a:t>
            </a:r>
            <a:r>
              <a:rPr sz="1350">
                <a:solidFill>
                  <a:srgbClr val="F1F5F3"/>
                </a:solidFill>
                <a:latin typeface="Segoe UI"/>
              </a:rPr>
              <a:t>Installing packages ad hoc and hoping the resolver is kind</a:t>
            </a:r>
          </a:p>
          <a:p>
            <a:pPr>
              <a:lnSpc>
                <a:spcPct val="115000"/>
              </a:lnSpc>
              <a:spcBef>
                <a:spcPts val="1300"/>
              </a:spcBef>
            </a:pPr>
            <a:r>
              <a:rPr sz="1350" b="1">
                <a:solidFill>
                  <a:srgbClr val="EF4444"/>
                </a:solidFill>
                <a:latin typeface="Segoe UI"/>
              </a:rPr>
              <a:t>✗  </a:t>
            </a:r>
            <a:r>
              <a:rPr sz="1350">
                <a:solidFill>
                  <a:srgbClr val="F1F5F3"/>
                </a:solidFill>
                <a:latin typeface="Segoe UI"/>
              </a:rPr>
              <a:t>Letting a partial month look like a complete one</a:t>
            </a:r>
          </a:p>
        </p:txBody>
      </p:sp>
      <p:sp>
        <p:nvSpPr>
          <p:cNvPr id="15" name="Rounded Rectangle 14"/>
          <p:cNvSpPr/>
          <p:nvPr/>
        </p:nvSpPr>
        <p:spPr>
          <a:xfrm>
            <a:off x="822960" y="5623560"/>
            <a:ext cx="10543032" cy="713232"/>
          </a:xfrm>
          <a:prstGeom prst="roundRect">
            <a:avLst>
              <a:gd name="adj" fmla="val 6000"/>
            </a:avLst>
          </a:prstGeom>
          <a:solidFill>
            <a:srgbClr val="152621"/>
          </a:solidFill>
          <a:ln w="12700">
            <a:solidFill>
              <a:srgbClr val="1F3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5815584"/>
            <a:ext cx="9966960" cy="457200"/>
          </a:xfrm>
          <a:prstGeom prst="rect">
            <a:avLst/>
          </a:prstGeom>
          <a:noFill/>
        </p:spPr>
        <p:txBody>
          <a:bodyPr wrap="square" lIns="0" rIns="0" tIns="0" bIns="0">
            <a:spAutoFit/>
          </a:bodyPr>
          <a:lstStyle/>
          <a:p>
            <a:pPr algn="l">
              <a:lnSpc>
                <a:spcPct val="100000"/>
              </a:lnSpc>
              <a:defRPr sz="1350" b="0" i="0">
                <a:solidFill>
                  <a:srgbClr val="F59E0B"/>
                </a:solidFill>
                <a:latin typeface="Segoe UI"/>
              </a:defRPr>
            </a:pPr>
            <a:r>
              <a:t>None of these are about satellites. They are how you keep any data product trustworthy.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01F1B"/>
        </a:solidFill>
        <a:effectLst/>
      </p:bgPr>
    </p:bg>
    <p:spTree>
      <p:nvGrpSpPr>
        <p:cNvPr id="1" name=""/>
        <p:cNvGrpSpPr/>
        <p:nvPr/>
      </p:nvGrpSpPr>
      <p:grpSpPr/>
      <p:pic>
        <p:nvPicPr>
          <p:cNvPr id="2" name="Picture 1" descr="rocket_3fc17e.png"/>
          <p:cNvPicPr>
            <a:picLocks noChangeAspect="1"/>
          </p:cNvPicPr>
          <p:nvPr/>
        </p:nvPicPr>
        <p:blipFill>
          <a:blip r:embed="rId2"/>
          <a:stretch>
            <a:fillRect/>
          </a:stretch>
        </p:blipFill>
        <p:spPr>
          <a:xfrm>
            <a:off x="822960" y="1417320"/>
            <a:ext cx="658368" cy="658368"/>
          </a:xfrm>
          <a:prstGeom prst="rect">
            <a:avLst/>
          </a:prstGeom>
        </p:spPr>
      </p:pic>
      <p:sp>
        <p:nvSpPr>
          <p:cNvPr id="3" name="Rectangle 2"/>
          <p:cNvSpPr/>
          <p:nvPr/>
        </p:nvSpPr>
        <p:spPr>
          <a:xfrm>
            <a:off x="822960" y="2286000"/>
            <a:ext cx="1280160" cy="68580"/>
          </a:xfrm>
          <a:prstGeom prst="rect">
            <a:avLst/>
          </a:prstGeom>
          <a:solidFill>
            <a:srgbClr val="3FC1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560320"/>
            <a:ext cx="10241280" cy="731520"/>
          </a:xfrm>
          <a:prstGeom prst="rect">
            <a:avLst/>
          </a:prstGeom>
          <a:noFill/>
        </p:spPr>
        <p:txBody>
          <a:bodyPr wrap="square" lIns="0" rIns="0" tIns="0" bIns="0">
            <a:spAutoFit/>
          </a:bodyPr>
          <a:lstStyle/>
          <a:p>
            <a:pPr algn="l">
              <a:lnSpc>
                <a:spcPct val="100000"/>
              </a:lnSpc>
              <a:defRPr sz="3200" b="1" i="0">
                <a:solidFill>
                  <a:srgbClr val="F1F5F3"/>
                </a:solidFill>
                <a:latin typeface="Segoe UI"/>
              </a:defRPr>
            </a:pPr>
            <a:r>
              <a:t>Questions, then office hours</a:t>
            </a:r>
          </a:p>
        </p:txBody>
      </p:sp>
      <p:sp>
        <p:nvSpPr>
          <p:cNvPr id="5" name="TextBox 4"/>
          <p:cNvSpPr txBox="1"/>
          <p:nvPr/>
        </p:nvSpPr>
        <p:spPr>
          <a:xfrm>
            <a:off x="822960" y="3520440"/>
            <a:ext cx="10241280" cy="2194560"/>
          </a:xfrm>
          <a:prstGeom prst="rect">
            <a:avLst/>
          </a:prstGeom>
          <a:noFill/>
        </p:spPr>
        <p:txBody>
          <a:bodyPr wrap="square" lIns="0" rIns="0">
            <a:spAutoFit/>
          </a:bodyPr>
          <a:lstStyle/>
          <a:p>
            <a:pPr>
              <a:lnSpc>
                <a:spcPct val="115000"/>
              </a:lnSpc>
              <a:spcBef>
                <a:spcPts val="0"/>
              </a:spcBef>
            </a:pPr>
            <a:r>
              <a:rPr sz="1500" b="1">
                <a:solidFill>
                  <a:srgbClr val="3FC17E"/>
                </a:solidFill>
                <a:latin typeface="Segoe UI"/>
              </a:rPr>
              <a:t>▸  </a:t>
            </a:r>
            <a:r>
              <a:rPr sz="1500">
                <a:solidFill>
                  <a:srgbClr val="F1F5F3"/>
                </a:solidFill>
                <a:latin typeface="Segoe UI"/>
              </a:rPr>
              <a:t>Assignment brief: docs/08-assignment.md, two weeks, office hours weekly</a:t>
            </a:r>
          </a:p>
          <a:p>
            <a:pPr>
              <a:lnSpc>
                <a:spcPct val="115000"/>
              </a:lnSpc>
              <a:spcBef>
                <a:spcPts val="1600"/>
              </a:spcBef>
            </a:pPr>
            <a:r>
              <a:rPr sz="1500" b="1">
                <a:solidFill>
                  <a:srgbClr val="3FC17E"/>
                </a:solidFill>
                <a:latin typeface="Segoe UI"/>
              </a:rPr>
              <a:t>▸  </a:t>
            </a:r>
            <a:r>
              <a:rPr sz="1500">
                <a:solidFill>
                  <a:srgbClr val="F1F5F3"/>
                </a:solidFill>
                <a:latin typeface="Segoe UI"/>
              </a:rPr>
              <a:t>Six notebook labs, the pipeline reference and the Power BI guide are in the repo</a:t>
            </a:r>
          </a:p>
          <a:p>
            <a:pPr>
              <a:lnSpc>
                <a:spcPct val="115000"/>
              </a:lnSpc>
              <a:spcBef>
                <a:spcPts val="1600"/>
              </a:spcBef>
            </a:pPr>
            <a:r>
              <a:rPr sz="1500" b="1">
                <a:solidFill>
                  <a:srgbClr val="3FC17E"/>
                </a:solidFill>
                <a:latin typeface="Segoe UI"/>
              </a:rPr>
              <a:t>▸  </a:t>
            </a:r>
            <a:r>
              <a:rPr sz="1500">
                <a:solidFill>
                  <a:srgbClr val="F1F5F3"/>
                </a:solidFill>
                <a:latin typeface="Segoe UI"/>
              </a:rPr>
              <a:t>Bring one real question about your own operating area to the first office hours</a:t>
            </a:r>
          </a:p>
          <a:p>
            <a:pPr>
              <a:lnSpc>
                <a:spcPct val="115000"/>
              </a:lnSpc>
              <a:spcBef>
                <a:spcPts val="1600"/>
              </a:spcBef>
            </a:pPr>
            <a:r>
              <a:rPr sz="1500" b="1">
                <a:solidFill>
                  <a:srgbClr val="3FC17E"/>
                </a:solidFill>
                <a:latin typeface="Segoe UI"/>
              </a:rPr>
              <a:t>▸  </a:t>
            </a:r>
            <a:r>
              <a:rPr sz="1500">
                <a:solidFill>
                  <a:srgbClr val="F1F5F3"/>
                </a:solidFill>
                <a:latin typeface="Segoe UI"/>
              </a:rPr>
              <a:t>The last ten minutes are open, and facilitators are circulating</a:t>
            </a:r>
          </a:p>
        </p:txBody>
      </p:sp>
      <p:sp>
        <p:nvSpPr>
          <p:cNvPr id="6" name="TextBox 5"/>
          <p:cNvSpPr txBox="1"/>
          <p:nvPr/>
        </p:nvSpPr>
        <p:spPr>
          <a:xfrm>
            <a:off x="822960" y="6080760"/>
            <a:ext cx="10241280" cy="365760"/>
          </a:xfrm>
          <a:prstGeom prst="rect">
            <a:avLst/>
          </a:prstGeom>
          <a:noFill/>
        </p:spPr>
        <p:txBody>
          <a:bodyPr wrap="square" lIns="0" rIns="0" tIns="0" bIns="0">
            <a:spAutoFit/>
          </a:bodyPr>
          <a:lstStyle/>
          <a:p>
            <a:pPr algn="l">
              <a:lnSpc>
                <a:spcPct val="100000"/>
              </a:lnSpc>
              <a:defRPr sz="1100" b="0" i="0">
                <a:solidFill>
                  <a:srgbClr val="647C74"/>
                </a:solidFill>
                <a:latin typeface="Segoe UI"/>
              </a:defRPr>
            </a:pPr>
            <a:r>
              <a:t>JDI Woodlands  ·  Automating forest classification on Microsoft Fabric  ·  Session 2 of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