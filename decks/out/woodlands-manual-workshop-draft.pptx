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student handout alongside this deck. The first five steps are facilitator preparation. The learner sequence uploads all six notebooks before creating a lakehouse. Public imagery and synthetic stands only; no production inventory. DRAFT: live rehearsal is not complete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images/training/manual/01-workspace-create.png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`jdi-training-manual`.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`jdi-training`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jdi-training-manual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  <a:p/>
          <a:p>
            <a:r>
              <a:t>Use [DEPLOY.md](../DEPLOY.md) only for the separate production-style topology.</a:t>
            </a:r>
          </a:p>
          <a:p>
            <a:r>
              <a:t>Its three-workspace scripts are not part of the student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images/training/manual/02-capacity-assignment.png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`jdi-training-manual`.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`jdi-training`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jdi-training-manual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  <a:p/>
          <a:p>
            <a:r>
              <a:t>Use [DEPLOY.md](../DEPLOY.md) only for the separate production-style topology.</a:t>
            </a:r>
          </a:p>
          <a:p>
            <a:r>
              <a:t>Its three-workspace scripts are not part of the student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images/training/manual/10-environment-runtime.png</a:t>
            </a:r>
          </a:p>
          <a:p/>
          <a:p>
            <a:r>
              <a:t>### Create The Environment</a:t>
            </a:r>
          </a:p>
          <a:p/>
          <a:p>
            <a:r>
              <a:t>1. Open the Contoso workspace `jdi-training-manual`. Confirm its assigned</a:t>
            </a:r>
          </a:p>
          <a:p>
            <a:r>
              <a:t>  `rayfintestenv` F64 capacity is active.</a:t>
            </a:r>
          </a:p>
          <a:p>
            <a:r>
              <a:t>2. Select **New item**, search for **Environment**, and select it.</a:t>
            </a:r>
          </a:p>
          <a:p>
            <a:r>
              <a:t>3. Enter `env_forestops`, then select **Create**.</a:t>
            </a:r>
          </a:p>
          <a:p>
            <a:r>
              <a:t>4. In the **Home** ribbon, check **Runtime 1.3** (Spark 3.5, Python 3.11), the</a:t>
            </a:r>
          </a:p>
          <a:p>
            <a:r>
              <a:t>  workshop's previously verified runtime. If unavailable, stop for compatibility</a:t>
            </a:r>
          </a:p>
          <a:p>
            <a:r>
              <a:t>  validation instead of selecting a different major runtime without testing.</a:t>
            </a:r>
          </a:p>
          <a:p/>
          <a:p>
            <a:r>
              <a:t>![Check Runtime 1.3 in the Environment Home ribbon.](images/training/manual/10-environment-runtime.png)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images/training/manual/11-environment-libraries.png</a:t>
            </a:r>
          </a:p>
          <a:p/>
          <a:p>
            <a:r>
              <a:t>### Import Libraries</a:t>
            </a:r>
          </a:p>
          <a:p/>
          <a:p>
            <a:r>
              <a:t>1. Open the navigation menu, then **Libraries** &gt; **External repositories**.</a:t>
            </a:r>
          </a:p>
          <a:p>
            <a:r>
              <a:t>  On a wider screen the navigation is already visible.</a:t>
            </a:r>
          </a:p>
          <a:p>
            <a:r>
              <a:t>2. Select **More items** (`...`) &gt; **Import YML** &gt; **Upload to Full mode**.</a:t>
            </a:r>
          </a:p>
          <a:p>
            <a:r>
              <a:t>  Confirm **Import**, then select</a:t>
            </a:r>
          </a:p>
          <a:p>
            <a:r>
              <a:t>  [environments/environment.yml](../environments/environment.yml) from the bundle.</a:t>
            </a:r>
          </a:p>
          <a:p>
            <a:r>
              <a:t>3. Alternatively, select **YML editor view** &gt; **Full mode**, select all editor</a:t>
            </a:r>
          </a:p>
          <a:p>
            <a:r>
              <a:t>  text and paste the file contents with **Ctrl+V**. Return to **List view**.</a:t>
            </a:r>
          </a:p>
          <a:p>
            <a:r>
              <a:t>  Do not upload the file as a custom Python library or add a top-level `name`:</a:t>
            </a:r>
          </a:p>
          <a:p>
            <a:r>
              <a:t>  the portal accepts `channels` and `dependencies`, not a Conda environment name.</a:t>
            </a:r>
          </a:p>
          <a:p>
            <a:r>
              <a:t>4. Confirm the list contains 14 libraries and the definition retains `numpy&lt;2`, `pandas&gt;=2.1,&lt;3`,</a:t>
            </a:r>
          </a:p>
          <a:p>
            <a:r>
              <a:t>  `typing-extensions&gt;=4.15`, `affine&lt;3`, `zarr&gt;=2.16` and all the other supplied</a:t>
            </a:r>
          </a:p>
          <a:p>
            <a:r>
              <a:t>  packages. Do not substitute the older unpinned requirements file.</a:t>
            </a:r>
          </a:p>
          <a:p/>
          <a:p>
            <a:r>
              <a:t>![Use the Full mode library definition and Save before publishing.](images/training/manual/11-environment-libraries.png)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images/training/manual/12-environment-published.png</a:t>
            </a:r>
          </a:p>
          <a:p/>
          <a:p>
            <a:r>
              <a:t>### Publish And Check</a:t>
            </a:r>
          </a:p>
          <a:p/>
          <a:p>
            <a:r>
              <a:t>1. Select **Save** and confirm **Save changes**. In **Home**, select **Publish**,</a:t>
            </a:r>
          </a:p>
          <a:p>
            <a:r>
              <a:t>  review **Pending changes**, select **Publish all**, then confirm **Publish**.</a:t>
            </a:r>
          </a:p>
          <a:p>
            <a:r>
              <a:t>2. Wait for success. Saving a draft or seeing **Publishing** is not completion.</a:t>
            </a:r>
          </a:p>
          <a:p>
            <a:r>
              <a:t>  Allow about ten minutes; actual time varies.</a:t>
            </a:r>
          </a:p>
          <a:p>
            <a:r>
              <a:t>3. Return to the workspace and confirm `env_forestops` is available. Attach it</a:t>
            </a:r>
          </a:p>
          <a:p>
            <a:r>
              <a:t>  to each notebook using the Home ribbon selector.</a:t>
            </a:r>
          </a:p>
          <a:p>
            <a:r>
              <a:t>4. Start a new session and run Lab 00's Environment check. Lab 01's raster load</a:t>
            </a:r>
          </a:p>
          <a:p>
            <a:r>
              <a:t>  remains the functional check for the full geospatial stack.</a:t>
            </a:r>
          </a:p>
          <a:p/>
          <a:p>
            <a:r>
              <a:t>![Published Environment library rows report Success.](images/training/manual/12-environment-published.png)</a:t>
            </a:r>
          </a:p>
          <a:p/>
          <a:p>
            <a:r>
              <a:t>Checkpoint: publication succeeded, every learner selects the Environment from</a:t>
            </a:r>
          </a:p>
          <a:p>
            <a:r>
              <a:t>the correct workspace, and required imports pass. Do not substitute a</a:t>
            </a:r>
          </a:p>
          <a:p>
            <a:r>
              <a:t>`%pip install` cell for a missing attachment.</a:t>
            </a:r>
          </a:p>
          <a:p/>
          <a:p>
            <a:r>
              <a:t>If approved outbound policy blocks public packages, use the organization's</a:t>
            </a:r>
          </a:p>
          <a:p>
            <a:r>
              <a:t>approved dependency process. Do not disable outbound protection. See</a:t>
            </a:r>
          </a:p>
          <a:p>
            <a:r>
              <a:t>[libraries with limited network access](https://learn.microsoft.com/fabric/data-engineering/environment-manage-library-with-outbound-access-protection).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images/training/manual/03-learner-folder.png</a:t>
            </a:r>
          </a:p>
          <a:p/>
          <a:p>
            <a:r>
              <a:t>## 1. Open Your Workspace And Folder</a:t>
            </a:r>
          </a:p>
          <a:p/>
          <a:p>
            <a:r>
              <a:t>The facilitator completes [workspace preparation](#facilitator-workspace-preparation)</a:t>
            </a:r>
          </a:p>
          <a:p>
            <a:r>
              <a:t>and [Environment setup](12-spark-environment.md#manual-portal-setup) before class.</a:t>
            </a:r>
          </a:p>
          <a:p>
            <a:r>
              <a:t>You need the extracted workshop bundle and Contributor or higher workspace access.</a:t>
            </a:r>
          </a:p>
          <a:p/>
          <a:p>
            <a:r>
              <a:t>1. Sign in to [Fabric](https://app.fabric.microsoft.com) with your Contoso account.</a:t>
            </a:r>
          </a:p>
          <a:p>
            <a:r>
              <a:t>2. Select **Workspaces** &gt; **jdi-training-manual**. Check the workspace name.</a:t>
            </a:r>
          </a:p>
          <a:p>
            <a:r>
              <a:t>   Leave the older `jdi-training` reference workspace and its results unchanged.</a:t>
            </a:r>
          </a:p>
          <a:p>
            <a:r>
              <a:t>3. Select **New folder**, enter `student-demo`, and select **Create**.</a:t>
            </a:r>
          </a:p>
          <a:p>
            <a:r>
              <a:t>4. Open your new folder before importing the notebooks.</a:t>
            </a:r>
          </a:p>
          <a:p/>
          <a:p>
            <a:r>
              <a:t>![Create your learner folder, with the name and Create button circled.](images/training/manual/03-learner-folder.png)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images/training/manual/04-import-menu.png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images/training/manual/05-upload-dialog.png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images/training/manual/06-import-success.png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images/training/manual/07-six-notebooks.png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images/training/manual/08-lakehouse-create.png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`jdi-training-manual`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images/training/manual/09-empty-lakehouse.png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`jdi-training-manual`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images/training/manual/13-environment-picker.png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images/training/manual/14-lakehouse-picker.png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images/training/manual/15-notebook-attachments.png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images/training/manual/15-default-lakehouse.png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images/training/manual/16-run-cell-and-todo.png</a:t>
            </a:r>
          </a:p>
          <a:p/>
          <a:p>
            <a:r>
              <a:t>### Working Cycle</a:t>
            </a:r>
          </a:p>
          <a:p/>
          <a:p>
            <a:r>
              <a:t>1. Confirm your default lakehouse and obtain the facilitator's Spark execution slot.</a:t>
            </a:r>
          </a:p>
          <a:p>
            <a:r>
              <a:t>2. Read the markdown before each code cell.</a:t>
            </a:r>
          </a:p>
          <a:p>
            <a:r>
              <a:t>3. Complete every numbered `TODO` in that cell. Keep the validation code intact.</a:t>
            </a:r>
          </a:p>
          <a:p>
            <a:r>
              <a:t>4. Select the cell's triangular **Run cell** control and wait for completion.</a:t>
            </a:r>
          </a:p>
          <a:p>
            <a:r>
              <a:t>   Run its validation cell. Continue only after the expected checks pass.</a:t>
            </a:r>
          </a:p>
          <a:p>
            <a:r>
              <a:t>5. Stop at any exception or `[FAIL]`, even if Fabric allows later cells to run.</a:t>
            </a:r>
          </a:p>
          <a:p>
            <a:r>
              <a:t>   Some teaching checks print a failure rather than raise an exception.</a:t>
            </a:r>
          </a:p>
          <a:p>
            <a:r>
              <a:t>6. Use the matching solution to understand a blocked exercise. Student and</a:t>
            </a:r>
          </a:p>
          <a:p>
            <a:r>
              <a:t>   solution cell numbers can differ; match the section heading too.</a:t>
            </a:r>
          </a:p>
          <a:p>
            <a:r>
              <a:t>7. Verify the output table/files, then capture the checkpoint before opening</a:t>
            </a:r>
          </a:p>
          <a:p>
            <a:r>
              <a:t>   the next lab. Do not use **Run all** on an unfinished student notebook.</a:t>
            </a:r>
          </a:p>
          <a:p/>
          <a:p>
            <a:r>
              <a:t>Cell numbers below refer to the supplied student files, before adding or</a:t>
            </a:r>
          </a:p>
          <a:p>
            <a:r>
              <a:t>removing cells. They are navigation aids, not execution order: run all code</a:t>
            </a:r>
          </a:p>
          <a:p>
            <a:r>
              <a:t>cells from top to bottom, not only the exercise cells listed.</a:t>
            </a:r>
          </a:p>
          <a:p/>
          <a:p>
            <a:r>
              <a:t>![Complete each numbered TODO, then select Run cell and inspect validation output.](images/training/manual/16-run-cell-and-todo.png)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images/training/manual/17-lab00-configuration.png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`WORKSPACE="jdi-training-manual"`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images/training/manual/18-lab00-checkpoint.png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`WORKSPACE="jdi-training-manual"`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images/training/manual/19-lab01-bronze.png</a:t>
            </a:r>
          </a:p>
          <a:p/>
          <a:p>
            <a:r>
              <a:t>### Lab 01: Ingest Sentinel-2 Imagery</a:t>
            </a:r>
          </a:p>
          <a:p/>
          <a:p>
            <a:r>
              <a:t>Exercise cells: **9, 11, 17, 24, 26 and 30**. Allow about 45 minutes.</a:t>
            </a:r>
          </a:p>
          <a:p/>
          <a:p>
            <a:r>
              <a:t>1. Confirm Lab 00 is complete and the same lakehouse is attached.</a:t>
            </a:r>
          </a:p>
          <a:p>
            <a:r>
              <a:t>2. Keep the supplied area and June 1 through August 31, 2026 window. The initial</a:t>
            </a:r>
          </a:p>
          <a:p>
            <a:r>
              <a:t>   limit is six scenes, cloud cover below 20%, at 20 m resolution.</a:t>
            </a:r>
          </a:p>
          <a:p>
            <a:r>
              <a:t>3. Open the Planetary Computer catalogue and complete the STAC search.</a:t>
            </a:r>
          </a:p>
          <a:p>
            <a:r>
              <a:t>4. Complete the signed windowed raster load for B04, B08, B11, B12 and SCL.</a:t>
            </a:r>
          </a:p>
          <a:p>
            <a:r>
              <a:t>   Sign only for access; do not persist signed asset URLs.</a:t>
            </a:r>
          </a:p>
          <a:p>
            <a:r>
              <a:t>5. Write and inspect `bronze_scene_catalog`, then complete the Bronze file writes</a:t>
            </a:r>
          </a:p>
          <a:p>
            <a:r>
              <a:t>   and final cache-writing cell. Lab 02 needs that cache if the session recycles.</a:t>
            </a:r>
          </a:p>
          <a:p>
            <a:r>
              <a:t>6. Verify files under `Files/bronze/scenes/central-nb-block-a/` and the catalogue</a:t>
            </a:r>
          </a:p>
          <a:p>
            <a:r>
              <a:t>   validation. The reference contains six scenes; an empty search is a stop.</a:t>
            </a:r>
          </a:p>
          <a:p>
            <a:r>
              <a:t>7. Capture `06-lab-01.png`. Avoid output that contains signed URLs.</a:t>
            </a:r>
          </a:p>
          <a:p/>
          <a:p>
            <a:r>
              <a:t>![Lab 01 validates six catalogue rows, unsigned source URLs and the native projection.](images/training/manual/19-lab01-bronze.png)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images/training/manual/20-lab02-quality.png</a:t>
            </a:r>
          </a:p>
          <a:p/>
          <a:p>
            <a:r>
              <a:t>### Lab 02: Build Silver Observations</a:t>
            </a:r>
          </a:p>
          <a:p/>
          <a:p>
            <a:r>
              <a:t>Exercise cells: **12, 14, 18, 20, 22, 27, 31 and 32**. Allow about 50 minutes.</a:t>
            </a:r>
          </a:p>
          <a:p/>
          <a:p>
            <a:r>
              <a:t>1. Confirm Bronze tables and files from Labs 00 and 01 are available.</a:t>
            </a:r>
          </a:p>
          <a:p>
            <a:r>
              <a:t>2. Complete SCL masking and reflectance scaling using the provided constants.</a:t>
            </a:r>
          </a:p>
          <a:p>
            <a:r>
              <a:t>3. Reproject to EPSG:2953 and complete NDVI, NDMI, NBR and EVI.</a:t>
            </a:r>
          </a:p>
          <a:p>
            <a:r>
              <a:t>4. Calculate zonal statistics by stand with explicit valid-pixel accounting.</a:t>
            </a:r>
          </a:p>
          <a:p>
            <a:r>
              <a:t>5. Apply the 0.60 minimum valid-pixel fraction. Do not lower it to force a pass.</a:t>
            </a:r>
          </a:p>
          <a:p>
            <a:r>
              <a:t>6. Write `silver_stand_observations` and inspect its unique stand/date grain.</a:t>
            </a:r>
          </a:p>
          <a:p>
            <a:r>
              <a:t>7. Verify the physical index ranges and quality-gate output. The reference has</a:t>
            </a:r>
          </a:p>
          <a:p>
            <a:r>
              <a:t>   120 rows; 18 stands do not meet the downstream quality threshold.</a:t>
            </a:r>
          </a:p>
          <a:p>
            <a:r>
              <a:t>8. Capture `07-lab-02.png` with the validation and coverage result.</a:t>
            </a:r>
          </a:p>
          <a:p/>
          <a:p>
            <a:r>
              <a:t>![Lab 02 passes the Silver quality gate with 119 trusted stands out of 120 in this rehearsal.](images/training/manual/20-lab02-quality.png)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images/training/manual/21-lab03-classification.png</a:t>
            </a:r>
          </a:p>
          <a:p/>
          <a:p>
            <a:r>
              <a:t>### Lab 03: Classify And Detect Change</a:t>
            </a:r>
          </a:p>
          <a:p/>
          <a:p>
            <a:r>
              <a:t>Exercise cells: **6, 8, 12, 17 and 22**. Allow about 45 minutes.</a:t>
            </a:r>
          </a:p>
          <a:p/>
          <a:p>
            <a:r>
              <a:t>1. Read Silver observations and build the period composite at stand grain.</a:t>
            </a:r>
          </a:p>
          <a:p>
            <a:r>
              <a:t>2. Complete the provided threshold classification and confidence rules.</a:t>
            </a:r>
          </a:p>
          <a:p>
            <a:r>
              <a:t>3. Complete change detection and review flags. Keep untrusted observations</a:t>
            </a:r>
          </a:p>
          <a:p>
            <a:r>
              <a:t>   excluded according to the supplied gate.</a:t>
            </a:r>
          </a:p>
          <a:p>
            <a:r>
              <a:t>4. Write `gold_stand_classification` and `gold_stand_change`.</a:t>
            </a:r>
          </a:p>
          <a:p>
            <a:r>
              <a:t>5. Inspect class counts and the review queue. The reference has 102 classified</a:t>
            </a:r>
          </a:p>
          <a:p>
            <a:r>
              <a:t>   stands: 97 softwood, 3 regenerating and 2 mixedwood. These are instructional</a:t>
            </a:r>
          </a:p>
          <a:p>
            <a:r>
              <a:t>   spectral classes, not field-validated species or harvesting decisions.</a:t>
            </a:r>
          </a:p>
          <a:p>
            <a:r>
              <a:t>6. Capture `08-lab-03.png` with the final validation and a classification preview.</a:t>
            </a:r>
          </a:p>
          <a:p/>
          <a:p>
            <a:r>
              <a:t>![Check the retained classifications and the demonstration review queue.](images/training/manual/21-lab03-classification.png)</a:t>
            </a:r>
          </a:p>
          <a:p/>
          <a:p>
            <a:r>
              <a:t>When no previous period is present, this lab constructs a simulated 2025</a:t>
            </a:r>
          </a:p>
          <a:p>
            <a:r>
              <a:t>baseline for the change exercise. Harvest and disturbance flags from that</a:t>
            </a:r>
          </a:p>
          <a:p>
            <a:r>
              <a:t>baseline are demonstration outputs, not observed historical events. Do not</a:t>
            </a:r>
          </a:p>
          <a:p>
            <a:r>
              <a:t>describe the reference harvested-area number as a real harvest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images/training/manual/22-lab04-offline-narratives.png</a:t>
            </a:r>
          </a:p>
          <a:p/>
          <a:p>
            <a:r>
              <a:t>### Lab 04: Add Guarded Narratives</a:t>
            </a:r>
          </a:p>
          <a:p/>
          <a:p>
            <a:r>
              <a:t>Exercise cells: **9, 20, 26, 27 and 32**. Allow about 45 minutes.</a:t>
            </a:r>
          </a:p>
          <a:p/>
          <a:p>
            <a:r>
              <a:t>1. Keep the offline path for the required lab. Do not configure Foundry</a:t>
            </a:r>
          </a:p>
          <a:p>
            <a:r>
              <a:t>   credentials. Confirm the configuration output says **offline stub**.</a:t>
            </a:r>
          </a:p>
          <a:p>
            <a:r>
              <a:t>2. Complete the structured payload with only allowed fields and explicit nulls.</a:t>
            </a:r>
          </a:p>
          <a:p>
            <a:r>
              <a:t>3. Read the prompt restrictions: no calculations, invented numbers or operational</a:t>
            </a:r>
          </a:p>
          <a:p>
            <a:r>
              <a:t>   decisions by the model.</a:t>
            </a:r>
          </a:p>
          <a:p>
            <a:r>
              <a:t>4. Complete response parsing and numeric validation. Keep invalid narrative</a:t>
            </a:r>
          </a:p>
          <a:p>
            <a:r>
              <a:t>   suppression and status fields intact.</a:t>
            </a:r>
          </a:p>
          <a:p>
            <a:r>
              <a:t>5. Write `gold_stand_narrative` and inspect its `validation_status` values.</a:t>
            </a:r>
          </a:p>
          <a:p>
            <a:r>
              <a:t>   The reference has 40 rows with status `stubbed`.</a:t>
            </a:r>
          </a:p>
          <a:p>
            <a:r>
              <a:t>6. Capture `09-lab-04.png`, showing offline mode and the final validation.</a:t>
            </a:r>
          </a:p>
          <a:p/>
          <a:p>
            <a:r>
              <a:t>![Verify 40 offline-stub narratives and zero failed rows.](images/training/manual/22-lab04-offline-narratives.png)</a:t>
            </a:r>
          </a:p>
          <a:p/>
          <a:p>
            <a:r>
              <a:t>Live Foundry requires a separately approved setup and validation. Do not paste</a:t>
            </a:r>
          </a:p>
          <a:p>
            <a:r>
              <a:t>keys into a notebook or screenshot, and do not describe stubbed text as an AI</a:t>
            </a:r>
          </a:p>
          <a:p>
            <a:r>
              <a:t>model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images/training/manual/23-lab05-gold.png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Skip the optional semantic-model, report and</a:t>
            </a:r>
          </a:p>
          <a:p>
            <a:r>
              <a:t>   scheduling instructions, but run their model-table precheck code.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the earlier 102/120 reference, register coverage is **85%**, even when</a:t>
            </a:r>
          </a:p>
          <a:p>
            <a:r>
              <a:t>every retained fact is trusted. Counts can vary with imagery. Use your actual</a:t>
            </a:r>
          </a:p>
          <a:p>
            <a:r>
              <a:t>current counts, keys and physical-range checks, not the historical count alone.</a:t>
            </a:r>
          </a:p>
          <a:p/>
          <a:p>
            <a:r>
              <a:t>The September 18 rehearsal uses period **2026-08-31**: **120 registered**,</a:t>
            </a:r>
          </a:p>
          <a:p>
            <a:r>
              <a:t>**119 retained**, **one missing result**, and **99.17% register coverage**.</a:t>
            </a:r>
          </a:p>
          <a:p/>
          <a:p>
            <a:r>
              <a:t>For an optional extension, follow the</a:t>
            </a:r>
          </a:p>
          <a:p>
            <a:r>
              <a:t>[Power BI semantic-model guide](../powerbi/semantic-model-guide.md), build the</a:t>
            </a:r>
          </a:p>
          <a:p>
            <a:r>
              <a:t>relationships and report, then verify actual storage/query behavior. Scheduling</a:t>
            </a:r>
          </a:p>
          <a:p>
            <a:r>
              <a:t>is a separate facilitator task. Neither a semantic model nor a schedule is</a:t>
            </a:r>
          </a:p>
          <a:p>
            <a:r>
              <a:t>needed for the required native Map and Data Agent steps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images/training/manual/24-geojson-export.png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Skip the optional semantic-model, report and</a:t>
            </a:r>
          </a:p>
          <a:p>
            <a:r>
              <a:t>   scheduling instructions, but run their model-table precheck code.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the earlier 102/120 reference, register coverage is **85%**, even when</a:t>
            </a:r>
          </a:p>
          <a:p>
            <a:r>
              <a:t>every retained fact is trusted. Counts can vary with imagery. Use your actual</a:t>
            </a:r>
          </a:p>
          <a:p>
            <a:r>
              <a:t>current counts, keys and physical-range checks, not the historical count alone.</a:t>
            </a:r>
          </a:p>
          <a:p/>
          <a:p>
            <a:r>
              <a:t>The September 18 rehearsal uses period **2026-08-31**: **120 registered**,</a:t>
            </a:r>
          </a:p>
          <a:p>
            <a:r>
              <a:t>**119 retained**, **one missing result**, and **99.17% register coverage**.</a:t>
            </a:r>
          </a:p>
          <a:p/>
          <a:p>
            <a:r>
              <a:t>For an optional extension, follow the</a:t>
            </a:r>
          </a:p>
          <a:p>
            <a:r>
              <a:t>[Power BI semantic-model guide](../powerbi/semantic-model-guide.md), build the</a:t>
            </a:r>
          </a:p>
          <a:p>
            <a:r>
              <a:t>relationships and report, then verify actual storage/query behavior. Scheduling</a:t>
            </a:r>
          </a:p>
          <a:p>
            <a:r>
              <a:t>is a separate facilitator task. Neither a semantic model nor a schedule is</a:t>
            </a:r>
          </a:p>
          <a:p>
            <a:r>
              <a:t>needed for the required native Map and Data Agent steps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images/training/manual/25-sql-endpoint-period.png</a:t>
            </a:r>
          </a:p>
          <a:p/>
          <a:p>
            <a:r>
              <a:t>## 6. Check The SQL Endpoint</a:t>
            </a:r>
          </a:p>
          <a:p/>
          <a:p>
            <a:r>
              <a:t>1. Open your lakehouse and switch to its **SQL analytics endpoint**.</a:t>
            </a:r>
          </a:p>
          <a:p>
            <a:r>
              <a:t>2. Refresh Explorer and confirm the four Gold tables appear under **dbo**.</a:t>
            </a:r>
          </a:p>
          <a:p>
            <a:r>
              <a:t>   New Delta tables can take time to synchronize; do not recreate them.</a:t>
            </a:r>
          </a:p>
          <a:p>
            <a:r>
              <a:t>3. Select **New SQL query** and run this read-only check.</a:t>
            </a:r>
          </a:p>
          <a:p/>
          <a:p>
            <a:r>
              <a:t>```sql</a:t>
            </a:r>
          </a:p>
          <a:p>
            <a:r>
              <a:t>WITH latest_period AS (</a:t>
            </a:r>
          </a:p>
          <a:p>
            <a:r>
              <a:t>    SELECT MAX(period_end) AS period_end FROM dbo.gold_stand_facts</a:t>
            </a:r>
          </a:p>
          <a:p>
            <a:r>
              <a:t>), retained AS (</a:t>
            </a:r>
          </a:p>
          <a:p>
            <a:r>
              <a:t>    SELECT facts.stand_id</a:t>
            </a:r>
          </a:p>
          <a:p>
            <a:r>
              <a:t>    FROM dbo.gold_stand_facts AS facts</a:t>
            </a:r>
          </a:p>
          <a:p>
            <a:r>
              <a:t>    CROSS JOIN latest_period</a:t>
            </a:r>
          </a:p>
          <a:p>
            <a:r>
              <a:t>    WHERE facts.period_end = latest_period.period_end</a:t>
            </a:r>
          </a:p>
          <a:p>
            <a:r>
              <a:t>)</a:t>
            </a:r>
          </a:p>
          <a:p>
            <a:r>
              <a:t>SELECT (SELECT period_end FROM latest_period) AS period_end,</a:t>
            </a:r>
          </a:p>
          <a:p>
            <a:r>
              <a:t>       COUNT(*) AS registered_stands,</a:t>
            </a:r>
          </a:p>
          <a:p>
            <a:r>
              <a:t>       COUNT(retained.stand_id) AS retained_stands,</a:t>
            </a:r>
          </a:p>
          <a:p>
            <a:r>
              <a:t>       COUNT(*) - COUNT(retained.stand_id) AS stands_without_result,</a:t>
            </a:r>
          </a:p>
          <a:p>
            <a:r>
              <a:t>       CAST(100.0 * COUNT(retained.stand_id) / NULLIF(COUNT(*), 0)</a:t>
            </a:r>
          </a:p>
          <a:p>
            <a:r>
              <a:t>            AS decimal(5, 2)) AS register_coverage_percent</a:t>
            </a:r>
          </a:p>
          <a:p>
            <a:r>
              <a:t>FROM dbo.gold_dim_stand AS stands</a:t>
            </a:r>
          </a:p>
          <a:p>
            <a:r>
              <a:t>LEFT JOIN retained ON stands.stand_id = retained.stand_id;</a:t>
            </a:r>
          </a:p>
          <a:p>
            <a:r>
              <a:t>```</a:t>
            </a:r>
          </a:p>
          <a:p/>
          <a:p>
            <a:r>
              <a:t>![Run the SQL coverage query and compare its period and counts with the GeoJSON readback.](images/training/manual/25-sql-endpoint-period.png)</a:t>
            </a:r>
          </a:p>
          <a:p/>
          <a:p>
            <a:r>
              <a:t>Checkpoint: these counts agree with the Lab 05 export. Save the SQL results</a:t>
            </a:r>
          </a:p>
          <a:p>
            <a:r>
              <a:t>for testing your agent. If they disagree, check lakehouse selection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images/training/manual/26-map-create.png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jdi-training-manual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images/training/manual/27-map-lakehouse.png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jdi-training-manual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images/training/manual/28-map-show-geojson.png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jdi-training-manual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images/training/manual/29-map-category-style.png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images/training/manual/30-map-tooltip.png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images/training/manual/31-map-coverage-filter.png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images/training/manual/32-map-initial-view.png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images/training/manual/32-map-saved-reopened.png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images/training/manual/33-agent-create.png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images/training/manual/34-agent-lakehouse.png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images/training/manual/35-agent-four-tables.png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images/training/manual/36-agent-instructions.png</a:t>
            </a:r>
          </a:p>
          <a:p/>
          <a:p>
            <a:r>
              <a:t>### Add Instructions</a:t>
            </a:r>
          </a:p>
          <a:p/>
          <a:p>
            <a:r>
              <a:t>Select **Setup** &gt; **Agent instructions**, click the text to edit it, then</a:t>
            </a:r>
          </a:p>
          <a:p>
            <a:r>
              <a:t>replace all starter text with the following:</a:t>
            </a:r>
          </a:p>
          <a:p/>
          <a:p>
            <a:r>
              <a:t>```text</a:t>
            </a:r>
          </a:p>
          <a:p>
            <a:r>
              <a:t>Answer only from the selected Woodlands training lakehouse tables.</a:t>
            </a:r>
          </a:p>
          <a:p>
            <a:r>
              <a:t>These are synthetic boundaries and instructional spectral results,</a:t>
            </a:r>
          </a:p>
          <a:p>
            <a:r>
              <a:t>not field-verified inventory or operational recommendations.</a:t>
            </a:r>
          </a:p>
          <a:p/>
          <a:p>
            <a:r>
              <a:t>gold_dim_stand contains the full register. gold_stand_facts contains retained</a:t>
            </a:r>
          </a:p>
          <a:p>
            <a:r>
              <a:t>stand-period results; its key is stand_id plus period_end. Unless a period</a:t>
            </a:r>
          </a:p>
          <a:p>
            <a:r>
              <a:t>is supplied, use the maximum period_end in gold_stand_facts and state it.</a:t>
            </a:r>
          </a:p>
          <a:p>
            <a:r>
              <a:t>Do not sum stand areas across multiple periods without an explicit request.</a:t>
            </a:r>
          </a:p>
          <a:p/>
          <a:p>
            <a:r>
              <a:t>Join facts to gold_dim_stand on stand_id, gold_dim_date on date_key, and</a:t>
            </a:r>
          </a:p>
          <a:p>
            <a:r>
              <a:t>gold_dim_forest_class on forest_class. Area is in hectares. Lat/lon are</a:t>
            </a:r>
          </a:p>
          <a:p>
            <a:r>
              <a:t>WGS84 centroids. Never guess columns or calculate area from degrees.</a:t>
            </a:r>
          </a:p>
          <a:p/>
          <a:p>
            <a:r>
              <a:t>Report registered, retained and missing-result stand counts separately.</a:t>
            </a:r>
          </a:p>
          <a:p>
            <a:r>
              <a:t>Register coverage is retained distinct stand IDs for the selected period</a:t>
            </a:r>
          </a:p>
          <a:p>
            <a:r>
              <a:t>divided by all stand IDs in gold_dim_stand. is_trusted describes a retained</a:t>
            </a:r>
          </a:p>
          <a:p>
            <a:r>
              <a:t>fact, not whole-register coverage. A stand without a fact is not healthy,</a:t>
            </a:r>
          </a:p>
          <a:p>
            <a:r>
              <a:t>zero-area, or the same as the forest_class value unclassified.</a:t>
            </a:r>
          </a:p>
          <a:p/>
          <a:p>
            <a:r>
              <a:t>Use requires_review for the review queue. Zero rows is a valid result.</a:t>
            </a:r>
          </a:p>
          <a:p>
            <a:r>
              <a:t>Lab 03 may use a simulated historical baseline: change flags are teaching</a:t>
            </a:r>
          </a:p>
          <a:p>
            <a:r>
              <a:t>outputs, not proof of observed harvest or the cause of moisture stress.</a:t>
            </a:r>
          </a:p>
          <a:p>
            <a:r>
              <a:t>Narratives with validation_status stubbed are offline examples, not live</a:t>
            </a:r>
          </a:p>
          <a:p>
            <a:r>
              <a:t>model responses. A missing narrative does not mean missing stand data.</a:t>
            </a:r>
          </a:p>
          <a:p/>
          <a:p>
            <a:r>
              <a:t>Use read-only queries. State period, units and relevant quality limitations.</a:t>
            </a:r>
          </a:p>
          <a:p>
            <a:r>
              <a:t>Do not invent causes, missing results, external facts or forestry decisions.</a:t>
            </a:r>
          </a:p>
          <a:p>
            <a:r>
              <a:t>```</a:t>
            </a:r>
          </a:p>
          <a:p/>
          <a:p>
            <a:r>
              <a:t>Click the Markdown preview to save. Reopen the instructions and confirm that</a:t>
            </a:r>
          </a:p>
          <a:p>
            <a:r>
              <a:t>the complete text is present once, without the original starter instructions.</a:t>
            </a:r>
          </a:p>
          <a:p/>
          <a:p>
            <a:r>
              <a:t>![Save the complete agent instructions, including grain, coverage and demonstration limitations.](images/training/manual/36-agent-instructions.png)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images/training/manual/37-agent-example-validation.png</a:t>
            </a:r>
          </a:p>
          <a:p/>
          <a:p>
            <a:r>
              <a:t>### Add Validated Examples</a:t>
            </a:r>
          </a:p>
          <a:p/>
          <a:p>
            <a:r>
              <a:t>1. Under **Setup** &gt; **lh_woodlands_demo**, select **Example queries** &gt; **Add**.</a:t>
            </a:r>
          </a:p>
          <a:p>
            <a:r>
              <a:t>2. Add **How many registered stands have a result in the latest period, and</a:t>
            </a:r>
          </a:p>
          <a:p>
            <a:r>
              <a:t>   what is register coverage?** with the SQL from Step 6.</a:t>
            </a:r>
          </a:p>
          <a:p>
            <a:r>
              <a:t>3. Add **Show retained stands and hectares by class for the latest period** with:</a:t>
            </a:r>
          </a:p>
          <a:p/>
          <a:p>
            <a:r>
              <a:t>```sql</a:t>
            </a:r>
          </a:p>
          <a:p>
            <a:r>
              <a:t>SELECT facts.period_end, facts.forest_class,</a:t>
            </a:r>
          </a:p>
          <a:p>
            <a:r>
              <a:t>       COUNT(DISTINCT facts.stand_id) AS retained_stands,</a:t>
            </a:r>
          </a:p>
          <a:p>
            <a:r>
              <a:t>       ROUND(SUM(facts.area_ha), 1) AS total_ha</a:t>
            </a:r>
          </a:p>
          <a:p>
            <a:r>
              <a:t>FROM dbo.gold_stand_facts AS facts</a:t>
            </a:r>
          </a:p>
          <a:p>
            <a:r>
              <a:t>WHERE facts.period_end = (SELECT MAX(period_end) FROM dbo.gold_stand_facts)</a:t>
            </a:r>
          </a:p>
          <a:p>
            <a:r>
              <a:t>GROUP BY facts.period_end, facts.forest_class</a:t>
            </a:r>
          </a:p>
          <a:p>
            <a:r>
              <a:t>ORDER BY facts.forest_class;</a:t>
            </a:r>
          </a:p>
          <a:p>
            <a:r>
              <a:t>```</a:t>
            </a:r>
          </a:p>
          <a:p/>
          <a:p>
            <a:r>
              <a:t>Add **Which stands require review in the latest period?** with:</a:t>
            </a:r>
          </a:p>
          <a:p/>
          <a:p>
            <a:r>
              <a:t>```sql</a:t>
            </a:r>
          </a:p>
          <a:p>
            <a:r>
              <a:t>SELECT TOP (20) facts.stand_id, stands.licence_block,</a:t>
            </a:r>
          </a:p>
          <a:p>
            <a:r>
              <a:t>       facts.period_end, facts.forest_class, facts.change_type,</a:t>
            </a:r>
          </a:p>
          <a:p>
            <a:r>
              <a:t>       facts.severity, ROUND(facts.area_ha, 1) AS area_ha,</a:t>
            </a:r>
          </a:p>
          <a:p>
            <a:r>
              <a:t>       facts.validation_status</a:t>
            </a:r>
          </a:p>
          <a:p>
            <a:r>
              <a:t>FROM dbo.gold_stand_facts AS facts</a:t>
            </a:r>
          </a:p>
          <a:p>
            <a:r>
              <a:t>JOIN dbo.gold_dim_stand AS stands ON stands.stand_id = facts.stand_id</a:t>
            </a:r>
          </a:p>
          <a:p>
            <a:r>
              <a:t>WHERE facts.period_end = (SELECT MAX(period_end) FROM dbo.gold_stand_facts)</a:t>
            </a:r>
          </a:p>
          <a:p>
            <a:r>
              <a:t>  AND facts.requires_review = 1</a:t>
            </a:r>
          </a:p>
          <a:p>
            <a:r>
              <a:t>ORDER BY facts.severity DESC, facts.area_ha DESC, facts.stand_id;</a:t>
            </a:r>
          </a:p>
          <a:p>
            <a:r>
              <a:t>```</a:t>
            </a:r>
          </a:p>
          <a:p/>
          <a:p>
            <a:r>
              <a:t>1. Enter each question, click outside and wait for saving to finish. Then select</a:t>
            </a:r>
          </a:p>
          <a:p>
            <a:r>
              <a:t>   all the SQL placeholder text and paste the query. Click outside again.</a:t>
            </a:r>
          </a:p>
          <a:p>
            <a:r>
              <a:t>2. Wait for automatic validation to finish without an error. Controls can be</a:t>
            </a:r>
          </a:p>
          <a:p>
            <a:r>
              <a:t>   briefly read-only during saving; wait instead of pasting twice. Reopen the</a:t>
            </a:r>
          </a:p>
          <a:p>
            <a:r>
              <a:t>   examples and confirm all three question/query pairs were saved correctly.</a:t>
            </a:r>
          </a:p>
          <a:p>
            <a:r>
              <a:t>3. Run the same SQL independently in the SQL analytics endpoint and retain its</a:t>
            </a:r>
          </a:p>
          <a:p>
            <a:r>
              <a:t>   results as ground truth for the agent answers.</a:t>
            </a:r>
          </a:p>
          <a:p/>
          <a:p>
            <a:r>
              <a:t>![Add each natural-language question and its independently checked SQL query.](images/training/manual/37-agent-example-validation.png)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images/training/manual/38-agent-count-answer.png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images/training/manual/39-agent-coverage-answer.png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images/training/manual/40-agent-review-answer.png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images/training/manual/41-agent-publish-dialog.png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images/training/manual/41-agent-published.png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images/training/manual/42-final-workspace.png</a:t>
            </a:r>
          </a:p>
          <a:p/>
          <a:p>
            <a:r>
              <a:t>## 9. Finish And Hand In</a:t>
            </a:r>
          </a:p>
          <a:p/>
          <a:p>
            <a:r>
              <a:t>1. Confirm the six notebooks, your lakehouse, Map and Data Agent exist.</a:t>
            </a:r>
          </a:p>
          <a:p>
            <a:r>
              <a:t>2. Submit links to your notebook folder, lakehouse, Map and published agent.</a:t>
            </a:r>
          </a:p>
          <a:p>
            <a:r>
              <a:t>3. Include six lab checkpoint images, a Map tooltip/filter result, an agent</a:t>
            </a:r>
          </a:p>
          <a:p>
            <a:r>
              <a:t>   coverage answer and the matching SQL output.</a:t>
            </a:r>
          </a:p>
          <a:p>
            <a:r>
              <a:t>4. State your reporting period and registered/retained/missing counts. Explain</a:t>
            </a:r>
          </a:p>
          <a:p>
            <a:r>
              <a:t>   the synthetic register, simulated baseline and offline narratives.</a:t>
            </a:r>
          </a:p>
          <a:p>
            <a:r>
              <a:t>5. Stop your Spark sessions. Do not pause the shared capacity or enable a schedule.</a:t>
            </a:r>
          </a:p>
          <a:p/>
          <a:p>
            <a:r>
              <a:t>![Confirm your native Data Agent, lakehouse and Map are present alongside the completed notebooks.](images/training/manual/42-final-workspace.png)</a:t>
            </a:r>
          </a:p>
          <a:p/>
          <a:p>
            <a:r>
              <a:t>Use a local `evidence/&lt;your-name&gt;` folder for your own checkpoint captures.</a:t>
            </a:r>
          </a:p>
          <a:p>
            <a:r>
              <a:t>Exclude account menus, secrets, connection strings and signed imagery URLs.</a:t>
            </a:r>
          </a:p>
          <a:p>
            <a:r>
              <a:t>Take a second close-up when the title and result do not fit legibly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hand-in checklist in the student handout. A scheduler success is not enough: inspect validations and durable data. Do not pause the shared capacity or grant external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JDI WOODLANDS | MANUAL FABRIC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Woodlands in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300" b="0" i="0">
                <a:solidFill>
                  <a:srgbClr val="F1F5F3"/>
                </a:solidFill>
                <a:latin typeface="Segoe UI"/>
              </a:defRPr>
            </a:pPr>
            <a:r>
              <a:t>Student notebooks. Your lakehouse. A native Map and data agent.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7588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850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Upload six notebooks, then create and attach your lakehouse.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61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708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Complete TODO exercises and verify each lab checkpoint.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474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566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Build the Map and test the agent against Gold SQL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5936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FC17E"/>
                </a:solidFill>
                <a:latin typeface="Segoe UI"/>
              </a:defRPr>
            </a:pPr>
            <a:r>
              <a:t>DRAFT: live rehearsal is not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Name the shared training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3" y="1261872"/>
            <a:ext cx="522362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jdi-training-manual for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Advanced, then choose the approved Fabric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 / 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the existing F64 capacity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35" y="1261872"/>
            <a:ext cx="797242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rayfintestenv - West US 2, not a trial or another capacity.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Apply creates the workspace with this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 / 47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Keep the workshop on Runtime 1.3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43" y="1261872"/>
            <a:ext cx="975320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1.3 (Spark 3.5, Delta 3.2). Do not substitute a different major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 / 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Full mode and save the 14-library definition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58" y="1261872"/>
            <a:ext cx="907337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YML editor view to paste the supplied Environment definition.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Full mode. Scroll the library list to inspect all 14 entries.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Save and confirm. Then Home &gt; Publish &gt; Publish all &gt;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 /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Wait for successful publication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12" y="1261872"/>
            <a:ext cx="40574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14 library rows must report Success. Saving alone is not publication.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Runtime stays at 1.3. The notebooks can now attach this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6 / 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learner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75698"/>
            <a:ext cx="11109960" cy="402430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demo with your learner or pair suffix.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folder, then open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7 /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Import the student notebooks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631027"/>
            <a:ext cx="11109960" cy="351364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Import, then Notebook.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From this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8 / 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Open the notebook upload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56" y="1261872"/>
            <a:ext cx="60297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to select your STUDENT notebook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9 / 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import completed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02" y="1261872"/>
            <a:ext cx="934628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Look for Imported successfully. Do not upload again if it already succeeded.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10 / 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six student notebooks before creating the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899" y="1261872"/>
            <a:ext cx="51838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Start with Lab 00. Work through the numbered notebooks in order.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Lab 05 must also be present. Keep solution files in a separate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11 / 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own schema-enabled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40" y="1261872"/>
            <a:ext cx="817521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lh_woodlands_&lt;your suffix&gt;. The rehearsal uses demo.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Lakehouse schemas checked.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Create and wait for the lakehouse to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12 / 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new lakehouse is empty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180" y="1261872"/>
            <a:ext cx="5169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Tables contains the default dbo schema. The notebooks will populate it.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Files will hold imagery caches and the GeoJSON map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13 / 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Choose the Environment from the correct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07" y="1261872"/>
            <a:ext cx="749587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env_forestops.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Verify Location is jdi-training-manual, not one of the reference workspaces.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Confirm, then repeat the attachment for every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14 / 47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Attach the Lakehouse item, not the SQL endpoint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41" y="1261872"/>
            <a:ext cx="8035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the Lakehouse icon in the first row. The second row is the SQL endpoint.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your lakehouse name and its workspace before adding it.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Add. Never attach another learner's lakehouse.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15 /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three notebook attachments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37" y="1261872"/>
            <a:ext cx="981302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Language: PySpark (Python).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Environment: env_forestops from this workspace.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Your lakehouse has the default pin. Repeat for all six notebooks.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16 / 47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Explicitly set your default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93560"/>
            <a:ext cx="11109960" cy="39885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lakehouse's More options menu and choose Set as default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Wait for saving, reopen the notebook, and confirm your lakehouse is still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17 / 47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Complete the exercise, then run and validate that cell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10" y="1261872"/>
            <a:ext cx="84948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numbered TODOs with your code; keep validation cells intact.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Run cell. Wait for completion and check for PASS before continuing.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18 / 47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00: check the printed configuration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12" y="1261872"/>
            <a:ext cx="86596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EPSG:2953 for analysis and synthetic_stands: true for the workshop.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workspace and lakehouse labels must match your own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19 / 47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 checkpoint: all stand centroids are inside the area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713188"/>
            <a:ext cx="11109960" cy="334932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120/120 inside, with PASS. A completed cell can still print FAIL.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bronze_stand_register table now contains the display centroids.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20 / 47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01 checkpoint: verify the catalogue and source metadata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28743"/>
            <a:ext cx="11109959" cy="291821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found six scenes and wrote all six catalogue rows.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Persist unsigned source URLs, never temporary SAS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stored native projection is EPSG:32619. Keep it for reprojection.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21 / 47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02 checkpoint: the Silver quality gate must be open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09635"/>
            <a:ext cx="11109960" cy="4156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has 119 trusted stands out of 120. Coverage can vary by imagery.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Continue only with Gate open and every validation marked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22 / 47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03 checkpoint: classifications and review flags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2" y="1261872"/>
            <a:ext cx="67591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Compare only the retained stands: 119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review queue has 13 stands. The demonstration uses a simulated prior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23 / 47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04 checkpoint: recognize offline demonstration narratives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07" y="1261872"/>
            <a:ext cx="586428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rehearsal wrote 40 narratives, not one narrative for every stand.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offline-stub is deliberate. These are not live model responses.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zero failed rows and keep the validation guard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24 / 47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 checkpoint: verify the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15" y="1261872"/>
            <a:ext cx="987346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retained facts differ from the full 120-stand register. Keep both counts.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date and class dimensions are also written to your learner lakehouse.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25 / 47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05: check the GeoJSON export readback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71" y="1261872"/>
            <a:ext cx="970755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Files/gold/maps/stand_classification.geojson as the native Map layer.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120 registered features, 119 retained results and one missing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Readback must report PASS before you build the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26 / 47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CHECK THE GOLD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Independently check the period and 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98" y="1261872"/>
            <a:ext cx="776229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 the read-only coverage query after the Gold tables synchronize.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For 2026-08-31: 120 registered, 119 retained, one missing and 99.17%. Keep this SQL ground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27 / 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a native Fabric 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56" y="1261872"/>
            <a:ext cx="93323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map_woodlands_&lt;your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Map item. This is not a Power BI map visual.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28 / 47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Connect the Map to your own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59" y="1261872"/>
            <a:ext cx="756517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lh_woodlands_demo, or your own suffixed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Location is jdi-training-manual.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to connect the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29 / 47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Display the exported stand polygons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04" y="1261872"/>
            <a:ext cx="877788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the maps folder, not only its expansion arrow, to open the file pane.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GeoJSON file's More options menu and select Show on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30 / 47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Style the actual categories, including missing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31" y="1261872"/>
            <a:ext cx="6261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Enable data-driven styling and Color by map_class, using Category.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gray #61717D for no_classified_result. It is not a healthy or unclassified stand.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extrusion off and use 65% fill opacity for readable polygons.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31 / 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the period, quality and synthetic provenance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381" y="1261872"/>
            <a:ext cx="432693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Hover a polygon and check its stand ID, reporting date, class and hectares.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Scroll inside the tooltip to inspect stand_source: synthetic. Collapse the legend if it overlaps.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32 / 47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stands with no retained classification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2" y="1261872"/>
            <a:ext cx="107043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Filter coverage_status to no_classified_result. This rehearsal has one such stand.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Remove filters before saving the complete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33 /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Set the view learners will see when the Map opens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65" y="1261872"/>
            <a:ext cx="421716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After Zoom to fit, open Map settings.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Set initial view, close the pane, then Save and wait for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34 / 47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Reopen the saved Map and check all four categories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80" y="1261872"/>
            <a:ext cx="3633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saved item opens in Viewing mode over the New Brunswick stands.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gray missing-result polygon remains visible beside retained classifications.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35 / 47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native Fabric Data Agent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60" y="1261872"/>
            <a:ext cx="68219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agent_woodlands_&lt;your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item. No Azure OpenAI key is needed for this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36 / 47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the learner lakehouse as the agent's data source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91" y="1261872"/>
            <a:ext cx="78681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your own lakehouse. Verify its workspace in the row details.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and wait for the source schema to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37 / 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only these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1" y="1261872"/>
            <a:ext cx="3685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gold_dim_date: reporting dates.</a:t>
            </a:r>
          </a:p>
        </p:txBody>
      </p:sp>
      <p:sp>
        <p:nvSpPr>
          <p:cNvPr id="7" name="Oval 6"/>
          <p:cNvSpPr/>
          <p:nvPr/>
        </p:nvSpPr>
        <p:spPr>
          <a:xfrm>
            <a:off x="3390138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2474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gold_dim_forest_class: class labels and definitions.</a:t>
            </a:r>
          </a:p>
        </p:txBody>
      </p:sp>
      <p:sp>
        <p:nvSpPr>
          <p:cNvPr id="9" name="Oval 8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6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gold_dim_stand: the full stand register and coverage denominator.</a:t>
            </a:r>
          </a:p>
        </p:txBody>
      </p:sp>
      <p:sp>
        <p:nvSpPr>
          <p:cNvPr id="11" name="Oval 10"/>
          <p:cNvSpPr/>
          <p:nvPr/>
        </p:nvSpPr>
        <p:spPr>
          <a:xfrm>
            <a:off x="9091422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3758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gold_stand_facts: retained stand-period results. Leave the other tables unchecked.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38 / 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Save instructions that define grain, coverage and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60" y="1261872"/>
            <a:ext cx="226637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Paste the complete instructions, replacing the starter text. Click the preview to save.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Coverage uses every registered stand, not only the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simulated-baseline and offline-narrative limitations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39 / 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and validate the question/SQL pairs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833" y="1261872"/>
            <a:ext cx="365402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Enter the question, then let the portal finish saving before editing its SQL.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SQL placeholder. Click outside and wait for automatic validation.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Add all three examples. Reopen them and check that the saved queries match the handout.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40 / 47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full-register count against SQL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39" y="1261872"/>
            <a:ext cx="523421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full register has 120 stands, including stands without a retained fact.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completed steps to inspect the actual source, generated SQL and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41 / 47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Require a date and whole-register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9" y="1261872"/>
            <a:ext cx="73855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reporting period must be an actual date: 2026-08-31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out of 120 is 99.17%, not 100% of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Inspect the generated SQL and compare it with your independent endpoint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42 / 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review queue and its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01" y="1261872"/>
            <a:ext cx="438609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response, then open Steps completed to inspect SQL and source output.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13 stand IDs and hectare values match the independently executed SQL.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simulated-data limitation. These flags are not operational forestry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43 / 47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Publish to Fabric without enabling an additional channel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6" y="1261872"/>
            <a:ext cx="910202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Describe the agent's read-only training purpose and limitations.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Also publish to Microsoft 365 Copilot off for this workshop.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Publish only after all answer checks agree with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44 / 47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Retest the published version after reopening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848" y="1261872"/>
            <a:ext cx="796999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Switch from Draft to Published. The label confirms which version you are testing.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published answer still states the correct reporting date.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Recheck 120 registered, 119 retained, one missing and 99.17% coverage against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45 / 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FINAL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Hand in links to your completed Fabric items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46" y="1261872"/>
            <a:ext cx="670440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published Data Agent and its independently checked answers.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saved Map, lakehouse and six completed notebook links. Stop your Spark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46 / 47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600" b="1" i="0">
                <a:solidFill>
                  <a:srgbClr val="F1F5F3"/>
                </a:solidFill>
                <a:latin typeface="Segoe UI"/>
              </a:defRPr>
            </a:pPr>
            <a:r>
              <a:t>Your hand-in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1801368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Six completed notebooks with passing validation output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70048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642616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Your lakehouse, with verified Gold tables and GeoJSON export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11296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483864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saved native Map with class colors, tooltips and coverage filtering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325112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published data agent whose answers match the independent SQL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FC17E"/>
                </a:solidFill>
                <a:latin typeface="Segoe UI"/>
              </a:defRPr>
            </a:pPr>
            <a:r>
              <a:t>Explain missing results, simulated history and offline narrative stubs. Stop your Spark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