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Two sessions, four hours each. By the end of Session 2 everyone in this room will</a:t>
            </a:r>
          </a:p>
          <a:p>
            <a:r>
              <a:t>have a scheduled pipeline that pulls satellite imagery, classifies forest stands, and drives</a:t>
            </a:r>
          </a:p>
          <a:p>
            <a:r>
              <a:t>a map a planner can filter.</a:t>
            </a:r>
          </a:p>
          <a:p/>
          <a:p>
            <a:r>
              <a:t>Today is the foundations. That sounds like the boring half. It is not, because almost every</a:t>
            </a:r>
          </a:p>
          <a:p>
            <a:r>
              <a:t>failure in the second session traces back to something we get right or wrong this morning:</a:t>
            </a:r>
          </a:p>
          <a:p>
            <a:r>
              <a:t>the projection, the layer contracts, and knowing which tool to reach for.</a:t>
            </a:r>
          </a:p>
          <a:p/>
          <a:p>
            <a:r>
              <a:t>Housekeeping before we start: we run the pre-flight check first, before introductions. If your</a:t>
            </a:r>
          </a:p>
          <a:p>
            <a:r>
              <a:t>environment is broken I want to know at nine o'clock, not at half past eleven.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 and then say the honest version: the tooling changes. Fabric will look different</a:t>
            </a:r>
          </a:p>
          <a:p>
            <a:r>
              <a:t>in eighteen months. The layer contracts will not, and neither will the projection problem.</a:t>
            </a:r>
          </a:p>
          <a:p/>
          <a:p>
            <a:r>
              <a:t>The last bullet matters more than it looks. The homework is what turns this from a demo you</a:t>
            </a:r>
          </a:p>
          <a:p>
            <a:r>
              <a:t>watched into a pipeline over ground you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two hands-on blocks and say that everything before them is there to make them work.</a:t>
            </a:r>
          </a:p>
          <a:p/>
          <a:p>
            <a:r>
              <a:t>Flag the break time now so people plan around it. A room that does not know when the break is</a:t>
            </a:r>
          </a:p>
          <a:p>
            <a:r>
              <a:t>takes its own break, one person at a time, during the block you most needed them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a full minute on the solution notebooks. In every delivery there is someone who will sit</a:t>
            </a:r>
          </a:p>
          <a:p>
            <a:r>
              <a:t>quietly with a broken cell for forty minutes rather than open the answer, and they learn less</a:t>
            </a:r>
          </a:p>
          <a:p>
            <a:r>
              <a:t>than the person who read the answer at minute six and then re-typed it themselves.</a:t>
            </a:r>
          </a:p>
          <a:p/>
          <a:p>
            <a:r>
              <a:t>Say the sentence out loud: reading a working answer is not the same as having written one, so</a:t>
            </a:r>
          </a:p>
          <a:p>
            <a:r>
              <a:t>open it, read it, close it, and write your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introductions yet. Everyone opens the notebook and runs the pre-flight cell now.</a:t>
            </a:r>
          </a:p>
          <a:p/>
          <a:p>
            <a:r>
              <a:t>Floating facilitator: walk the room and look at screens rather than waiting for hands. People</a:t>
            </a:r>
          </a:p>
          <a:p>
            <a:r>
              <a:t>do not raise their hand for a failure they think is their own 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script deliberately has no dependencies. If it needed geopandas to tell you geopandas was</a:t>
            </a:r>
          </a:p>
          <a:p>
            <a:r>
              <a:t>missing, it would be useless.</a:t>
            </a:r>
          </a:p>
          <a:p/>
          <a:p>
            <a:r>
              <a:t>Note the last card out loud. Foundry failing today is expected and not a problem. Say it now,</a:t>
            </a:r>
          </a:p>
          <a:p>
            <a:r>
              <a:t>or three people will spend the break trying to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this table aloud. Leave it up while you walk the room, and point at the row that</a:t>
            </a:r>
          </a:p>
          <a:p>
            <a:r>
              <a:t>matches whatever a person is looking at.</a:t>
            </a:r>
          </a:p>
          <a:p/>
          <a:p>
            <a:r>
              <a:t>The last row is the one facilitators get wrong. A throttled capacity does not improve by being</a:t>
            </a:r>
          </a:p>
          <a:p>
            <a:r>
              <a:t>asked again, and three people hammering restart makes it worse for everyone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clearly that none of these is a failure state. The point of the day is the pattern, and the</a:t>
            </a:r>
          </a:p>
          <a:p>
            <a:r>
              <a:t>plumbing is the part most likely to be different at your site anyway.</a:t>
            </a:r>
          </a:p>
          <a:p/>
          <a:p>
            <a:r>
              <a:t>Push tier 2 harder than feels natural. Pairing produces the best outcome and the lowest uptake,</a:t>
            </a:r>
          </a:p>
          <a:p>
            <a:r>
              <a:t>because being the one who is stuck feels like a confession.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gear here. The pre-flight was mechanical; this block is the framing that everything else</a:t>
            </a:r>
          </a:p>
          <a:p>
            <a:r>
              <a:t>hangs on. Slow down, and get people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column is not a criticism. Every product starts as that notebook, and most analysis</a:t>
            </a:r>
          </a:p>
          <a:p>
            <a:r>
              <a:t>should stay there. The mistake is letting something reach an operational decision while still</a:t>
            </a:r>
          </a:p>
          <a:p>
            <a:r>
              <a:t>having the properties in the right column.</a:t>
            </a:r>
          </a:p>
          <a:p/>
          <a:p>
            <a:r>
              <a:t>Ask the room which column their current work sits in. There is usually a long pause and then</a:t>
            </a:r>
          </a:p>
          <a:p>
            <a:r>
              <a:t>an honest answer, and that answer is the most useful thing said all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as a conversation, not a slide. Ask the room for their answer to card one before you</a:t>
            </a:r>
          </a:p>
          <a:p>
            <a:r>
              <a:t>give yours.</a:t>
            </a:r>
          </a:p>
          <a:p/>
          <a:p>
            <a:r>
              <a:t>If there is a planner in the room, hand them card two entirely. The abstraction only lands when</a:t>
            </a:r>
          </a:p>
          <a:p>
            <a:r>
              <a:t>it is attached to a real person making a real decision, and their answer will be more specific</a:t>
            </a:r>
          </a:p>
          <a:p>
            <a:r>
              <a:t>than anything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buys credibility. A room of foresters has seen remote sensing oversold before, and</a:t>
            </a:r>
          </a:p>
          <a:p>
            <a:r>
              <a:t>saying the limits out loud before anyone asks changes how the rest of the day is heard.</a:t>
            </a:r>
          </a:p>
          <a:p/>
          <a:p>
            <a:r>
              <a:t>The fourth bullet is the important one. Everything we build ends in a work queue, not an</a:t>
            </a:r>
          </a:p>
          <a:p>
            <a:r>
              <a:t>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come back to all day. Every time someone proposes putting something</a:t>
            </a:r>
          </a:p>
          <a:p>
            <a:r>
              <a:t>somewhere, the question is which contract it belongs under.</a:t>
            </a:r>
          </a:p>
          <a:p/>
          <a:p>
            <a:r>
              <a:t>The most common violation is reprojecting in bronze because it is convenient. It is convenient</a:t>
            </a:r>
          </a:p>
          <a:p>
            <a:r>
              <a:t>right up to the month someone asks what the original grid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timer per tool. This block overruns in every delivery because people want to explore, and</a:t>
            </a:r>
          </a:p>
          <a:p>
            <a:r>
              <a:t>the exploration is better done in the break when it does not cost the room forty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 the timer and mean it. When the timer goes, move, even mid-sentence, and tell the room</a:t>
            </a:r>
          </a:p>
          <a:p>
            <a:r>
              <a:t>that is what you are doing so it reads as discipline rather than rudeness.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live and slowly. Half the room has never created a workspace, and the ones who have</a:t>
            </a:r>
          </a:p>
          <a:p>
            <a:r>
              <a:t>will tolerate ninety seconds of watching far better than the others will tolerate being lost.</a:t>
            </a:r>
          </a:p>
          <a:p/>
          <a:p>
            <a:r>
              <a:t>If workspace creation is blocked by tenant policy, this is where you find out. Have the</a:t>
            </a:r>
          </a:p>
          <a:p>
            <a:r>
              <a:t>pre-created workspaces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that lands is "you loaded nothing". Most people in the room have spent years moving</a:t>
            </a:r>
          </a:p>
          <a:p>
            <a:r>
              <a:t>data between a lake and a warehouse, and the idea that both engines read the same files is the</a:t>
            </a:r>
          </a:p>
          <a:p>
            <a:r>
              <a:t>part worth pausing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 Explorer open before this slide. Drawing the box live is what makes the bounding box</a:t>
            </a:r>
          </a:p>
          <a:p>
            <a:r>
              <a:t>concept concrete, and it is the same box people will paste into their homework.</a:t>
            </a:r>
          </a:p>
          <a:p/>
          <a:p>
            <a:r>
              <a:t>Point at the cloud cover slider and say that this one number is what breaks live demos, which</a:t>
            </a:r>
          </a:p>
          <a:p>
            <a:r>
              <a:t>gives you cover if it breaks yours in Session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editorialise about AI here. Just run it, twice, and let the room see the variance.</a:t>
            </a:r>
          </a:p>
          <a:p/>
          <a:p>
            <a:r>
              <a:t>The framing to land: it is not unreliable, it is under-specified. The next slide shows the same</a:t>
            </a:r>
          </a:p>
          <a:p>
            <a:r>
              <a:t>prompt with the missing constraints added, and it gets it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two blocks line by line. In prompt A, set_crs is missing, so it raises on naive</a:t>
            </a:r>
          </a:p>
          <a:p>
            <a:r>
              <a:t>geometry, and if it does not raise, area is in square degrees.</a:t>
            </a:r>
          </a:p>
          <a:p/>
          <a:p>
            <a:r>
              <a:t>Then make the general point: state the coordinate system, state the units, state the nodata</a:t>
            </a:r>
          </a:p>
          <a:p>
            <a:r>
              <a:t>convention. Those three sentences fix most of the geospatial code an assistant will write for</a:t>
            </a:r>
          </a:p>
          <a:p>
            <a:r>
              <a:t>you, and they are also the three things a colleague would have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It is five minutes and the substance is all in Session 2.</a:t>
            </a:r>
          </a:p>
          <a:p/>
          <a:p>
            <a:r>
              <a:t>The one idea to plant now is the deployment version. When someone says the report reads</a:t>
            </a:r>
          </a:p>
          <a:p>
            <a:r>
              <a:t>differently this month, the first question is whether the model changed, and without that</a:t>
            </a:r>
          </a:p>
          <a:p>
            <a:r>
              <a:t>column the question has no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block produces the most durable takeaway of Session 1, because it applies to every request</a:t>
            </a:r>
          </a:p>
          <a:p>
            <a:r>
              <a:t>these people get, not only to this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order. Starting at question three is how organisations end up asking a model to</a:t>
            </a:r>
          </a:p>
          <a:p>
            <a:r>
              <a:t>do arithmetic, and it happens because question three is the interesting one.</a:t>
            </a:r>
          </a:p>
          <a:p/>
          <a:p>
            <a:r>
              <a:t>The parenthetical in question one is the real content: you will maintain whatever you choose,</a:t>
            </a:r>
          </a:p>
          <a:p>
            <a:r>
              <a:t>and a notebook is a permanent commitment of somebody's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footnote is the slide. Ask how many current projects would disappear if someone had asked</a:t>
            </a:r>
          </a:p>
          <a:p>
            <a:r>
              <a:t>whether a lookup table answered the question, and let the silence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3 is the trap and it catches most rooms. Free text triggers the language model reflex, but</a:t>
            </a:r>
          </a:p>
          <a:p>
            <a:r>
              <a:t>block ids follow a fixed format, so a regular expression extracts them at near-perfect accuracy,</a:t>
            </a:r>
          </a:p>
          <a:p>
            <a:r>
              <a:t>for free, deterministically, and it can be unit tested.</a:t>
            </a:r>
          </a:p>
          <a:p/>
          <a:p>
            <a:r>
              <a:t>A model is justified only for the residue the pattern misses, and only if that residue matters.</a:t>
            </a:r>
          </a:p>
          <a:p/>
          <a:p>
            <a:r>
              <a:t>Card 4 is the honest yes. Structured input, prose output, value in readability rather than</a:t>
            </a:r>
          </a:p>
          <a:p>
            <a:r>
              <a:t>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them ninety seconds to write it in their own words. Something written in your own handwriting</a:t>
            </a:r>
          </a:p>
          <a:p>
            <a:r>
              <a:t>survives a workshop; something on a slide does not.</a:t>
            </a:r>
          </a:p>
          <a:p/>
          <a:p>
            <a:r>
              <a:t>Then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window on the people parked on a fallback tier at 0:20. That is the whole purpose of</a:t>
            </a:r>
          </a:p>
          <a:p>
            <a:r>
              <a:t>this break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conceptual core of the day. Everything after this is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how many copies of the stand register exist across the organisation today. The number is</a:t>
            </a:r>
          </a:p>
          <a:p>
            <a:r>
              <a:t>always uncomfortable and always instructive.</a:t>
            </a:r>
          </a:p>
          <a:p/>
          <a:p>
            <a:r>
              <a:t>Then make the honest caveat: OneLake removes the technical reason for copies. It does not remove</a:t>
            </a:r>
          </a:p>
          <a:p>
            <a:r>
              <a:t>the organisational ones, and those are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Dwell on the Tables card. "A table is a folder with a transaction log" is the sentence that</a:t>
            </a:r>
          </a:p>
          <a:p>
            <a:r>
              <a:t>turns Delta from a brand into a mechanism, and once people have it, the rest of the medallion</a:t>
            </a:r>
          </a:p>
          <a:p>
            <a:r>
              <a:t>architecture stops feeling like ceremony.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live, slowly, and narrate every click. It is the highest-value five minutes in Session 1.</a:t>
            </a:r>
          </a:p>
          <a:p/>
          <a:p>
            <a:r>
              <a:t>If someone asks about permissions, answer it properly: shortcut access resolves against the</a:t>
            </a:r>
          </a:p>
          <a:p>
            <a:r>
              <a:t>source, so a shortcut cannot be used to widen access to data you could not already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footnote is worth expanding. Because bronze never overwrites, a pipeline that dies half way</a:t>
            </a:r>
          </a:p>
          <a:p>
            <a:r>
              <a:t>through is safe to re-run. Without that property, every failure becomes a recovery exercise, and</a:t>
            </a:r>
          </a:p>
          <a:p>
            <a:r>
              <a:t>recovery exercises happen at the worst possible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opens 00_setup_lakehouse_and_config_STUDENT. Checkpoint at 3:25, hard.</a:t>
            </a:r>
          </a:p>
          <a:p/>
          <a:p>
            <a:r>
              <a:t>Start a Spark session yourself now if you have not already, so the demo is warm when you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notebook on screen while this is up, so people can see the shape of what they are</a:t>
            </a:r>
          </a:p>
          <a:p>
            <a:r>
              <a:t>opening.</a:t>
            </a:r>
          </a:p>
          <a:p/>
          <a:p>
            <a:r>
              <a:t>Point out that the geometry generator is given to them. The exercise is the coordinate systems</a:t>
            </a:r>
          </a:p>
          <a:p>
            <a:r>
              <a:t>and the attributes, not trigonometry.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fourth row deserves thirty seconds on its own. The first three raise an exception and cost</a:t>
            </a:r>
          </a:p>
          <a:p>
            <a:r>
              <a:t>you five minutes. The fourth produces working code, plausible output, and geometry in the Gulf</a:t>
            </a:r>
          </a:p>
          <a:p>
            <a:r>
              <a:t>of Guinea.</a:t>
            </a:r>
          </a:p>
          <a:p/>
          <a:p>
            <a:r>
              <a:t>The notebook demonstrates it deliberately in Step 4, so tell them to actually read that cell's</a:t>
            </a:r>
          </a:p>
          <a:p>
            <a:r>
              <a:t>output rather than running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failing run as well as this one if you have time. A room that has only ever seen green</a:t>
            </a:r>
          </a:p>
          <a:p>
            <a:r>
              <a:t>output does not know what a failure looks like or what to do about it.</a:t>
            </a:r>
          </a:p>
          <a:p/>
          <a:p>
            <a:r>
              <a:t>Repeat the rule: a FAIL at the checkpoint means open the solution. It is not a judgement, it is</a:t>
            </a:r>
          </a:p>
          <a:p>
            <a:r>
              <a:t>the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minutes, and the homework brief needs ten of them. Keep the recap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add one thing you did not list. Whatever comes back tells you what actually</a:t>
            </a:r>
          </a:p>
          <a:p>
            <a:r>
              <a:t>landed today, which is more useful than your own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plausibility check in task three is the real exercise. If synthetic stands come out at 4,000</a:t>
            </a:r>
          </a:p>
          <a:p>
            <a:r>
              <a:t>hectares each, something is wrong with the projection, and finding that now is much cheaper than</a:t>
            </a:r>
          </a:p>
          <a:p>
            <a:r>
              <a:t>finding it after a classifier has been built on top.</a:t>
            </a:r>
          </a:p>
          <a:p/>
          <a:p>
            <a:r>
              <a:t>If you find fewer than three scenes, widen the date range before widening the cloud threshold.</a:t>
            </a:r>
          </a:p>
          <a:p>
            <a:r>
              <a:t>A clear scene from a slightly different week beats a cloudy one from the right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expectation that Session 2 is mostly hands on keyboard. Today was the concepts; next</a:t>
            </a:r>
          </a:p>
          <a:p>
            <a:r>
              <a:t>time we build.</a:t>
            </a:r>
          </a:p>
          <a:p/>
          <a:p>
            <a:r>
              <a:t>Also set the expectation for the AI block honestly: it is as much about where not to use a model</a:t>
            </a:r>
          </a:p>
          <a:p>
            <a:r>
              <a:t>as where to use one, and that block tends to generate the best discussion of the two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collecting one question per person, out loud or on a card. Those questions open Session</a:t>
            </a:r>
          </a:p>
          <a:p>
            <a:r>
              <a:t>2 and they are worth more than any opening slide you could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41.png"/><Relationship Id="rId7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tellite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475488" cy="475488"/>
          </a:xfrm>
          <a:prstGeom prst="rect">
            <a:avLst/>
          </a:prstGeom>
        </p:spPr>
      </p:pic>
      <p:pic>
        <p:nvPicPr>
          <p:cNvPr id="3" name="Picture 2" descr="layers_389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143000"/>
            <a:ext cx="475488" cy="475488"/>
          </a:xfrm>
          <a:prstGeom prst="rect">
            <a:avLst/>
          </a:prstGeom>
        </p:spPr>
      </p:pic>
      <p:pic>
        <p:nvPicPr>
          <p:cNvPr id="4" name="Picture 3" descr="lakehouse_3fc1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1143000"/>
            <a:ext cx="475488" cy="475488"/>
          </a:xfrm>
          <a:prstGeom prst="rect">
            <a:avLst/>
          </a:prstGeom>
        </p:spPr>
      </p:pic>
      <p:pic>
        <p:nvPicPr>
          <p:cNvPr id="5" name="Picture 4" descr="notebook_389f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656" y="1143000"/>
            <a:ext cx="475488" cy="475488"/>
          </a:xfrm>
          <a:prstGeom prst="rect">
            <a:avLst/>
          </a:prstGeom>
        </p:spPr>
      </p:pic>
      <p:pic>
        <p:nvPicPr>
          <p:cNvPr id="6" name="Picture 5" descr="chart_3fc1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1143000"/>
            <a:ext cx="475488" cy="475488"/>
          </a:xfrm>
          <a:prstGeom prst="rect">
            <a:avLst/>
          </a:prstGeom>
        </p:spPr>
      </p:pic>
      <p:pic>
        <p:nvPicPr>
          <p:cNvPr id="7" name="Picture 6" descr="forest_389ff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1143000"/>
            <a:ext cx="475488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148840"/>
            <a:ext cx="1463040" cy="6858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4400" b="1" i="0">
                <a:solidFill>
                  <a:srgbClr val="F1F5F3"/>
                </a:solidFill>
                <a:latin typeface="Segoe UI"/>
              </a:defRPr>
            </a:pPr>
            <a:r>
              <a:t>Automating forest classification</a:t>
            </a:r>
          </a:p>
          <a:p>
            <a:pPr algn="l">
              <a:lnSpc>
                <a:spcPct val="105000"/>
              </a:lnSpc>
              <a:defRPr sz="4400" b="1" i="0">
                <a:solidFill>
                  <a:srgbClr val="F1F5F3"/>
                </a:solidFill>
                <a:latin typeface="Segoe UI"/>
              </a:defRPr>
            </a:pPr>
            <a:r>
              <a:t>on Microsoft Fabric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22191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0" i="0">
                <a:solidFill>
                  <a:srgbClr val="3FC17E"/>
                </a:solidFill>
                <a:latin typeface="Segoe UI"/>
              </a:defRPr>
            </a:pPr>
            <a:r>
              <a:t>Session 1  ·  Environment and data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400" b="0" i="0">
                <a:solidFill>
                  <a:srgbClr val="9CAFA8"/>
                </a:solidFill>
                <a:latin typeface="Segoe UI"/>
              </a:defRPr>
            </a:pPr>
            <a:r>
              <a:t>JDI Woodlands  ·  Four hours  ·  From an empty workspace to a Delta table you could query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647C74"/>
                </a:solidFill>
                <a:latin typeface="Segoe UI"/>
              </a:defRPr>
            </a:pPr>
            <a:r>
              <a:t>Session 1 of 2  ·  Bring a laptop, a workspace, and one real question about your own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SESSION 1</a:t>
            </a:r>
          </a:p>
        </p:txBody>
      </p:sp>
      <p:pic>
        <p:nvPicPr>
          <p:cNvPr id="4" name="Picture 3" descr="target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What you leave with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Fabric workspace and a Lakehouse that you built, not one that was handed to you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Woodlands stand register landed as a Delta table, reprojected to the New Brunswick grid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decision rule for picking a tool chain that you can apply without asking anyone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working understanding of why bronze, silver and gold exist, rather than that they do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One homework task that puts your own operating area into the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6418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 i="0">
                <a:solidFill>
                  <a:srgbClr val="3FC17E"/>
                </a:solidFill>
                <a:latin typeface="Segoe UI"/>
              </a:defRPr>
            </a:pPr>
            <a:r>
              <a:t>If you leave with only one thing, make it the layer contracts. Everything else is tooling.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AGENDA</a:t>
            </a:r>
          </a:p>
        </p:txBody>
      </p:sp>
      <p:pic>
        <p:nvPicPr>
          <p:cNvPr id="4" name="Picture 3" descr="clock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Running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345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4712" y="1828800"/>
            <a:ext cx="832549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7371" y="1828800"/>
            <a:ext cx="774203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57984"/>
            <a:ext cx="10545775" cy="18288"/>
          </a:xfrm>
          <a:prstGeom prst="rect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167128"/>
            <a:ext cx="10765231" cy="37261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4712" y="2258568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Pre-flight, environment and access check, with a fallback for anyone blocked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7371" y="2258568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67761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0:20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94712" y="2667761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Owning an analytics product, what we are and are not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7371" y="2667761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985516"/>
            <a:ext cx="10765231" cy="37261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76956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0:40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4712" y="3076956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Your environment tool by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7371" y="3076956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86150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1:25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4712" y="3486150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Choosing a tool chain, three problem patterns and how to pick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7371" y="3486150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803904"/>
            <a:ext cx="10765231" cy="37261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95344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1:55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4712" y="3895344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Break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7371" y="3895344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304538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2:10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4712" y="4304538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Fabric and OneLake, workspaces, Lakehouse, shortcuts, SQL endpoint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57371" y="4304538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4622292"/>
            <a:ext cx="10765231" cy="37261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713732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2:50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4712" y="4713732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Hands-on, land a dataset, reproject it, write a Delta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7371" y="4713732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122926"/>
            <a:ext cx="1034592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3:40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4712" y="5122926"/>
            <a:ext cx="8325499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Wrap and homework brief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7371" y="5122926"/>
            <a:ext cx="774203" cy="3177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FC17E"/>
                </a:solidFill>
                <a:latin typeface="Segoe UI"/>
              </a:defRPr>
            </a:pPr>
            <a:r>
              <a:t>Two checkpoints, at 1:25 and 3:25. Nobody carries a broken environment past a checkpoint.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GROUND RULES</a:t>
            </a:r>
          </a:p>
        </p:txBody>
      </p:sp>
      <p:pic>
        <p:nvPicPr>
          <p:cNvPr id="4" name="Picture 3" descr="compass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3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How today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list_3fc1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3911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Checkpoints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Two of them. At each one you run a validation cell that prints PASS or FAIL per assertion. Green means carry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3562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otebook_3fc1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882" y="203911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97882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Solution notebooks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7882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Every exercise has a complete answer key. Using it at a checkpoint is the designed path, not giving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ople_3fc1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484" y="2039112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98484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Fallback tiers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8484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Shared workspace, then pairing, then read-only. Three ways to keep going, none of them a failure state.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ag_3fc1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261104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Ask 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Five minutes stuck is learning. Twenty is waste. Put it in the Teams channel and someone answers.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3562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target_3fc1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882" y="4261104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7882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One real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7882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Bring a question about your own data. The last block of Session 2 is where it connects.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4164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lock_3fc17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8484" y="4261104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98484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We run to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484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The hands-on blocks absorb overrun from everything before them, so the tour ends when the timer says.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ecklist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Pre-flight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Find broken environments while there is still time to fix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F59E0B"/>
                </a:solidFill>
                <a:latin typeface="Segoe UI"/>
              </a:defRPr>
            </a:pPr>
            <a:r>
              <a:t>0:00  ·  20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1</a:t>
            </a:r>
          </a:p>
        </p:txBody>
      </p:sp>
      <p:pic>
        <p:nvPicPr>
          <p:cNvPr id="4" name="Picture 3" descr="checklist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4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What the pre-flight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9CAFA8"/>
                </a:solidFill>
                <a:latin typeface="Segoe UI"/>
              </a:defRPr>
            </a:pPr>
            <a:r>
              <a:t>Standard library only, so it runs before any pip install has happened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3344570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1343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83464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Python and 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18688"/>
            <a:ext cx="2795930" cy="672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The session starts, and it starts in under a couple of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3562" y="2057400"/>
            <a:ext cx="3344570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kehouse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882" y="2313432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97882" y="283464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Lakehouse attached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7882" y="3218688"/>
            <a:ext cx="2795930" cy="672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lh_woodlands is the default. Nothing works without this.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4164" y="2057400"/>
            <a:ext cx="3344570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lta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484" y="2313432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98484" y="283464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Delta write and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8484" y="3218688"/>
            <a:ext cx="2795930" cy="672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real write and a real read, then a clean-up. Permissions are proved, not assumed.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65676"/>
            <a:ext cx="3344570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loud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52170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5042916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Outbound DNS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26964"/>
            <a:ext cx="2795930" cy="672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The Spark session can resolve planetarycomputer.microsoft.com.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3562" y="4265676"/>
            <a:ext cx="3344570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atellite_f59e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882" y="452170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97882" y="5042916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STAC API reachable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7882" y="5426964"/>
            <a:ext cx="2795930" cy="672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live call to the Sentinel-2 collection endpoint.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4164" y="4265676"/>
            <a:ext cx="3344570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rain_f59e0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8484" y="4521708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98484" y="5042916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Foundry endpoint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8484" y="5426964"/>
            <a:ext cx="2795930" cy="672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Expected to be missing today. Notebook 04 has an offline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1</a:t>
            </a:r>
          </a:p>
        </p:txBody>
      </p:sp>
      <p:pic>
        <p:nvPicPr>
          <p:cNvPr id="4" name="Picture 3" descr="warning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5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Triage: symptom, cause,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0297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F59E0B"/>
                </a:solidFill>
                <a:latin typeface="Segoe UI"/>
              </a:defRPr>
            </a:pPr>
            <a: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9900" y="1828800"/>
            <a:ext cx="3329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F59E0B"/>
                </a:solidFill>
                <a:latin typeface="Segoe UI"/>
              </a:defRPr>
            </a:pPr>
            <a:r>
              <a:t>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004" y="1828800"/>
            <a:ext cx="477457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F59E0B"/>
                </a:solidFill>
                <a:latin typeface="Segoe UI"/>
              </a:defRPr>
            </a:pPr>
            <a:r>
              <a:t>FIX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57984"/>
            <a:ext cx="10545775" cy="18288"/>
          </a:xfrm>
          <a:prstGeom prst="rect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167128"/>
            <a:ext cx="10765231" cy="623316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02978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No default lakehouse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9900" y="2258568"/>
            <a:ext cx="3329944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Notebook opened outside the Lakehouse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004" y="2258568"/>
            <a:ext cx="477457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Explorer pane, add lh_woodlands, set default, restart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18460"/>
            <a:ext cx="202978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Delta write denied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9900" y="2918460"/>
            <a:ext cx="3329944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Workspace on a Pro licence, or you have Viewer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004" y="2918460"/>
            <a:ext cx="477457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Move to the shared capacity workspace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486912"/>
            <a:ext cx="10765231" cy="623316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78352"/>
            <a:ext cx="202978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DNS resolution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9900" y="3578352"/>
            <a:ext cx="3329944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Tenant blocks outbound traffic from Spark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004" y="3578352"/>
            <a:ext cx="477457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Cached-scene fallback, staged in the shared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38244"/>
            <a:ext cx="202978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STAC ok, assets 403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9900" y="4238244"/>
            <a:ext cx="3329944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Signing step skipped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004" y="4238244"/>
            <a:ext cx="477457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Every href must pass through planetary_computer.sign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806696"/>
            <a:ext cx="10765231" cy="623316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98136"/>
            <a:ext cx="202978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Import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9900" y="4898136"/>
            <a:ext cx="3329944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Environment not attached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7004" y="4898136"/>
            <a:ext cx="477457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Run the pip cell, or attach env-woodlands-geo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58028"/>
            <a:ext cx="202978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Session start over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89900" y="5558028"/>
            <a:ext cx="3329944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Capacity cold or throttled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7004" y="5558028"/>
            <a:ext cx="4774570" cy="568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Tell a facilitator, do not retry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1</a:t>
            </a:r>
          </a:p>
        </p:txBody>
      </p:sp>
      <p:pic>
        <p:nvPicPr>
          <p:cNvPr id="4" name="Picture 3" descr="handoff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6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If you are still blocked, in this order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15184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596896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Shared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907791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ws-woodlands-shared, write access, every solution notebook already run. You work there and lose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7055" y="26334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F59E0B"/>
                </a:solidFill>
                <a:latin typeface="Segoe UI"/>
              </a:defRPr>
            </a:pPr>
            <a:r>
              <a:t>Tier 1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529584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Pair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840480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Two people, one keyboard, and the person who is blocked drives. This is the best of the three and nobody ever picks it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7055" y="3566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F59E0B"/>
                </a:solidFill>
                <a:latin typeface="Segoe UI"/>
              </a:defRPr>
            </a:pPr>
            <a:r>
              <a:t>Tier 2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59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4462271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Read-only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773168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Work locally against the committed sample outputs and rejoin at the next break.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7055" y="449884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F59E0B"/>
                </a:solidFill>
                <a:latin typeface="Segoe UI"/>
              </a:defRPr>
            </a:pPr>
            <a:r>
              <a:t>Tier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ople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Owning an analytics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What separates a pipeline someone maintains from a notebook someone once 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0:20  ·  20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2</a:t>
            </a:r>
          </a:p>
        </p:txBody>
      </p:sp>
      <p:pic>
        <p:nvPicPr>
          <p:cNvPr id="4" name="Picture 3" descr="people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7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A notebook that ran, and a product someone owns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90007" cy="324612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2048256"/>
            <a:ext cx="640080" cy="4572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12848"/>
            <a:ext cx="450479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3FC17E"/>
                </a:solidFill>
                <a:latin typeface="Segoe UI"/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88920"/>
            <a:ext cx="4504791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3FC17E"/>
                </a:solidFill>
                <a:latin typeface="Segoe UI"/>
              </a:rPr>
              <a:t>✓  </a:t>
            </a:r>
            <a:r>
              <a:rPr sz="1350">
                <a:solidFill>
                  <a:srgbClr val="F1F5F3"/>
                </a:solidFill>
                <a:latin typeface="Segoe UI"/>
              </a:rPr>
              <a:t>Has a named user making a named decision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3FC17E"/>
                </a:solidFill>
                <a:latin typeface="Segoe UI"/>
              </a:rPr>
              <a:t>✓  </a:t>
            </a:r>
            <a:r>
              <a:rPr sz="1350">
                <a:solidFill>
                  <a:srgbClr val="F1F5F3"/>
                </a:solidFill>
                <a:latin typeface="Segoe UI"/>
              </a:rPr>
              <a:t>Refreshes on a schedule nobody has to remember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3FC17E"/>
                </a:solidFill>
                <a:latin typeface="Segoe UI"/>
              </a:rPr>
              <a:t>✓  </a:t>
            </a:r>
            <a:r>
              <a:rPr sz="1350">
                <a:solidFill>
                  <a:srgbClr val="F1F5F3"/>
                </a:solidFill>
                <a:latin typeface="Segoe UI"/>
              </a:rPr>
              <a:t>Fails loudly, in a way that reaches a human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3FC17E"/>
                </a:solidFill>
                <a:latin typeface="Segoe UI"/>
              </a:rPr>
              <a:t>✓  </a:t>
            </a:r>
            <a:r>
              <a:rPr sz="1350">
                <a:solidFill>
                  <a:srgbClr val="F1F5F3"/>
                </a:solidFill>
                <a:latin typeface="Segoe UI"/>
              </a:rPr>
              <a:t>Every number traces back to a source without a re-run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3FC17E"/>
                </a:solidFill>
                <a:latin typeface="Segoe UI"/>
              </a:rPr>
              <a:t>✓  </a:t>
            </a:r>
            <a:r>
              <a:rPr sz="1350">
                <a:solidFill>
                  <a:srgbClr val="F1F5F3"/>
                </a:solidFill>
                <a:latin typeface="Segoe UI"/>
              </a:rPr>
              <a:t>A second person has changed it without asking the author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090007" cy="324612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71335" y="2048256"/>
            <a:ext cx="640080" cy="45720"/>
          </a:xfrm>
          <a:prstGeom prst="rect">
            <a:avLst/>
          </a:prstGeom>
          <a:solidFill>
            <a:srgbClr val="C7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2212848"/>
            <a:ext cx="450479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C77A2B"/>
                </a:solidFill>
                <a:latin typeface="Segoe UI"/>
              </a:defRPr>
            </a:pPr>
            <a:r>
              <a:t>Notebook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1335" y="2788920"/>
            <a:ext cx="4504791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350" b="1">
                <a:solidFill>
                  <a:srgbClr val="C77A2B"/>
                </a:solidFill>
                <a:latin typeface="Segoe UI"/>
              </a:rPr>
              <a:t>✗  </a:t>
            </a:r>
            <a:r>
              <a:rPr sz="1350">
                <a:solidFill>
                  <a:srgbClr val="F1F5F3"/>
                </a:solidFill>
                <a:latin typeface="Segoe UI"/>
              </a:rPr>
              <a:t>Has an author, and the author is the interface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C77A2B"/>
                </a:solidFill>
                <a:latin typeface="Segoe UI"/>
              </a:rPr>
              <a:t>✗  </a:t>
            </a:r>
            <a:r>
              <a:rPr sz="1350">
                <a:solidFill>
                  <a:srgbClr val="F1F5F3"/>
                </a:solidFill>
                <a:latin typeface="Segoe UI"/>
              </a:rPr>
              <a:t>Refreshes when someone remembers to open it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C77A2B"/>
                </a:solidFill>
                <a:latin typeface="Segoe UI"/>
              </a:rPr>
              <a:t>✗  </a:t>
            </a:r>
            <a:r>
              <a:rPr sz="1350">
                <a:solidFill>
                  <a:srgbClr val="F1F5F3"/>
                </a:solidFill>
                <a:latin typeface="Segoe UI"/>
              </a:rPr>
              <a:t>Fails silently, or produces a plausible wrong answer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C77A2B"/>
                </a:solidFill>
                <a:latin typeface="Segoe UI"/>
              </a:rPr>
              <a:t>✗  </a:t>
            </a:r>
            <a:r>
              <a:rPr sz="1350">
                <a:solidFill>
                  <a:srgbClr val="F1F5F3"/>
                </a:solidFill>
                <a:latin typeface="Segoe UI"/>
              </a:rPr>
              <a:t>Numbers are reproducible only by re-running everything</a:t>
            </a:r>
          </a:p>
          <a:p>
            <a:pPr>
              <a:lnSpc>
                <a:spcPct val="115000"/>
              </a:lnSpc>
              <a:spcBef>
                <a:spcPts val="1300"/>
              </a:spcBef>
            </a:pPr>
            <a:r>
              <a:rPr sz="1350" b="1">
                <a:solidFill>
                  <a:srgbClr val="C77A2B"/>
                </a:solidFill>
                <a:latin typeface="Segoe UI"/>
              </a:rPr>
              <a:t>✗  </a:t>
            </a:r>
            <a:r>
              <a:rPr sz="1350">
                <a:solidFill>
                  <a:srgbClr val="F1F5F3"/>
                </a:solidFill>
                <a:latin typeface="Segoe UI"/>
              </a:rPr>
              <a:t>Exactly one person can safely change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623560"/>
            <a:ext cx="10543032" cy="713232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815584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F59E0B"/>
                </a:solidFill>
                <a:latin typeface="Segoe UI"/>
              </a:defRPr>
            </a:pPr>
            <a:r>
              <a:t>An analytics product with exactly one person who can run it is a risk with a dashboard attached.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2</a:t>
            </a:r>
          </a:p>
        </p:txBody>
      </p:sp>
      <p:pic>
        <p:nvPicPr>
          <p:cNvPr id="4" name="Picture 3" descr="target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8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Before you write a line of code, answer these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ople_3fc1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3911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Who is the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Woodlands planner deciding where to send a crew next season. Not a data scientist, and not a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3562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rget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882" y="203911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97882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What decision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7882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Which stands get visited, and in what order. If no decision changes, you are building a screensaver.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lendar_3fc1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484" y="2039112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98484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How often it refreshes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8484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Monthly. That single answer determines the imagery cadence, the compute cost and the whole architecture.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3fc1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261104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What done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number on a map, with a date attached, that a forester will act on without ringing you first.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3562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warning_3fc1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882" y="4261104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7882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What it must never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7882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Make a silvicultural decision on its own, or produce a number nobody can trace.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4164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_3fc1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484" y="4261104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98484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Who defends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484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Whoever is in the room when a regulator asks. Design for that conversation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C7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2</a:t>
            </a:r>
          </a:p>
        </p:txBody>
      </p:sp>
      <p:pic>
        <p:nvPicPr>
          <p:cNvPr id="4" name="Picture 3" descr="warning_c77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9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What we are not building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C77A2B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research-grade classifier. Published accuracy figures need labelled ground truth we do not have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C77A2B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replacement for field cruising. This narrows where a crew goes; it does not tell you what is there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C77A2B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Anything that detects change below a 20 metre pixel, so selective thinning stays invisible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C77A2B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system that makes a decision. Every output lands in front of a person who decides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C77A2B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permanent answer. Thresholds get argued with, and the argument is the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6418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 i="0">
                <a:solidFill>
                  <a:srgbClr val="C77A2B"/>
                </a:solidFill>
                <a:latin typeface="Segoe UI"/>
              </a:defRPr>
            </a:pPr>
            <a:r>
              <a:t>Being explicit about the limits is what makes the claims that remain defensible.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2</a:t>
            </a:r>
          </a:p>
        </p:txBody>
      </p:sp>
      <p:pic>
        <p:nvPicPr>
          <p:cNvPr id="4" name="Picture 3" descr="layers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10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The three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00784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C0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wnload_c084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75104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1938528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C0844A"/>
                </a:solidFill>
                <a:latin typeface="Segoe UI"/>
              </a:defRPr>
            </a:pPr>
            <a: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0428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647C74"/>
                </a:solidFill>
                <a:latin typeface="Segoe UI"/>
              </a:defRPr>
            </a:pPr>
            <a:r>
              <a:t>fidelity to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66751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C0844A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Fidelity to what arrived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C0844A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Append only, never overwritten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C0844A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No reprojection, no masking, no renaming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C0844A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Stores unsigned URLs, never a credential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27832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B6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lter_b6c2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3502152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46557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B6C2C9"/>
                </a:solidFill>
                <a:latin typeface="Segoe UI"/>
              </a:defRPr>
            </a:pPr>
            <a: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3133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647C74"/>
                </a:solidFill>
                <a:latin typeface="Segoe UI"/>
              </a:defRPr>
            </a:pPr>
            <a:r>
              <a:t>comparability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447288"/>
            <a:ext cx="66751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B6C2C9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Comparability across scenes and dates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B6C2C9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Cloud masked, reflectance scaled, reprojected once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B6C2C9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Indices computed, pixel accounting carried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B6C2C9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No business rules and no thresholds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54880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rget_e3b3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029200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499262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E3B341"/>
                </a:solidFill>
                <a:latin typeface="Segoe UI"/>
              </a:defRPr>
            </a:pPr>
            <a:r>
              <a:t>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35838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647C74"/>
                </a:solidFill>
                <a:latin typeface="Segoe UI"/>
              </a:defRPr>
            </a:pPr>
            <a:r>
              <a:t>meaning for a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74336"/>
            <a:ext cx="667512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150" b="1">
                <a:solidFill>
                  <a:srgbClr val="E3B341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Meaning for a named decision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E3B341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Classification, change detection, narrative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E3B341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Every number traces to a silver row</a:t>
            </a:r>
          </a:p>
          <a:p>
            <a:pPr>
              <a:lnSpc>
                <a:spcPct val="115000"/>
              </a:lnSpc>
              <a:spcBef>
                <a:spcPts val="500"/>
              </a:spcBef>
            </a:pPr>
            <a:r>
              <a:rPr sz="1150" b="1">
                <a:solidFill>
                  <a:srgbClr val="E3B341"/>
                </a:solidFill>
                <a:latin typeface="Segoe UI"/>
              </a:rPr>
              <a:t>·  </a:t>
            </a:r>
            <a:r>
              <a:rPr sz="1150">
                <a:solidFill>
                  <a:srgbClr val="9CAFA8"/>
                </a:solidFill>
                <a:latin typeface="Segoe UI"/>
              </a:rPr>
              <a:t>Star schema, ready for Direct Lake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99632"/>
            <a:ext cx="8595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3FC17E"/>
                </a:solidFill>
                <a:latin typeface="Segoe UI"/>
              </a:defRPr>
            </a:pPr>
            <a:r>
              <a:t>The test: if a number is questioned, you can walk it back to a bronze row without re-running anything.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ar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Your environment, tool by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Five tools, one live action each. Nobody watches a slide about a product they have not touched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389FF7"/>
                </a:solidFill>
                <a:latin typeface="Segoe UI"/>
              </a:defRPr>
            </a:pPr>
            <a:r>
              <a:t>0:40  ·  45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3</a:t>
            </a:r>
          </a:p>
        </p:txBody>
      </p:sp>
      <p:pic>
        <p:nvPicPr>
          <p:cNvPr id="4" name="Picture 3" descr="gear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11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Five tools, five live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27330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89FF7"/>
                </a:solidFill>
                <a:latin typeface="Segoe UI"/>
              </a:defRPr>
            </a:pPr>
            <a: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3422" y="1828800"/>
            <a:ext cx="106807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89FF7"/>
                </a:solidFill>
                <a:latin typeface="Segoe UI"/>
              </a:defRPr>
            </a:pPr>
            <a: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8654" y="1828800"/>
            <a:ext cx="6792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89FF7"/>
                </a:solidFill>
                <a:latin typeface="Segoe UI"/>
              </a:defRPr>
            </a:pPr>
            <a:r>
              <a:t>WHAT YOU DO, RIGHT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57984"/>
            <a:ext cx="10545775" cy="18288"/>
          </a:xfrm>
          <a:prstGeom prst="rect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167128"/>
            <a:ext cx="10765231" cy="618134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273302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Microsoft 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3422" y="2258568"/>
            <a:ext cx="1068071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8654" y="2258568"/>
            <a:ext cx="6792920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Create a workspace, create lh_woodlands, look at Files and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13278"/>
            <a:ext cx="2273302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3422" y="2913278"/>
            <a:ext cx="1068071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8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8654" y="2913278"/>
            <a:ext cx="6792920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Open the SQL analytics endpoint, run one SELECT, see the same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476548"/>
            <a:ext cx="10765231" cy="618134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7988"/>
            <a:ext cx="2273302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Planetary Computer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3422" y="3567988"/>
            <a:ext cx="1068071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8654" y="3567988"/>
            <a:ext cx="6792920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Search Sentinel-2 for your area, read one STAC item properly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22699"/>
            <a:ext cx="2273302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GitHub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3422" y="4222699"/>
            <a:ext cx="1068071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10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8654" y="4222699"/>
            <a:ext cx="6792920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Ask for a reprojection snippet, then find the mistake in the answer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785969"/>
            <a:ext cx="10765231" cy="618134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77409"/>
            <a:ext cx="2273302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F1F5F3"/>
                </a:solidFill>
                <a:latin typeface="Segoe UI"/>
              </a:defRPr>
            </a:pPr>
            <a:r>
              <a:t>Microsoft Foundry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3422" y="4877409"/>
            <a:ext cx="1068071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8654" y="4877409"/>
            <a:ext cx="6792920" cy="5632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Open a project, find a deployed model, note the endpoint and 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89FF7"/>
                </a:solidFill>
                <a:latin typeface="Segoe UI"/>
              </a:defRPr>
            </a:pPr>
            <a:r>
              <a:t>The Copilot segment is deliberately adversarial. You are looking for the bug, not the answer.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3  ·  TOOL 1</a:t>
            </a:r>
          </a:p>
        </p:txBody>
      </p:sp>
      <p:pic>
        <p:nvPicPr>
          <p:cNvPr id="4" name="Picture 3" descr="lakehouse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12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Microsoft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One SaaS surface over one storage account, so Spark, T-SQL and Power BI read the same bytes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The workspace is the unit of access, capacity and lifecycle. Arguments about permissions are arguments about workspaces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Capacity is what you are billed for, and throttling is a capacity event, not a workspace one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Items live in a workspace: Lakehouse, Notebook, Pipeline, Semantic model, Report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Your action: create ws-woodlands-yourname, create lh_woodlands, and open both Files and Tables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3  ·  TOOL 2</a:t>
            </a:r>
          </a:p>
        </p:txBody>
      </p:sp>
      <p:pic>
        <p:nvPicPr>
          <p:cNvPr id="4" name="Picture 3" descr="chart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13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Power BI and the SQL analytics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Every Lakehouse ships with a read-only T-SQL endpoint over the same Delta files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No copy, no load step, no second refresh schedule. A different engine on identical bytes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This is the fastest way to sanity check a table you just wrote from a notebook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Metadata sync is asynchronous, so a table can take a minute or two to appear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Your action: open the endpoint, run one SELECT against a table, and notice you loaded nothing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6418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 i="0">
                <a:solidFill>
                  <a:srgbClr val="389FF7"/>
                </a:solidFill>
                <a:latin typeface="Segoe UI"/>
              </a:defRPr>
            </a:pPr>
            <a:r>
              <a:t>Mention the sync lag now. It looks like a bug at 3:10 and costs ten minutes of debugging.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3  ·  TOOL 3</a:t>
            </a:r>
          </a:p>
        </p:txBody>
      </p:sp>
      <p:pic>
        <p:nvPicPr>
          <p:cNvPr id="4" name="Picture 3" descr="satellite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14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Planetary Computer and STAC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 catalogue of open Earth observation data, with Sentinel-2 Level 2A as our source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STAC is the query standard: Catalog, then Collection, then Item, then Asset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You search by geometry, date and property, and get back links to Cloud Optimized GeoTIFFs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Assets need signing, and the signature expires, so you sign at the point of use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Your action: open the Explorer, draw a box on your area, and read one item's properties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3  ·  TOOL 4</a:t>
            </a:r>
          </a:p>
        </p:txBody>
      </p:sp>
      <p:pic>
        <p:nvPicPr>
          <p:cNvPr id="4" name="Picture 3" descr="copilot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15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GitHub Copilot, used adversarially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It writes most of the code in Session 2, and that is a good outcome, not a compromise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It optimises for a plausible answer to the question you asked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Geospatial work is full of questions people ask imprecisely, which is where it goes wrong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The skill being taught is reading the answer, not generating it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Your action: ask it to reproject a GeoDataFrame to New Brunswick coordinates, then find the 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6418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 i="0">
                <a:solidFill>
                  <a:srgbClr val="389FF7"/>
                </a:solidFill>
                <a:latin typeface="Segoe UI"/>
              </a:defRPr>
            </a:pPr>
            <a:r>
              <a:t>Run the same prompt twice. The two answers differ, and that difference is the lesson.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3  ·  TOOL 4</a:t>
            </a:r>
          </a:p>
        </p:txBody>
      </p:sp>
      <p:pic>
        <p:nvPicPr>
          <p:cNvPr id="4" name="Picture 3" descr="copilot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16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The same task, two 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43032" cy="2698623"/>
          </a:xfrm>
          <a:prstGeom prst="roundRect">
            <a:avLst>
              <a:gd name="adj" fmla="val 6000"/>
            </a:avLst>
          </a:prstGeom>
          <a:solidFill>
            <a:srgbClr val="0A1210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75104"/>
            <a:ext cx="9966960" cy="2314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# Prompt A: "reproject this GeoDataFrame to New Brunswick coordinates"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gdf = gdf.to_crs("EPSG:2953")          # raises if gdf.crs is None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gdf["area"] = gdf.geometry.area        # what unit? nobody said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# Prompt B: "the frame is in WGS84 but has no CRS set. Declare it, reproject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#            to EPSG:2953, then compute area in hectares."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gdf = gdf.set_crs(4326)                # declare what it already is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gdf = gdf.to_crs(2953)                 # then transform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gdf["area_ha"] = gdf.geometry.area / 10_000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37735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350" b="0" i="0">
                <a:solidFill>
                  <a:srgbClr val="9CAFA8"/>
                </a:solidFill>
                <a:latin typeface="Segoe UI"/>
              </a:defRPr>
            </a:pPr>
            <a:r>
              <a:t>Same model, same session, thirty seconds apart. The difference is the constraints in the prompt, not the intelligence of the tool.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89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3  ·  TOOL 5</a:t>
            </a:r>
          </a:p>
        </p:txBody>
      </p:sp>
      <p:pic>
        <p:nvPicPr>
          <p:cNvPr id="4" name="Picture 3" descr="brain_389f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17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Microsoft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Where the language model lives, as a named, versioned deployment behind an endpoint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In this pipeline it does exactly one job: turning numbers into a sentence a planner reads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It never classifies, never calculates, and never decides. Session 2 shows why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The deployment name is recorded alongside every generated sentence, so wording changes are explainable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89FF7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Your action: find the project, find a deployment, and write down its name and 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6418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 i="0">
                <a:solidFill>
                  <a:srgbClr val="389FF7"/>
                </a:solidFill>
                <a:latin typeface="Segoe UI"/>
              </a:defRPr>
            </a:pPr>
            <a:r>
              <a:t>No Foundry access today? Everything still runs. Notebook 04 has an offline path that produces the same table.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ass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Choosing a tool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Three problem patterns, and the honest criteria for picking between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1:25  ·  30 min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4</a:t>
            </a:r>
          </a:p>
        </p:txBody>
      </p:sp>
      <p:pic>
        <p:nvPicPr>
          <p:cNvPr id="4" name="Picture 3" descr="compass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18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Ask three questions, and stop at the first clear answer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15184"/>
            <a:ext cx="402336" cy="402336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596896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Is the data tabular with a known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907791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If yes, take the lowest-code option that handles it. You will maintain whatever you choose.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7055" y="26334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3FC17E"/>
                </a:solidFill>
                <a:latin typeface="Segoe UI"/>
              </a:defRPr>
            </a:pPr>
            <a:r>
              <a:t>Question 1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529584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Does it need per-file, per-scene or per-geometry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840480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If yes, you need code, which means a Spark notebook. Nothing else can open the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7055" y="3566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3FC17E"/>
                </a:solidFill>
                <a:latin typeface="Segoe UI"/>
              </a:defRPr>
            </a:pPr>
            <a:r>
              <a:t>Question 2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59"/>
            <a:ext cx="402336" cy="402336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4462271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Does it need judgement over unstructured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773168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If yes, and only if yes, a language model belongs in the chain.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7055" y="449884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3FC17E"/>
                </a:solidFill>
                <a:latin typeface="Segoe UI"/>
              </a:defRPr>
            </a:pPr>
            <a:r>
              <a:t>Question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4</a:t>
            </a:r>
          </a:p>
        </p:txBody>
      </p:sp>
      <p:pic>
        <p:nvPicPr>
          <p:cNvPr id="4" name="Picture 3" descr="filter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19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Three patterns and their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87591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6038" y="1828800"/>
            <a:ext cx="36291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REACH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2386" y="1828800"/>
            <a:ext cx="36291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DO NOT REACH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57984"/>
            <a:ext cx="10545775" cy="18288"/>
          </a:xfrm>
          <a:prstGeom prst="rect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167128"/>
            <a:ext cx="10765231" cy="74980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87591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Tabular, known schema,</a:t>
            </a:r>
          </a:p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scheduled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6038" y="2258568"/>
            <a:ext cx="36291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Dataflow Gen2 to land it,</a:t>
            </a:r>
          </a:p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T-SQL to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2386" y="2258568"/>
            <a:ext cx="36291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Spark notebook, because</a:t>
            </a:r>
          </a:p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you own it forever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44951"/>
            <a:ext cx="287591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Raster or vector geospatial,</a:t>
            </a:r>
          </a:p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per-scene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6038" y="3044951"/>
            <a:ext cx="36291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Spark notebook with GeoPandas,</a:t>
            </a:r>
          </a:p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rioxarray and rasterio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2386" y="3044951"/>
            <a:ext cx="36291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Dataflows, which have</a:t>
            </a:r>
          </a:p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no raster story at 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739896"/>
            <a:ext cx="10765231" cy="74980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31335"/>
            <a:ext cx="287591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Unstructured text or images,</a:t>
            </a:r>
          </a:p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judgement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6038" y="3831335"/>
            <a:ext cx="36291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Foundry model behind a</a:t>
            </a:r>
          </a:p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notebook or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2386" y="3831335"/>
            <a:ext cx="362918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trained classifier you must</a:t>
            </a:r>
          </a:p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label data for this quarter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FC17E"/>
                </a:solidFill>
                <a:latin typeface="Segoe UI"/>
              </a:defRPr>
            </a:pPr>
            <a:r>
              <a:t>There is a fourth option that wins more often than any of these: no new tool, because a lookup already answers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4</a:t>
            </a:r>
          </a:p>
        </p:txBody>
      </p:sp>
      <p:pic>
        <p:nvPicPr>
          <p:cNvPr id="4" name="Picture 3" descr="lightbulb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20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Exercise: pick a chain and defend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9CAFA8"/>
                </a:solidFill>
                <a:latin typeface="Segoe UI"/>
              </a:defRPr>
            </a:pPr>
            <a:r>
              <a:t>Two minutes at your table, one minute to defend. One of these is a trap.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5144871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ble_3fc1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1343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834640"/>
            <a:ext cx="4596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Card 1  ·  Scaling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18688"/>
            <a:ext cx="4596231" cy="672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40,000 rows a month from the scaling contractor. Same columns every month. Join to the block register, refresh by the third.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2057400"/>
            <a:ext cx="5144871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tellite_3fc1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183" y="2313432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8183" y="2834640"/>
            <a:ext cx="4596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Card 2  ·  Canopy closure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183" y="3218688"/>
            <a:ext cx="4596231" cy="672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Which planted stands from the last five years show lower than expected canopy closure, from imagery, quarterly, full licence area.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65676"/>
            <a:ext cx="5144871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otebook_3fc1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521708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5042916"/>
            <a:ext cx="4596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Card 3  ·  Field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26964"/>
            <a:ext cx="4596231" cy="672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12,000 free-text field notes. Each mentions a block id somewhere. Link them to the register so a supervisor can browse by block.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863" y="4265676"/>
            <a:ext cx="5144871" cy="1952243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pilot_3fc1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183" y="452170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98183" y="5042916"/>
            <a:ext cx="4596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Card 4  ·  Tooltip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3" y="5426964"/>
            <a:ext cx="4596231" cy="672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two-sentence plain-language condition summary per stand, from the twelve numeric columns the pipeline already produces.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ghtbulb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40080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2834640"/>
            <a:ext cx="1280160" cy="6858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27248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F1F5F3"/>
                </a:solidFill>
                <a:latin typeface="Segoe UI"/>
              </a:defRPr>
            </a:pPr>
            <a:r>
              <a:t>“I reach for a notebook when the data will not open any other way.</a:t>
            </a:r>
          </a:p>
          <a:p>
            <a:pPr algn="l">
              <a:lnSpc>
                <a:spcPct val="120000"/>
              </a:lnSpc>
              <a:defRPr sz="2600" b="1" i="0">
                <a:solidFill>
                  <a:srgbClr val="F1F5F3"/>
                </a:solidFill>
                <a:latin typeface="Segoe UI"/>
              </a:defRPr>
            </a:pPr>
            <a:r>
              <a:t>I reach for a model when the output is language and the numbers</a:t>
            </a:r>
          </a:p>
          <a:p>
            <a:pPr algn="l">
              <a:lnSpc>
                <a:spcPct val="120000"/>
              </a:lnSpc>
              <a:defRPr sz="2600" b="1" i="0">
                <a:solidFill>
                  <a:srgbClr val="F1F5F3"/>
                </a:solidFill>
                <a:latin typeface="Segoe UI"/>
              </a:defRPr>
            </a:pPr>
            <a:r>
              <a:t>come from somewhere I already trust. Otherwise I reach for the</a:t>
            </a:r>
          </a:p>
          <a:p>
            <a:pPr algn="l">
              <a:lnSpc>
                <a:spcPct val="120000"/>
              </a:lnSpc>
              <a:defRPr sz="2600" b="1" i="0">
                <a:solidFill>
                  <a:srgbClr val="F1F5F3"/>
                </a:solidFill>
                <a:latin typeface="Segoe UI"/>
              </a:defRPr>
            </a:pPr>
            <a:r>
              <a:t>lowest-code option a colleague can maintain without me.”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9CAFA8"/>
                </a:solidFill>
                <a:latin typeface="Segoe UI"/>
              </a:defRPr>
            </a:pPr>
            <a:r>
              <a:t>Write your own version of this before the break, and keep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21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ck_b6c2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B6C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Fifteen minutes. Facilitators are unblocking the pre-flight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B6C2C9"/>
                </a:solidFill>
                <a:latin typeface="Segoe UI"/>
              </a:defRPr>
            </a:pPr>
            <a:r>
              <a:t>1:55  ·  15 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kehouse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Fabric and OneLake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Workspaces, Lakehouse, shortcuts, and the SQL analytics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2:10  ·  40 min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6</a:t>
            </a:r>
          </a:p>
        </p:txBody>
      </p:sp>
      <p:pic>
        <p:nvPicPr>
          <p:cNvPr id="4" name="Picture 3" descr="lakehouse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22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OneLake in one picture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25922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3FC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kehouse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404872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" y="2953512"/>
            <a:ext cx="274716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One storage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55848"/>
            <a:ext cx="274716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One data lake for the whole tenant. Every workspace has a folder in it.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37050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6234" y="2148840"/>
            <a:ext cx="325922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389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rtcut_389f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266" y="2404872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22266" y="2953512"/>
            <a:ext cx="274716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89FF7"/>
                </a:solidFill>
                <a:latin typeface="Segoe UI"/>
              </a:defRPr>
            </a:pPr>
            <a:r>
              <a:t>Referenced, not copied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2266" y="3355848"/>
            <a:ext cx="274716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A shortcut points at data anywhere, with no copy and no second refresh.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80324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9508" y="2148840"/>
            <a:ext cx="325922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ble_e3b3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540" y="2404872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5540" y="2953512"/>
            <a:ext cx="274716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E3B341"/>
                </a:solidFill>
                <a:latin typeface="Segoe UI"/>
              </a:defRPr>
            </a:pPr>
            <a:r>
              <a:t>Many engines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540" y="3355848"/>
            <a:ext cx="274716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Spark, T-SQL and Power BI read the same Delta files with no load step.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486400"/>
            <a:ext cx="10543032" cy="749808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678424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3FC17E"/>
                </a:solidFill>
                <a:latin typeface="Segoe UI"/>
              </a:defRPr>
            </a:pPr>
            <a:r>
              <a:t>Most of the copying in a typical estate exists to move data between engines. This removes the reason for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6</a:t>
            </a:r>
          </a:p>
        </p:txBody>
      </p:sp>
      <p:pic>
        <p:nvPicPr>
          <p:cNvPr id="4" name="Picture 3" descr="lakehouse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23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Anatomy of a Lakehouse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wnload_3fc1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39112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Files/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Anything at all. GeoTIFFs, JSON, a zip somebody sent you. Bronze rasters live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3562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ble_3fc1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882" y="203911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97882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Tables/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7882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Delta only. A table is a folder of Parquet plus a transaction log, which is where atomicity and time travel come from.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783080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ortcut_3fc1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484" y="2039112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98484" y="2560320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Shortcuts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8484" y="2944368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 reference to data elsewhere, in another workspace or another cloud. Permissions follow the source, not the shortcut.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de_3fc1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261104"/>
            <a:ext cx="384048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SQL analytics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Read-only T-SQL over the same files. No storage, no load, no separate model to keep in sync.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3562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lta_3fc1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882" y="4261104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7882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Time travel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7882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The transaction log lets you read the table as it was. This is what makes bronze auditable.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4164" y="4005072"/>
            <a:ext cx="3344570" cy="196596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gear_3fc17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8484" y="4261104"/>
            <a:ext cx="384048" cy="3840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98484" y="4782312"/>
            <a:ext cx="279593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Schemas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8484" y="5166359"/>
            <a:ext cx="279593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Optional grouping inside Tables. Worth turning on if your tenant offers it, awkward to add later.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6</a:t>
            </a:r>
          </a:p>
        </p:txBody>
      </p:sp>
      <p:pic>
        <p:nvPicPr>
          <p:cNvPr id="4" name="Picture 3" descr="shortcut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24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Live demo: shortcut, then query through T-SQL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43032" cy="3470148"/>
          </a:xfrm>
          <a:prstGeom prst="roundRect">
            <a:avLst>
              <a:gd name="adj" fmla="val 6000"/>
            </a:avLst>
          </a:prstGeom>
          <a:solidFill>
            <a:srgbClr val="0A1210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75104"/>
            <a:ext cx="9966960" cy="308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-- 1.  Create a shortcut from lh_woodlands to the shared reference Lakehouse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--     Tables  &gt;  New shortcut  &gt;  OneLake  &gt;  lh_reference  &gt;  stand_register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--     No copy. No refresh schedule. Nothing moves.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-- 2.  Then, in the SQL analytics endpoint, with no load step at all: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SELECT  species_group,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        COUNT(*)                 AS stands,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        ROUND(SUM(area_ha), 1)   AS total_ha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FROM    stand_register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GROUP BY species_group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ORDER BY total_ha DESC;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092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350" b="0" i="0">
                <a:solidFill>
                  <a:srgbClr val="9CAFA8"/>
                </a:solidFill>
                <a:latin typeface="Segoe UI"/>
              </a:defRPr>
            </a:pPr>
            <a:r>
              <a:t>The same bytes, written by Spark, referenced by a shortcut, read by T-SQL. This is usually the moment the OneLake idea lands.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6</a:t>
            </a:r>
          </a:p>
        </p:txBody>
      </p:sp>
      <p:pic>
        <p:nvPicPr>
          <p:cNvPr id="4" name="Picture 3" descr="layers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25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Where each layer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11168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1801" y="1828800"/>
            <a:ext cx="31930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2046" y="1828800"/>
            <a:ext cx="180548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WRITE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4689" y="1828800"/>
            <a:ext cx="388688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FC17E"/>
                </a:solidFill>
                <a:latin typeface="Segoe UI"/>
              </a:defRPr>
            </a:pPr>
            <a: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57984"/>
            <a:ext cx="10545775" cy="18288"/>
          </a:xfrm>
          <a:prstGeom prst="rect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67128"/>
            <a:ext cx="10765231" cy="74980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1111681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1801" y="2258568"/>
            <a:ext cx="31930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Files/bronze/ and Tables/bronze_*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2046" y="2258568"/>
            <a:ext cx="180548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Append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4689" y="2258568"/>
            <a:ext cx="388688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Overwriting destroys the ability to explain last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44951"/>
            <a:ext cx="1111681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Silver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1801" y="3044951"/>
            <a:ext cx="31930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Tables/silver_*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2046" y="3044951"/>
            <a:ext cx="180548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Merge on grain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4689" y="3044951"/>
            <a:ext cx="388688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Re-running a period must replace it, not duplicate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739896"/>
            <a:ext cx="10765231" cy="74980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31335"/>
            <a:ext cx="1111681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1801" y="3831335"/>
            <a:ext cx="31930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Tables/gold_*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2046" y="3831335"/>
            <a:ext cx="180548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Overwrite per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4689" y="3831335"/>
            <a:ext cx="388688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Derived and cheap to rebuild from 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1111681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F1F5F3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1801" y="4617720"/>
            <a:ext cx="319308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Tables/gold_dim_* and gold_stand_facts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2046" y="4617720"/>
            <a:ext cx="180548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Overwrite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4689" y="4617720"/>
            <a:ext cx="388688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9CAFA8"/>
                </a:solidFill>
                <a:latin typeface="Segoe UI"/>
              </a:defRPr>
            </a:pPr>
            <a:r>
              <a:t>Star schema, shaped for Direct Lake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3FC17E"/>
                </a:solidFill>
                <a:latin typeface="Segoe UI"/>
              </a:defRPr>
            </a:pPr>
            <a:r>
              <a:t>Bronze append-only is the line that pays for itself. A failed run costs time and nothing else.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otebook_e3b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Land a Woodlands dataset, reproject it, write a Delta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E3B341"/>
                </a:solidFill>
                <a:latin typeface="Segoe UI"/>
              </a:defRPr>
            </a:pPr>
            <a:r>
              <a:t>2:50  ·  50 min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7</a:t>
            </a:r>
          </a:p>
        </p:txBody>
      </p:sp>
      <p:pic>
        <p:nvPicPr>
          <p:cNvPr id="4" name="Picture 3" descr="notebook_e3b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26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What you are about to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25922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C0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ss_c084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04872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" y="2953512"/>
            <a:ext cx="274716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C0844A"/>
                </a:solidFill>
                <a:latin typeface="Segoe UI"/>
              </a:defRPr>
            </a:pPr>
            <a:r>
              <a:t>Declare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55848"/>
            <a:ext cx="274716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Validate the bounding box, then build a stand register in WGS84 degrees.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37050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6234" y="2148840"/>
            <a:ext cx="325922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B6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lobe_b6c2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266" y="2404872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22266" y="2953512"/>
            <a:ext cx="274716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B6C2C9"/>
                </a:solidFill>
                <a:latin typeface="Segoe UI"/>
              </a:defRPr>
            </a:pPr>
            <a:r>
              <a:t>Reproject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2266" y="3355848"/>
            <a:ext cx="274716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Move to EPSG:2953, the New Brunswick grid, and compute area in hectares.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80324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9508" y="2148840"/>
            <a:ext cx="325922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lta_e3b3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540" y="2404872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5540" y="2953512"/>
            <a:ext cx="274716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E3B341"/>
                </a:solidFill>
                <a:latin typeface="Segoe UI"/>
              </a:defRPr>
            </a:pPr>
            <a:r>
              <a:t>Persist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540" y="3355848"/>
            <a:ext cx="274716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Geometry as WKB with an srid column, written to Delta and read straight 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486400"/>
            <a:ext cx="10543032" cy="749808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678424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E3B341"/>
                </a:solidFill>
                <a:latin typeface="Segoe UI"/>
              </a:defRPr>
            </a:pPr>
            <a:r>
              <a:t>Fifty minutes. The validation cells tell you where you are, so you never have to guess.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7</a:t>
            </a:r>
          </a:p>
        </p:txBody>
      </p:sp>
      <p:pic>
        <p:nvPicPr>
          <p:cNvPr id="4" name="Picture 3" descr="warning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27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The three traps, in the order they appear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0297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F59E0B"/>
                </a:solidFill>
                <a:latin typeface="Segoe UI"/>
              </a:defRPr>
            </a:pPr>
            <a:r>
              <a:t>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9900" y="1828800"/>
            <a:ext cx="347440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F59E0B"/>
                </a:solidFill>
                <a:latin typeface="Segoe UI"/>
              </a:defRPr>
            </a:pPr>
            <a: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466" y="1828800"/>
            <a:ext cx="46301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F59E0B"/>
                </a:solidFill>
                <a:latin typeface="Segoe UI"/>
              </a:defRPr>
            </a:pPr>
            <a:r>
              <a:t>WHY IT HAPPENS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57984"/>
            <a:ext cx="10545775" cy="18288"/>
          </a:xfrm>
          <a:prstGeom prst="rect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167128"/>
            <a:ext cx="10765231" cy="74980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0297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geometry column to Delta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9900" y="2258568"/>
            <a:ext cx="347440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AnalysisException: cannot resolve 'geometry'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466" y="2258568"/>
            <a:ext cx="463010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Spark has no geometry type. Serialise to WKB, carry the srid separately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44951"/>
            <a:ext cx="20297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to_crs on a naive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9900" y="3044951"/>
            <a:ext cx="347440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ValueError: cannot transform naive geometries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466" y="3044951"/>
            <a:ext cx="463010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GeoPandas refuses to guess, which is correct. Use set_crs to declare, then to_crs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739896"/>
            <a:ext cx="10765231" cy="749808"/>
          </a:xfrm>
          <a:prstGeom prst="rect">
            <a:avLst/>
          </a:prstGeom>
          <a:solidFill>
            <a:srgbClr val="152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31335"/>
            <a:ext cx="20297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Area before reprojection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9900" y="3831335"/>
            <a:ext cx="347440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Areas like 0.0004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466" y="3831335"/>
            <a:ext cx="463010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Square degrees. Looks plausible until someone checks it against a cruise 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17720"/>
            <a:ext cx="20297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F1F5F3"/>
                </a:solidFill>
                <a:latin typeface="Segoe UI"/>
              </a:defRPr>
            </a:pPr>
            <a:r>
              <a:t>set_crs on projected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9900" y="4617720"/>
            <a:ext cx="347440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No error at all, geometry in the wrong hemisphere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466" y="4617720"/>
            <a:ext cx="463010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set_crs relabels without moving anything. This is the dangerous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97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F59E0B"/>
                </a:solidFill>
                <a:latin typeface="Segoe UI"/>
              </a:defRPr>
            </a:pPr>
            <a:r>
              <a:t>Only the last one is silent. Print gdf.crs and gdf.total_bounds before and after every transform.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7</a:t>
            </a:r>
          </a:p>
        </p:txBody>
      </p:sp>
      <p:pic>
        <p:nvPicPr>
          <p:cNvPr id="4" name="Picture 3" descr="check_e3b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28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The checkpoint at 3:25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43032" cy="2441448"/>
          </a:xfrm>
          <a:prstGeom prst="roundRect">
            <a:avLst>
              <a:gd name="adj" fmla="val 6000"/>
            </a:avLst>
          </a:prstGeom>
          <a:solidFill>
            <a:srgbClr val="0A1210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75104"/>
            <a:ext cx="996696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register is not empty                    120 stands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CRS is the analysis projection          EPSG:2953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stand_id is unique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all expected columns present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areas are plausible                     18.4 to 41.2 ha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natural stands have no planting year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row count survives the round trip       120 vs 120</a:t>
            </a:r>
          </a:p>
          <a:p>
            <a:pPr algn="l">
              <a:lnSpc>
                <a:spcPct val="135000"/>
              </a:lnSpc>
              <a:defRPr sz="1250" b="0" i="0">
                <a:solidFill>
                  <a:srgbClr val="F1F5F3"/>
                </a:solidFill>
                <a:latin typeface="Consolas"/>
              </a:defRPr>
            </a:pPr>
            <a:r>
              <a:t>[PASS] areas match after the round trip        max drift 0.00e+00 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350" b="0" i="0">
                <a:solidFill>
                  <a:srgbClr val="9CAFA8"/>
                </a:solidFill>
                <a:latin typeface="Segoe UI"/>
              </a:defRPr>
            </a:pPr>
            <a:r>
              <a:t>Every FAIL is a specific, named thing. Open the solution for that step, read it, carry on. Nobody sits on a red line while the room moves.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ok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777240" cy="777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3154680"/>
            <a:ext cx="1280160" cy="6858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647C74"/>
                </a:solidFill>
                <a:latin typeface="Segoe UI"/>
              </a:defRPr>
            </a:pPr>
            <a:r>
              <a:t>BLOCK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01568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1F5F3"/>
                </a:solidFill>
                <a:latin typeface="Segoe UI"/>
              </a:defRPr>
            </a:pPr>
            <a:r>
              <a:t>Wrap and homework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500" b="0" i="0">
                <a:solidFill>
                  <a:srgbClr val="9CAFA8"/>
                </a:solidFill>
                <a:latin typeface="Segoe UI"/>
              </a:defRPr>
            </a:pPr>
            <a:r>
              <a:t>What we covered, and what to do before Session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3:40  ·  20 min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8</a:t>
            </a:r>
          </a:p>
        </p:txBody>
      </p:sp>
      <p:pic>
        <p:nvPicPr>
          <p:cNvPr id="4" name="Picture 3" descr="check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29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What we 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332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Bronze keeps faith with what arrived, silver makes things comparable, gold means something to someone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One storage account, many engines, and a shortcut instead of a copy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Area and distance are only meaningful in a projected coordinate system, and set_crs is not to_crs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Geometry travels through Delta as WKB with the srid in its own column, always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The tool chain question is answered in three steps, and you stop at the first clear answer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BLOCK 8</a:t>
            </a:r>
          </a:p>
        </p:txBody>
      </p:sp>
      <p:pic>
        <p:nvPicPr>
          <p:cNvPr id="4" name="Picture 3" descr="calendar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30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Homework, about 45 minutes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15184"/>
            <a:ext cx="402336" cy="402336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596896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Choose your area of interest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907791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A block you know, roughly 10 to 40 km on a side. Get the bounding box from the Planetary Computer Explorer.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7055" y="26334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3FC17E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529584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Check imagery 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840480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Sentinel-2 L2A, last growing season, 20 percent cloud or less. You want at least three scenes over your 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7055" y="3566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3FC17E"/>
                </a:solidFill>
                <a:latin typeface="Segoe UI"/>
              </a:defRPr>
            </a:pPr>
            <a:r>
              <a:t>15 min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59"/>
            <a:ext cx="402336" cy="402336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4462271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F1F5F3"/>
                </a:solidFill>
                <a:latin typeface="Segoe UI"/>
              </a:defRPr>
            </a:pPr>
            <a:r>
              <a:t>Land your stand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773168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9CAFA8"/>
                </a:solidFill>
                <a:latin typeface="Segoe UI"/>
              </a:defRPr>
            </a:pPr>
            <a:r>
              <a:t>Re-run notebook 00 with your bounding box. Then check the areas against stands you actually know.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7055" y="449884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300" b="1" i="0">
                <a:solidFill>
                  <a:srgbClr val="3FC17E"/>
                </a:solidFill>
                <a:latin typeface="Segoe UI"/>
              </a:defRPr>
            </a:pPr>
            <a:r>
              <a:t>15 min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566928"/>
            <a:ext cx="1051560" cy="54864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647C74"/>
                </a:solidFill>
                <a:latin typeface="Segoe UI"/>
              </a:defRPr>
            </a:pPr>
            <a:r>
              <a:t>NEXT SESSION</a:t>
            </a:r>
          </a:p>
        </p:txBody>
      </p:sp>
      <p:pic>
        <p:nvPicPr>
          <p:cNvPr id="4" name="Picture 3" descr="rocket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310896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695" y="63550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C74"/>
                </a:solidFill>
                <a:latin typeface="Segoe UI"/>
              </a:defRPr>
            </a:pPr>
            <a:r>
              <a:t>31 / 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68096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900" b="1" i="0">
                <a:solidFill>
                  <a:srgbClr val="F1F5F3"/>
                </a:solidFill>
                <a:latin typeface="Segoe UI"/>
              </a:defRPr>
            </a:pPr>
            <a:r>
              <a:t>Session 2, in five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80191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C08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tellite_c084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04872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992" y="2953512"/>
            <a:ext cx="12898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C0844A"/>
                </a:solidFill>
                <a:latin typeface="Segoe UI"/>
              </a:defRPr>
            </a:pPr>
            <a:r>
              <a:t>Get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55848"/>
            <a:ext cx="12898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STAC search, signing, windowed reads, bronze catalogue.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79740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08924" y="2148840"/>
            <a:ext cx="180191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B6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lter_b6c2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56" y="2404872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64956" y="2953512"/>
            <a:ext cx="12898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B6C2C9"/>
                </a:solidFill>
                <a:latin typeface="Segoe UI"/>
              </a:defRPr>
            </a:pPr>
            <a:r>
              <a:t>Analyse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956" y="3355848"/>
            <a:ext cx="12898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Mask, scale, reproject, index, zonal statistics.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65705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94889" y="2148840"/>
            <a:ext cx="180191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389F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rain_389f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921" y="2404872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50921" y="2953512"/>
            <a:ext cx="12898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89FF7"/>
                </a:solidFill>
                <a:latin typeface="Segoe UI"/>
              </a:defRPr>
            </a:pPr>
            <a:r>
              <a:t>Add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0921" y="3355848"/>
            <a:ext cx="12898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Where it earns its place, and where it is quietly wrong.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51669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80853" y="2148840"/>
            <a:ext cx="180191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E3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art_e3b3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885" y="2404872"/>
            <a:ext cx="402336" cy="4023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36885" y="2953512"/>
            <a:ext cx="12898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E3B341"/>
                </a:solidFill>
                <a:latin typeface="Segoe UI"/>
              </a:defRPr>
            </a:pPr>
            <a:r>
              <a:t>Publish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6885" y="3355848"/>
            <a:ext cx="12898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Star schema, Direct Lake, a map a planner can filter.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37634" y="3191256"/>
            <a:ext cx="274320" cy="201168"/>
          </a:xfrm>
          <a:prstGeom prst="rightArrow">
            <a:avLst/>
          </a:prstGeom>
          <a:solidFill>
            <a:srgbClr val="1F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66818" y="2148840"/>
            <a:ext cx="1801916" cy="2286000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9050">
            <a:solidFill>
              <a:srgbClr val="3FC1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refresh_3fc17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2850" y="2404872"/>
            <a:ext cx="402336" cy="4023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22850" y="2953512"/>
            <a:ext cx="12898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3FC17E"/>
                </a:solidFill>
                <a:latin typeface="Segoe UI"/>
              </a:defRPr>
            </a:pPr>
            <a:r>
              <a:t>Repeat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2850" y="3355848"/>
            <a:ext cx="12898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50" b="0" i="0">
                <a:solidFill>
                  <a:srgbClr val="9CAFA8"/>
                </a:solidFill>
                <a:latin typeface="Segoe UI"/>
              </a:defRPr>
            </a:pPr>
            <a:r>
              <a:t>Parameters, schedule, quality gate, failure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486400"/>
            <a:ext cx="10543032" cy="749808"/>
          </a:xfrm>
          <a:prstGeom prst="roundRect">
            <a:avLst>
              <a:gd name="adj" fmla="val 6000"/>
            </a:avLst>
          </a:prstGeom>
          <a:solidFill>
            <a:srgbClr val="152621"/>
          </a:solidFill>
          <a:ln w="12700">
            <a:solidFill>
              <a:srgbClr val="1F3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5678424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3FC17E"/>
                </a:solidFill>
                <a:latin typeface="Segoe UI"/>
              </a:defRPr>
            </a:pPr>
            <a:r>
              <a:t>Bring your bounding box, your scene count, and one real question about your own data.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ndoff_3fc1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58368" cy="65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2286000"/>
            <a:ext cx="1280160" cy="68580"/>
          </a:xfrm>
          <a:prstGeom prst="rect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F1F5F3"/>
                </a:solidFill>
                <a:latin typeface="Segoe UI"/>
              </a:defRPr>
            </a:pPr>
            <a: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2412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Confirm your workspace name and Lakehouse are saved somewhere you will find them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Note your bounding box, or plan the fifteen minutes to find one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Post any unresolved blocker in the Teams channel today, not on the morning of Session 2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1500" b="1">
                <a:solidFill>
                  <a:srgbClr val="3FC17E"/>
                </a:solidFill>
                <a:latin typeface="Segoe UI"/>
              </a:rPr>
              <a:t>▸  </a:t>
            </a:r>
            <a:r>
              <a:rPr sz="1500">
                <a:solidFill>
                  <a:srgbClr val="F1F5F3"/>
                </a:solidFill>
                <a:latin typeface="Segoe UI"/>
              </a:rPr>
              <a:t>Bring the one question about your own data. It is the most useful thing in your bag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647C74"/>
                </a:solidFill>
                <a:latin typeface="Segoe UI"/>
              </a:defRPr>
            </a:pPr>
            <a:r>
              <a:t>Session 2  ·  Build it end to end  ·  Four hours  ·  See you then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